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ecfbdad-5ecb-7a99-e64d-b00060d4e6a0}">
          <p14:sldIdLst>
            <p14:sldId id="256"/>
          </p14:sldIdLst>
        </p14:section>
        <p14:section name="Problem" id="{d5b28449-f900-a549-bb75-d386abdcf41a}">
          <p14:sldIdLst>
            <p14:sldId id="257"/>
          </p14:sldIdLst>
        </p14:section>
        <p14:section name="Solution" id="{78ada2fb-f9c2-98e7-f5f3-f5ffbfe1fdc2}">
          <p14:sldIdLst>
            <p14:sldId id="258"/>
            <p14:sldId id="259"/>
            <p14:sldId id="260"/>
          </p14:sldIdLst>
        </p14:section>
        <p14:section name="Proof" id="{c4b9efcf-1b0b-b804-3fa5-e7dc361178e3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Close" id="{bca44ec6-7509-e7ce-747b-bdf61ac3f7a9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PPR takes a medicine application from eCTD upload to approval certificate in one bilingual system. Screens are real captures from the running prototype with demonstration data (PPR-POC-001 v0.2).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without inventing numbers: late discovery of technical errors, fragmented tools, no single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application states, one state machine. A package cannot reach a reviewer until it passes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runs against the official ICH eCTD 3.2 DTD and the GCC Module 1 v1.5 criteria, with the envelope addressed to Oman. Reports export as CSV and printable PDF. In production validation runs in a background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 of Department sets reviewer specialties (M1 to M5). Teams are assembled automatically; manual assignment only when a module has no qualified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notes are linked to a page, not drawn on the PDF. The assistant's model hosting decision is still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Certificate and dashboard use seeded demonstration data, not a real applicant. GCC Module 1 v1.5 rules with envelope addressed to Oman (OM-MOH).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149 tests and the 12 workflows are from the PoC report. 10 application states are from the executive summary. Qualification (IQ/OQ/PQ) is drafted but not yet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PPR as complementary: EXTEDO validates and reviews inside an authority; PPR runs the registration case. EXTEDO customer counts are its own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open about what remains builds trust: the benchmark and qualification sign-off stand between PPR and a defensible go-live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agree to a demo, the benchmark and 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54864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ITLE">
    <p:bg>
      <p:bgPr>
        <a:solidFill>
          <a:srgbClr val="0F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4297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A1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DEPARTMENT · PRODUCT REGISTRATION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dossier to certificate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submission, automatic eCTD validation, specialist review and decision. In English and Arabic.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40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إلكتروني للموافقة على الأدوية</a:t>
            </a:r>
            <a:endParaRPr lang="ar-SA" sz="20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120640" cy="355678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7" name="Image 0" descr="landing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731520"/>
            <a:ext cx="5120640" cy="35567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0" y="3566160"/>
            <a:ext cx="3840480" cy="24003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9" name="Image 1" descr="company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66160"/>
            <a:ext cx="384048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surface after review has already started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 late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checksums, missing files and locked PDFs show up during review, not at submission.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split across tools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assessment, questions and decisions end up in email, files and spreadsheets.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43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record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who decided what, and when, means rebuilding the story by hand.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FDA and EMA validate every eCTD package technically before scientific review. PPR brings the same discipline in-house.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one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05840" y="2880360"/>
            <a:ext cx="9966960" cy="0"/>
          </a:xfrm>
          <a:prstGeom prst="line">
            <a:avLst/>
          </a:prstGeom>
          <a:noFill/>
          <a:ln w="25400">
            <a:solidFill>
              <a:srgbClr val="DCE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7047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creates the application and uploads its eCTD sequence as a zip.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566160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355" y="27047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technical check runs automatically and reports every finding.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400800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270479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08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assesses each CTD module. The lead reviewer can request more information.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9235440" y="2514600"/>
            <a:ext cx="731520" cy="73152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35" y="270479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354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9235440" y="41148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 Department approves or rejects. A bilingual certificate is issued.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goes through one state machine: role checked, change logged, people notified.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6976872" cy="6858000"/>
          </a:xfrm>
          <a:prstGeom prst="rect">
            <a:avLst/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461356"/>
            <a:ext cx="6217920" cy="5935287"/>
          </a:xfrm>
          <a:prstGeom prst="roundRect">
            <a:avLst>
              <a:gd name="adj" fmla="val 12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4" name="Image 0" descr="failedz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461356"/>
            <a:ext cx="6217920" cy="59352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caught before a reviewer sees the file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schema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3813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index.xml and the regional Module 1 are valid against the DTDs.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3434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47731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Checksums, references, required modules, lifecycle, GCC envelope.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303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5349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compliance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5733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zip, unlocked PDFs, no scripts, embedded fonts, size limits.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6976872" cy="6858000"/>
          </a:xfrm>
          <a:prstGeom prst="rect">
            <a:avLst/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639415"/>
            <a:ext cx="6217920" cy="5579170"/>
          </a:xfrm>
          <a:prstGeom prst="roundRect">
            <a:avLst>
              <a:gd name="adj" fmla="val 13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4" name="Image 0" descr="teamz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39415"/>
            <a:ext cx="6217920" cy="55791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REVIEW</a:t>
            </a:r>
            <a:endParaRPr lang="en-US" sz="1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specialist on every module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automatically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844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goes to the qualified reviewer with the fewest active modules.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one reviewer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5902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sends questions to the applicant and the team's recommendation.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by the Head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5961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return to the lead reviewer.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0"/>
            <a:ext cx="6976872" cy="6858000"/>
          </a:xfrm>
          <a:prstGeom prst="rect">
            <a:avLst/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1098111"/>
            <a:ext cx="6217920" cy="4296017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4" name="Image 0" descr="dossierz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098111"/>
            <a:ext cx="6217920" cy="429601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23560" y="5622729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dossier: every accepted sequence applied in order.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TOOLS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132588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always see what is current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dossier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and deleted documents drop out.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593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Page-linked notes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Internal, never shown to applicants.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7640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1297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dossier a reader may open.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5686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assistant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9344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document and page citations.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REGION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and English, end to end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mirrors into a full right-to-left layout. Approval issues a bilingual certificate with a validity period.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6" name="Image 0" descr="arabic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97480"/>
            <a:ext cx="548640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2697480"/>
            <a:ext cx="4626864" cy="3429194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B2B28">
                <a:alpha val="22000"/>
              </a:srgbClr>
            </a:outerShdw>
          </a:effectLst>
        </p:spPr>
      </p:sp>
      <p:pic>
        <p:nvPicPr>
          <p:cNvPr id="8" name="Image 1" descr="cert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97480"/>
            <a:ext cx="4626864" cy="34291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66560" y="6217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DEPARTMENT GETS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clarity and ownership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review effort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816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with technical errors never reach a reviewer.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2860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331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 applicants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816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named, with rule, file and line, and exportable.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14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trail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46451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decided what, and when, in a single record.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114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department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46451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 fees. Changes are made in-house, quickly.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states in one state machine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workflows in the training guide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2860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with full right-to-left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is recorded with user, time and note.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auditable by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3728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212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see only their own files; reviewers only their teams.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219456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237286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223760" y="2212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package intake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path traversal, symlinks, encrypted and oversized zips.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31520" y="352044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6987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3538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sign-in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3931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Lockout, 12+ character passwords, optional staff SSO.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309360" y="352044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36987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23760" y="3538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7223760" y="39319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change, with user, time and note.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31520" y="484632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502462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4864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documents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1645920" y="5257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Access-checked downloads; HTTPS and CSP enforced.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309360" y="4846320"/>
            <a:ext cx="685800" cy="685800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502462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23760" y="4864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 notes</a:t>
            </a:r>
            <a:endParaRPr lang="en-US" sz="2000" dirty="0"/>
          </a:p>
        </p:txBody>
      </p:sp>
      <p:sp>
        <p:nvSpPr>
          <p:cNvPr id="27" name="Text 19"/>
          <p:cNvSpPr txBox="1"/>
          <p:nvPr/>
        </p:nvSpPr>
        <p:spPr>
          <a:xfrm>
            <a:off x="7223760" y="5257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visible to applicants.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EXTEDO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 the market leader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1069848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46888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7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57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57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EXTEDO 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 portal and submission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8AA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part of 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eCTD validation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review per CTD module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8AA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and certificate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8AA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part of 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interface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8AA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mentioned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0B2B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of production use, EMA reference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8AA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480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E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benchmark shows gaps, PPR keeps the workflow and calls an EXTEDO validator.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PPR-CMP-001 v0.2. EXTEDO points are vendor claims from public material; the software was not tested.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done, and what comes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201168" cy="201168"/>
          </a:xfrm>
          <a:prstGeom prst="ellipse">
            <a:avLst/>
          </a:prstGeom>
          <a:solidFill>
            <a:srgbClr val="14806F"/>
          </a:solidFill>
          <a:ln w="12700">
            <a:solidFill>
              <a:srgbClr val="1480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8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ICH DTD and GCC M1 v1.5 rules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validation queue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view, search, API, staff SSO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148840"/>
            <a:ext cx="201168" cy="201168"/>
          </a:xfrm>
          <a:prstGeom prst="ellipse">
            <a:avLst/>
          </a:prstGeom>
          <a:solidFill>
            <a:srgbClr val="C98712"/>
          </a:solidFill>
          <a:ln w="12700">
            <a:solidFill>
              <a:srgbClr val="C9871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8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real submissions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reference validator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qualification and sign-off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SFDA's distributed GCC DTD files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the assistant model runs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0" y="2148840"/>
            <a:ext cx="201168" cy="201168"/>
          </a:xfrm>
          <a:prstGeom prst="ellipse">
            <a:avLst/>
          </a:prstGeom>
          <a:solidFill>
            <a:srgbClr val="5B6B8C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and phase 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8346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and two-factor login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timelines, QR-verified certificates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variations and renewals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a pilot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every role with the demonstration accounts.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validation benchmark and the qualification protocol.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3520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 with the built-in guide and start with selected applicants.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943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Department · PPR project team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5943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B9DA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دائرة الصيدلة · تسجيل المستحضرات الصيدلانية</a:t>
            </a:r>
            <a:endParaRPr lang="ar-S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R Modern">
  <a:themeElements>
    <a:clrScheme name="PPR Modern">
      <a:dk1>
        <a:srgbClr val="0B2B28"/>
      </a:dk1>
      <a:lt1>
        <a:srgbClr val="FFFFFF"/>
      </a:lt1>
      <a:dk2>
        <a:srgbClr val="0F4A44"/>
      </a:dk2>
      <a:lt2>
        <a:srgbClr val="F3F8F7"/>
      </a:lt2>
      <a:accent1>
        <a:srgbClr val="14806F"/>
      </a:accent1>
      <a:accent2>
        <a:srgbClr val="2FBF9F"/>
      </a:accent2>
      <a:accent3>
        <a:srgbClr val="E8A33D"/>
      </a:accent3>
      <a:accent4>
        <a:srgbClr val="C0483E"/>
      </a:accent4>
      <a:accent5>
        <a:srgbClr val="5B6B8C"/>
      </a:accent5>
      <a:accent6>
        <a:srgbClr val="7A5BC4"/>
      </a:accent6>
      <a:hlink>
        <a:srgbClr val="14806F"/>
      </a:hlink>
      <a:folHlink>
        <a:srgbClr val="5B6B8C"/>
      </a:folHlink>
    </a:clrScheme>
    <a:fontScheme name="PPR Moder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PPR - Pharmaceutical Product Registration</dc:title>
  <dc:subject>PptxGenJS Presentation</dc:subject>
  <dc:creator>PPR project team</dc:creator>
  <cp:lastModifiedBy>PPR project team</cp:lastModifiedBy>
  <cp:revision>1</cp:revision>
  <dcterms:created xsi:type="dcterms:W3CDTF">2026-10-21T16:15:24Z</dcterms:created>
  <dcterms:modified xsi:type="dcterms:W3CDTF">2026-10-21T16:15:24Z</dcterms:modified>
</cp:coreProperties>
</file>