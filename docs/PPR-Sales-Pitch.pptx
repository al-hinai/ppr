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cb0707b-01d8-453a-17a5-154158ae92b1}">
          <p14:sldIdLst>
            <p14:sldId id="257"/>
            <p14:sldId id="258"/>
            <p14:sldId id="259"/>
          </p14:sldIdLst>
        </p14:section>
        <p14:section name="Default-1" id="{82b4668b-1498-c24c-68dc-45b51ff65388}">
          <p14:sldIdLst>
            <p14:sldId id="256"/>
          </p14:sldIdLst>
        </p14:section>
        <p14:section name="Head-to-Head" id="{66823736-8057-49ad-025e-c7c718cc6d0f}">
          <p14:sldIdLst>
            <p14:sldId id="260"/>
            <p14:sldId id="261"/>
            <p14:sldId id="262"/>
            <p14:sldId id="263"/>
          </p14:sldIdLst>
        </p14:section>
        <p14:section name="Proof and Close" id="{19e1c51f-64d7-d0a1-da61-6533c88b8a85}">
          <p14:sldIdLst>
            <p14:sldId id="264"/>
            <p14:sldId id="265"/>
            <p14:sldId id="266"/>
          </p14:sldIdLst>
        </p14:section>
        <p14:section name="Default-2" id="{fe43a86a-4575-b192-fc4c-bf403da0e7be}">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accent6"/>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1938528"/>
            <a:ext cx="9601200" cy="365760"/>
          </a:xfrm>
          <a:prstGeom prst="rect">
            <a:avLst/>
          </a:prstGeom>
          <a:noFill/>
          <a:ln/>
        </p:spPr>
        <p:txBody>
          <a:bodyPr wrap="square" rtlCol="0"/>
          <a:lstStyle>
            <a:lvl1pPr algn="l" indent="0" marL="0">
              <a:buNone/>
              <a:defRPr lang="en-US" sz="1400" b="1" spc="200" kern="0" dirty="0">
                <a:solidFill>
                  <a:schemeClr val="accent3"/>
                </a:solidFill>
                <a:latin typeface="Calibri" pitchFamily="34" charset="0"/>
                <a:ea typeface="Calibri" pitchFamily="34" charset="-122"/>
                <a:cs typeface="Calibri" pitchFamily="34" charset="-120"/>
              </a:defRPr>
            </a:lvl1pPr>
          </a:lstStyle>
          <a:p>
            <a:pPr algn="l" indent="0" marL="0">
              <a:buNone/>
            </a:pPr>
            <a:endParaRPr lang="en-US" sz="1400" dirty="0"/>
          </a:p>
        </p:txBody>
      </p:sp>
      <p:sp>
        <p:nvSpPr>
          <p:cNvPr id="3" name="Text 0"/>
          <p:cNvSpPr/>
          <p:nvPr>
            <p:ph idx="101" type="title" hasCustomPrompt="1"/>
          </p:nvPr>
        </p:nvSpPr>
        <p:spPr>
          <a:xfrm>
            <a:off x="822960" y="2304288"/>
            <a:ext cx="10241280" cy="1234440"/>
          </a:xfrm>
          <a:prstGeom prst="rect">
            <a:avLst/>
          </a:prstGeom>
          <a:noFill/>
          <a:ln/>
        </p:spPr>
        <p:txBody>
          <a:bodyPr wrap="square" rtlCol="0"/>
          <a:lstStyle>
            <a:lvl1pPr algn="l" indent="0" marL="0">
              <a:buNone/>
              <a:defRPr lang="en-US" sz="5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5000" dirty="0"/>
          </a:p>
        </p:txBody>
      </p:sp>
      <p:sp>
        <p:nvSpPr>
          <p:cNvPr id="4" name="Text 0"/>
          <p:cNvSpPr/>
          <p:nvPr>
            <p:ph idx="102" type="body" hasCustomPrompt="1"/>
          </p:nvPr>
        </p:nvSpPr>
        <p:spPr>
          <a:xfrm>
            <a:off x="822960" y="3611880"/>
            <a:ext cx="9692640" cy="914400"/>
          </a:xfrm>
          <a:prstGeom prst="rect">
            <a:avLst/>
          </a:prstGeom>
          <a:noFill/>
          <a:ln/>
        </p:spPr>
        <p:txBody>
          <a:bodyPr wrap="square" rtlCol="0"/>
          <a:lstStyle>
            <a:lvl1pPr algn="l" indent="0" marL="0">
              <a:buNone/>
              <a:defRPr lang="en-US" sz="1900" dirty="0">
                <a:solidFill>
                  <a:schemeClr val="bg2"/>
                </a:solidFill>
                <a:latin typeface="Calibri" pitchFamily="34" charset="0"/>
                <a:ea typeface="Calibri" pitchFamily="34" charset="-122"/>
                <a:cs typeface="Calibri" pitchFamily="34" charset="-120"/>
              </a:defRPr>
            </a:lvl1pPr>
          </a:lstStyle>
          <a:p>
            <a:pPr algn="l" indent="0" marL="0">
              <a:buNone/>
            </a:pPr>
            <a:endParaRPr lang="en-US" sz="1900" dirty="0"/>
          </a:p>
        </p:txBody>
      </p:sp>
      <p:sp>
        <p:nvSpPr>
          <p:cNvPr id="5" name="Text 0"/>
          <p:cNvSpPr/>
          <p:nvPr>
            <p:ph idx="103" type="body" hasCustomPrompt="1"/>
          </p:nvPr>
        </p:nvSpPr>
        <p:spPr>
          <a:xfrm>
            <a:off x="822960" y="5989320"/>
            <a:ext cx="9692640" cy="365760"/>
          </a:xfrm>
          <a:prstGeom prst="rect">
            <a:avLst/>
          </a:prstGeom>
          <a:noFill/>
          <a:ln/>
        </p:spPr>
        <p:txBody>
          <a:bodyPr wrap="square" rtlCol="0"/>
          <a:lstStyle>
            <a:lvl1pPr algn="l" indent="0" marL="0">
              <a:buNone/>
              <a:defRPr lang="en-US" sz="1300" dirty="0">
                <a:solidFill>
                  <a:schemeClr val="accent2"/>
                </a:solidFill>
                <a:latin typeface="Calibri" pitchFamily="34" charset="0"/>
                <a:ea typeface="Calibri" pitchFamily="34" charset="-122"/>
                <a:cs typeface="Calibri" pitchFamily="34" charset="-120"/>
              </a:defRPr>
            </a:lvl1pPr>
          </a:lstStyle>
          <a:p>
            <a:pPr algn="l" indent="0" marL="0">
              <a:buNone/>
            </a:pPr>
            <a:endParaRPr lang="en-US" sz="1300" dirty="0"/>
          </a:p>
        </p:txBody>
      </p:sp>
      <p:pic>
        <p:nvPicPr>
          <p:cNvPr id="6" name="Image 0" descr="C:\Users\msali\AppData\Local\Temp\claude\ppr_pitch\icons\flask.png">    </p:cNvPr>
          <p:cNvPicPr>
            <a:picLocks noChangeAspect="1"/>
          </p:cNvPicPr>
          <p:nvPr/>
        </p:nvPicPr>
        <p:blipFill>
          <a:blip r:embed="rId1"/>
          <a:stretch>
            <a:fillRect/>
          </a:stretch>
        </p:blipFill>
        <p:spPr>
          <a:xfrm>
            <a:off x="10104120" y="1078992"/>
            <a:ext cx="868680" cy="8686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058400" cy="292608"/>
          </a:xfrm>
          <a:prstGeom prst="rect">
            <a:avLst/>
          </a:prstGeom>
          <a:noFill/>
          <a:ln/>
        </p:spPr>
        <p:txBody>
          <a:bodyPr wrap="square" rtlCol="0"/>
          <a:lstStyle>
            <a:lvl1pPr algn="l" indent="0" marL="0">
              <a:buNone/>
              <a:defRPr lang="en-US" sz="1300" b="1" spc="150" kern="0" dirty="0">
                <a:solidFill>
                  <a:schemeClr val="accent2"/>
                </a:solidFill>
                <a:latin typeface="Calibri" pitchFamily="34" charset="0"/>
                <a:ea typeface="Calibri" pitchFamily="34" charset="-122"/>
                <a:cs typeface="Calibri" pitchFamily="34" charset="-120"/>
              </a:defRPr>
            </a:lvl1pPr>
          </a:lstStyle>
          <a:p>
            <a:pPr algn="l" indent="0" marL="0">
              <a:buNone/>
            </a:pPr>
            <a:endParaRPr lang="en-US" sz="1300" dirty="0"/>
          </a:p>
        </p:txBody>
      </p:sp>
      <p:sp>
        <p:nvSpPr>
          <p:cNvPr id="3" name="Text 0"/>
          <p:cNvSpPr/>
          <p:nvPr>
            <p:ph idx="101" type="title" hasCustomPrompt="1"/>
          </p:nvPr>
        </p:nvSpPr>
        <p:spPr>
          <a:xfrm>
            <a:off x="548640" y="676656"/>
            <a:ext cx="11094415" cy="566928"/>
          </a:xfrm>
          <a:prstGeom prst="rect">
            <a:avLst/>
          </a:prstGeom>
          <a:noFill/>
          <a:ln/>
        </p:spPr>
        <p:txBody>
          <a:bodyPr wrap="square" rtlCol="0"/>
          <a:lstStyle>
            <a:lvl1pPr algn="l" indent="0" marL="0">
              <a:buNone/>
              <a:defRPr lang="en-US" sz="30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4" name="Text 0"/>
          <p:cNvSpPr/>
          <p:nvPr/>
        </p:nvSpPr>
        <p:spPr>
          <a:xfrm>
            <a:off x="548640" y="6473952"/>
            <a:ext cx="5486400" cy="274320"/>
          </a:xfrm>
          <a:prstGeom prst="rect">
            <a:avLst/>
          </a:prstGeom>
          <a:noFill/>
          <a:ln/>
        </p:spPr>
        <p:txBody>
          <a:bodyPr wrap="square" rtlCol="0" anchor="ctr"/>
          <a:lstStyle/>
          <a:p>
            <a:pPr algn="l" indent="0" marL="0">
              <a:buNone/>
            </a:pPr>
            <a:r>
              <a:rPr lang="en-US" sz="1000" dirty="0">
                <a:solidFill>
                  <a:schemeClr val="accent4"/>
                </a:solidFill>
                <a:latin typeface="Calibri" pitchFamily="34" charset="0"/>
                <a:ea typeface="Calibri" pitchFamily="34" charset="-122"/>
                <a:cs typeface="Calibri" pitchFamily="34" charset="-120"/>
              </a:rPr>
              <a:t>PPR · Pharmacy Department · Internal</a:t>
            </a:r>
            <a:endParaRPr lang="en-US" sz="1000" dirty="0"/>
          </a:p>
        </p:txBody>
      </p:sp>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058400" cy="292608"/>
          </a:xfrm>
          <a:prstGeom prst="rect">
            <a:avLst/>
          </a:prstGeom>
          <a:noFill/>
          <a:ln/>
        </p:spPr>
        <p:txBody>
          <a:bodyPr wrap="square" rtlCol="0"/>
          <a:lstStyle>
            <a:lvl1pPr algn="l" indent="0" marL="0">
              <a:buNone/>
              <a:defRPr lang="en-US" sz="1300" b="1" spc="150" kern="0" dirty="0">
                <a:solidFill>
                  <a:schemeClr val="accent3"/>
                </a:solidFill>
                <a:latin typeface="Calibri" pitchFamily="34" charset="0"/>
                <a:ea typeface="Calibri" pitchFamily="34" charset="-122"/>
                <a:cs typeface="Calibri" pitchFamily="34" charset="-120"/>
              </a:defRPr>
            </a:lvl1pPr>
          </a:lstStyle>
          <a:p>
            <a:pPr algn="l" indent="0" marL="0">
              <a:buNone/>
            </a:pPr>
            <a:endParaRPr lang="en-US" sz="1300" dirty="0"/>
          </a:p>
        </p:txBody>
      </p:sp>
      <p:sp>
        <p:nvSpPr>
          <p:cNvPr id="3" name="Text 0"/>
          <p:cNvSpPr/>
          <p:nvPr>
            <p:ph idx="101" type="title" hasCustomPrompt="1"/>
          </p:nvPr>
        </p:nvSpPr>
        <p:spPr>
          <a:xfrm>
            <a:off x="548640" y="676656"/>
            <a:ext cx="11094415" cy="566928"/>
          </a:xfrm>
          <a:prstGeom prst="rect">
            <a:avLst/>
          </a:prstGeom>
          <a:noFill/>
          <a:ln/>
        </p:spPr>
        <p:txBody>
          <a:bodyPr wrap="square" rtlCol="0"/>
          <a:lstStyle>
            <a:lvl1pPr algn="l" indent="0" marL="0">
              <a:buNone/>
              <a:defRPr lang="en-US" sz="3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4" name="Text 0"/>
          <p:cNvSpPr/>
          <p:nvPr/>
        </p:nvSpPr>
        <p:spPr>
          <a:xfrm>
            <a:off x="548640" y="6473952"/>
            <a:ext cx="5486400" cy="274320"/>
          </a:xfrm>
          <a:prstGeom prst="rect">
            <a:avLst/>
          </a:prstGeom>
          <a:noFill/>
          <a:ln/>
        </p:spPr>
        <p:txBody>
          <a:bodyPr wrap="square" rtlCol="0" anchor="ctr"/>
          <a:lstStyle/>
          <a:p>
            <a:pPr algn="l" indent="0" marL="0">
              <a:buNone/>
            </a:pPr>
            <a:r>
              <a:rPr lang="en-US" sz="1000" dirty="0">
                <a:solidFill>
                  <a:schemeClr val="bg2"/>
                </a:solidFill>
                <a:latin typeface="Calibri" pitchFamily="34" charset="0"/>
                <a:ea typeface="Calibri" pitchFamily="34" charset="-122"/>
                <a:cs typeface="Calibri" pitchFamily="34" charset="-120"/>
              </a:rPr>
              <a:t>PPR · Pharmacy Department · Internal</a:t>
            </a:r>
            <a:endParaRPr lang="en-US" sz="1000" dirty="0"/>
          </a:p>
        </p:txBody>
      </p:sp>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1.png"/><Relationship Id="rId3" Type="http://schemas.openxmlformats.org/officeDocument/2006/relationships/image" Target="../media/image-8-1.png"/><Relationship Id="rId4" Type="http://schemas.openxmlformats.org/officeDocument/2006/relationships/image" Target="../media/image-8-4.png"/><Relationship Id="rId5" Type="http://schemas.openxmlformats.org/officeDocument/2006/relationships/image" Target="../media/image-8-4.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1.png"/><Relationship Id="rId3" Type="http://schemas.openxmlformats.org/officeDocument/2006/relationships/image" Target="../media/image-11-1.png"/><Relationship Id="rId4" Type="http://schemas.openxmlformats.org/officeDocument/2006/relationships/slideLayout" Target="../slideLayouts/slideLayout4.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822960" y="1938528"/>
            <a:ext cx="9601200" cy="365760"/>
          </a:xfrm>
          <a:prstGeom prst="rect">
            <a:avLst/>
          </a:prstGeom>
          <a:noFill/>
          <a:ln/>
        </p:spPr>
        <p:txBody>
          <a:bodyPr wrap="square" rtlCol="0"/>
          <a:lstStyle/>
          <a:p>
            <a:pPr algn="l" indent="0" marL="0">
              <a:buNone/>
            </a:pPr>
            <a:r>
              <a:rPr lang="en-US" sz="1400" b="1" spc="200" kern="0" dirty="0">
                <a:solidFill>
                  <a:schemeClr val="accent3"/>
                </a:solidFill>
                <a:latin typeface="Calibri" pitchFamily="34" charset="0"/>
                <a:ea typeface="Calibri" pitchFamily="34" charset="-122"/>
                <a:cs typeface="Calibri" pitchFamily="34" charset="-120"/>
              </a:rPr>
              <a:t>PHARMACY DEPARTMENT · INTERNAL</a:t>
            </a:r>
            <a:endParaRPr lang="en-US" sz="1400" dirty="0"/>
          </a:p>
        </p:txBody>
      </p:sp>
      <p:sp>
        <p:nvSpPr>
          <p:cNvPr id="3" name="Text 0"/>
          <p:cNvSpPr/>
          <p:nvPr>
            <p:ph idx="101" type="title" hasCustomPrompt="1"/>
          </p:nvPr>
        </p:nvSpPr>
        <p:spPr>
          <a:xfrm>
            <a:off x="822960" y="2304288"/>
            <a:ext cx="10241280" cy="1234440"/>
          </a:xfrm>
          <a:prstGeom prst="rect">
            <a:avLst/>
          </a:prstGeom>
          <a:noFill/>
          <a:ln/>
        </p:spPr>
        <p:txBody>
          <a:bodyPr wrap="square" rtlCol="0"/>
          <a:lstStyle/>
          <a:p>
            <a:pPr algn="l" indent="0" marL="0">
              <a:buNone/>
            </a:pPr>
            <a:r>
              <a:rPr lang="en-US" sz="5000" b="1" dirty="0">
                <a:solidFill>
                  <a:schemeClr val="bg1"/>
                </a:solidFill>
                <a:latin typeface="Cambria" pitchFamily="34" charset="0"/>
                <a:ea typeface="Cambria" pitchFamily="34" charset="-122"/>
                <a:cs typeface="Cambria" pitchFamily="34" charset="-120"/>
              </a:rPr>
              <a:t>PPR</a:t>
            </a:r>
            <a:endParaRPr lang="en-US" sz="5000" dirty="0"/>
          </a:p>
        </p:txBody>
      </p:sp>
      <p:sp>
        <p:nvSpPr>
          <p:cNvPr id="4" name="Text 0"/>
          <p:cNvSpPr/>
          <p:nvPr>
            <p:ph idx="102" type="body" hasCustomPrompt="1"/>
          </p:nvPr>
        </p:nvSpPr>
        <p:spPr>
          <a:xfrm>
            <a:off x="822960" y="3611880"/>
            <a:ext cx="9692640" cy="914400"/>
          </a:xfrm>
          <a:prstGeom prst="rect">
            <a:avLst/>
          </a:prstGeom>
          <a:noFill/>
          <a:ln/>
        </p:spPr>
        <p:txBody>
          <a:bodyPr wrap="square" rtlCol="0"/>
          <a:lstStyle/>
          <a:p>
            <a:pPr algn="l" indent="0" marL="0">
              <a:buNone/>
            </a:pPr>
            <a:r>
              <a:rPr lang="en-US" sz="1900" dirty="0">
                <a:solidFill>
                  <a:schemeClr val="bg2"/>
                </a:solidFill>
                <a:latin typeface="Calibri" pitchFamily="34" charset="0"/>
                <a:ea typeface="Calibri" pitchFamily="34" charset="-122"/>
                <a:cs typeface="Calibri" pitchFamily="34" charset="-120"/>
              </a:rPr>
              <a:t>Pharmaceutical Product Registration — one system for the whole medicine-approval case, built and owned by the Department.</a:t>
            </a:r>
            <a:endParaRPr lang="en-US" sz="1900" dirty="0"/>
          </a:p>
        </p:txBody>
      </p:sp>
      <p:sp>
        <p:nvSpPr>
          <p:cNvPr id="5" name="Text 0"/>
          <p:cNvSpPr/>
          <p:nvPr>
            <p:ph idx="103" type="body" hasCustomPrompt="1"/>
          </p:nvPr>
        </p:nvSpPr>
        <p:spPr>
          <a:xfrm>
            <a:off x="822960" y="5989320"/>
            <a:ext cx="9692640" cy="365760"/>
          </a:xfrm>
          <a:prstGeom prst="rect">
            <a:avLst/>
          </a:prstGeom>
          <a:noFill/>
          <a:ln/>
        </p:spPr>
        <p:txBody>
          <a:bodyPr wrap="square" rtlCol="0"/>
          <a:lstStyle/>
          <a:p>
            <a:pPr algn="l" indent="0" marL="0">
              <a:buNone/>
            </a:pPr>
            <a:r>
              <a:rPr lang="en-US" sz="1300" dirty="0">
                <a:solidFill>
                  <a:schemeClr val="accent2"/>
                </a:solidFill>
                <a:latin typeface="Calibri" pitchFamily="34" charset="0"/>
                <a:ea typeface="Calibri" pitchFamily="34" charset="-122"/>
                <a:cs typeface="Calibri" pitchFamily="34" charset="-120"/>
              </a:rPr>
              <a:t>Prepared for the Head of Department · 21 October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058400" cy="292608"/>
          </a:xfrm>
          <a:prstGeom prst="rect">
            <a:avLst/>
          </a:prstGeom>
          <a:noFill/>
          <a:ln/>
        </p:spPr>
        <p:txBody>
          <a:bodyPr wrap="square" rtlCol="0"/>
          <a:lstStyle/>
          <a:p>
            <a:pPr algn="l" indent="0" marL="0">
              <a:buNone/>
            </a:pPr>
            <a:r>
              <a:rPr lang="en-US" sz="1300" b="1" spc="150" kern="0" dirty="0">
                <a:solidFill>
                  <a:schemeClr val="accent2"/>
                </a:solidFill>
                <a:latin typeface="Calibri" pitchFamily="34" charset="0"/>
                <a:ea typeface="Calibri" pitchFamily="34" charset="-122"/>
                <a:cs typeface="Calibri" pitchFamily="34" charset="-120"/>
              </a:rPr>
              <a:t>THE PROBLEM</a:t>
            </a:r>
            <a:endParaRPr lang="en-US" sz="1300" dirty="0"/>
          </a:p>
        </p:txBody>
      </p:sp>
      <p:sp>
        <p:nvSpPr>
          <p:cNvPr id="3" name="Text 0"/>
          <p:cNvSpPr/>
          <p:nvPr>
            <p:ph idx="101" type="title" hasCustomPrompt="1"/>
          </p:nvPr>
        </p:nvSpPr>
        <p:spPr>
          <a:xfrm>
            <a:off x="548640" y="676656"/>
            <a:ext cx="11094415" cy="566928"/>
          </a:xfrm>
          <a:prstGeom prst="rect">
            <a:avLst/>
          </a:prstGeom>
          <a:noFill/>
          <a:ln/>
        </p:spPr>
        <p:txBody>
          <a:bodyPr wrap="square" rtlCol="0"/>
          <a:lstStyle/>
          <a:p>
            <a:pPr algn="l" indent="0" marL="0">
              <a:buNone/>
            </a:pPr>
            <a:r>
              <a:rPr lang="en-US" sz="3000" b="1" dirty="0">
                <a:solidFill>
                  <a:schemeClr val="tx1"/>
                </a:solidFill>
                <a:latin typeface="Cambria" pitchFamily="34" charset="0"/>
                <a:ea typeface="Cambria" pitchFamily="34" charset="-122"/>
                <a:cs typeface="Cambria" pitchFamily="34" charset="-120"/>
              </a:rPr>
              <a:t>Validation is one step. The case is the whole job.</a:t>
            </a:r>
            <a:endParaRPr lang="en-US" sz="3000" dirty="0"/>
          </a:p>
        </p:txBody>
      </p:sp>
      <p:sp>
        <p:nvSpPr>
          <p:cNvPr id="4" name="Text 2"/>
          <p:cNvSpPr txBox="1"/>
          <p:nvPr/>
        </p:nvSpPr>
        <p:spPr>
          <a:xfrm>
            <a:off x="548640" y="1371600"/>
            <a:ext cx="11094415" cy="777240"/>
          </a:xfrm>
          <a:prstGeom prst="rect">
            <a:avLst/>
          </a:prstGeom>
          <a:noFill/>
          <a:ln/>
        </p:spPr>
        <p:txBody>
          <a:bodyPr wrap="square" lIns="0" tIns="0" rIns="0" bIns="0" rtlCol="0" anchor="t"/>
          <a:lstStyle/>
          <a:p>
            <a:pPr algn="l" indent="0" marL="0">
              <a:buNone/>
            </a:pPr>
            <a:r>
              <a:rPr lang="en-US" sz="1600" dirty="0">
                <a:solidFill>
                  <a:schemeClr val="tx1"/>
                </a:solidFill>
                <a:latin typeface="Calibri" pitchFamily="34" charset="0"/>
                <a:ea typeface="Calibri" pitchFamily="34" charset="-122"/>
                <a:cs typeface="Calibri" pitchFamily="34" charset="-120"/>
              </a:rPr>
              <a:t>Every eCTD dossier must pass an automated technical check before scientific review starts — the same principle the FDA and the EMA apply. EXTEDO’s EURS and EURSvalidator do exactly that, and do it well.</a:t>
            </a:r>
            <a:endParaRPr lang="en-US" sz="1600" dirty="0"/>
          </a:p>
        </p:txBody>
      </p:sp>
      <p:sp>
        <p:nvSpPr>
          <p:cNvPr id="5" name="Shape 3"/>
          <p:cNvSpPr/>
          <p:nvPr/>
        </p:nvSpPr>
        <p:spPr>
          <a:xfrm>
            <a:off x="1315182" y="2450592"/>
            <a:ext cx="502920" cy="502920"/>
          </a:xfrm>
          <a:prstGeom prst="ellipse">
            <a:avLst/>
          </a:prstGeom>
          <a:solidFill>
            <a:schemeClr val="accent4"/>
          </a:solidFill>
          <a:ln/>
        </p:spPr>
      </p:sp>
      <p:pic>
        <p:nvPicPr>
          <p:cNvPr id="6" name="Image 0" descr="C:\Users\msali\AppData\Local\Temp\claude\ppr_pitch\icons\submit.png">    </p:cNvPr>
          <p:cNvPicPr>
            <a:picLocks noChangeAspect="1"/>
          </p:cNvPicPr>
          <p:nvPr/>
        </p:nvPicPr>
        <p:blipFill>
          <a:blip r:embed="rId1"/>
          <a:stretch>
            <a:fillRect/>
          </a:stretch>
        </p:blipFill>
        <p:spPr>
          <a:xfrm>
            <a:off x="1435882" y="2571293"/>
            <a:ext cx="261518" cy="261518"/>
          </a:xfrm>
          <a:prstGeom prst="rect">
            <a:avLst/>
          </a:prstGeom>
        </p:spPr>
      </p:pic>
      <p:sp>
        <p:nvSpPr>
          <p:cNvPr id="7" name="Text 4"/>
          <p:cNvSpPr txBox="1"/>
          <p:nvPr/>
        </p:nvSpPr>
        <p:spPr>
          <a:xfrm>
            <a:off x="548640" y="3026664"/>
            <a:ext cx="2036003" cy="310896"/>
          </a:xfrm>
          <a:prstGeom prst="rect">
            <a:avLst/>
          </a:prstGeom>
          <a:noFill/>
          <a:ln/>
        </p:spPr>
        <p:txBody>
          <a:bodyPr wrap="square" lIns="0" tIns="0" rIns="0" bIns="0" rtlCol="0" anchor="ctr"/>
          <a:lstStyle/>
          <a:p>
            <a:pPr algn="ctr" indent="0" marL="0">
              <a:buNone/>
            </a:pPr>
            <a:r>
              <a:rPr lang="en-US" sz="1500" b="1" dirty="0">
                <a:solidFill>
                  <a:schemeClr val="tx1"/>
                </a:solidFill>
                <a:latin typeface="Cambria" pitchFamily="34" charset="0"/>
                <a:ea typeface="Cambria" pitchFamily="34" charset="-122"/>
                <a:cs typeface="Cambria" pitchFamily="34" charset="-120"/>
              </a:rPr>
              <a:t>Submit</a:t>
            </a:r>
            <a:endParaRPr lang="en-US" sz="1500" dirty="0"/>
          </a:p>
        </p:txBody>
      </p:sp>
      <p:sp>
        <p:nvSpPr>
          <p:cNvPr id="8" name="Text 5"/>
          <p:cNvSpPr txBox="1"/>
          <p:nvPr/>
        </p:nvSpPr>
        <p:spPr>
          <a:xfrm>
            <a:off x="640080" y="3355848"/>
            <a:ext cx="1853123" cy="457200"/>
          </a:xfrm>
          <a:prstGeom prst="rect">
            <a:avLst/>
          </a:prstGeom>
          <a:noFill/>
          <a:ln/>
        </p:spPr>
        <p:txBody>
          <a:bodyPr wrap="square" lIns="0" tIns="0" rIns="0" bIns="0" rtlCol="0" anchor="t"/>
          <a:lstStyle/>
          <a:p>
            <a:pPr algn="ctr" indent="0" marL="0">
              <a:buNone/>
            </a:pPr>
            <a:r>
              <a:rPr lang="en-US" sz="1100" dirty="0">
                <a:solidFill>
                  <a:schemeClr val="accent4"/>
                </a:solidFill>
                <a:latin typeface="Calibri" pitchFamily="34" charset="0"/>
                <a:ea typeface="Calibri" pitchFamily="34" charset="-122"/>
                <a:cs typeface="Calibri" pitchFamily="34" charset="-120"/>
              </a:rPr>
              <a:t>No applicant portal — gateway receipt only</a:t>
            </a:r>
            <a:endParaRPr lang="en-US" sz="1100" dirty="0"/>
          </a:p>
        </p:txBody>
      </p:sp>
      <p:sp>
        <p:nvSpPr>
          <p:cNvPr id="9" name="Text 6"/>
          <p:cNvSpPr txBox="1"/>
          <p:nvPr/>
        </p:nvSpPr>
        <p:spPr>
          <a:xfrm>
            <a:off x="2584643" y="2450592"/>
            <a:ext cx="228600" cy="502920"/>
          </a:xfrm>
          <a:prstGeom prst="rect">
            <a:avLst/>
          </a:prstGeom>
          <a:noFill/>
          <a:ln/>
        </p:spPr>
        <p:txBody>
          <a:bodyPr wrap="square" lIns="0" tIns="0" rIns="0" bIns="0" rtlCol="0" anchor="ctr"/>
          <a:lstStyle/>
          <a:p>
            <a:pPr algn="ctr" indent="0" marL="0">
              <a:buNone/>
            </a:pPr>
            <a:r>
              <a:rPr lang="en-US" sz="2600" dirty="0">
                <a:solidFill>
                  <a:schemeClr val="accent4"/>
                </a:solidFill>
                <a:latin typeface="Calibri" pitchFamily="34" charset="0"/>
                <a:ea typeface="Calibri" pitchFamily="34" charset="-122"/>
                <a:cs typeface="Calibri" pitchFamily="34" charset="-120"/>
              </a:rPr>
              <a:t>›</a:t>
            </a:r>
            <a:endParaRPr lang="en-US" sz="2600" dirty="0"/>
          </a:p>
        </p:txBody>
      </p:sp>
      <p:sp>
        <p:nvSpPr>
          <p:cNvPr id="10" name="Shape 7"/>
          <p:cNvSpPr/>
          <p:nvPr/>
        </p:nvSpPr>
        <p:spPr>
          <a:xfrm>
            <a:off x="3579785" y="2450592"/>
            <a:ext cx="502920" cy="502920"/>
          </a:xfrm>
          <a:prstGeom prst="ellipse">
            <a:avLst/>
          </a:prstGeom>
          <a:solidFill>
            <a:schemeClr val="accent1"/>
          </a:solidFill>
          <a:ln/>
        </p:spPr>
      </p:sp>
      <p:pic>
        <p:nvPicPr>
          <p:cNvPr id="11" name="Image 1" descr="C:\Users\msali\AppData\Local\Temp\claude\ppr_pitch\icons\validate.png">    </p:cNvPr>
          <p:cNvPicPr>
            <a:picLocks noChangeAspect="1"/>
          </p:cNvPicPr>
          <p:nvPr/>
        </p:nvPicPr>
        <p:blipFill>
          <a:blip r:embed="rId2"/>
          <a:stretch>
            <a:fillRect/>
          </a:stretch>
        </p:blipFill>
        <p:spPr>
          <a:xfrm>
            <a:off x="3700485" y="2571293"/>
            <a:ext cx="261518" cy="261518"/>
          </a:xfrm>
          <a:prstGeom prst="rect">
            <a:avLst/>
          </a:prstGeom>
        </p:spPr>
      </p:pic>
      <p:sp>
        <p:nvSpPr>
          <p:cNvPr id="12" name="Text 8"/>
          <p:cNvSpPr txBox="1"/>
          <p:nvPr/>
        </p:nvSpPr>
        <p:spPr>
          <a:xfrm>
            <a:off x="2813243" y="3026664"/>
            <a:ext cx="2036003" cy="310896"/>
          </a:xfrm>
          <a:prstGeom prst="rect">
            <a:avLst/>
          </a:prstGeom>
          <a:noFill/>
          <a:ln/>
        </p:spPr>
        <p:txBody>
          <a:bodyPr wrap="square" lIns="0" tIns="0" rIns="0" bIns="0" rtlCol="0" anchor="ctr"/>
          <a:lstStyle/>
          <a:p>
            <a:pPr algn="ctr" indent="0" marL="0">
              <a:buNone/>
            </a:pPr>
            <a:r>
              <a:rPr lang="en-US" sz="1500" b="1" dirty="0">
                <a:solidFill>
                  <a:schemeClr val="tx1"/>
                </a:solidFill>
                <a:latin typeface="Cambria" pitchFamily="34" charset="0"/>
                <a:ea typeface="Cambria" pitchFamily="34" charset="-122"/>
                <a:cs typeface="Cambria" pitchFamily="34" charset="-120"/>
              </a:rPr>
              <a:t>Validate</a:t>
            </a:r>
            <a:endParaRPr lang="en-US" sz="1500" dirty="0"/>
          </a:p>
        </p:txBody>
      </p:sp>
      <p:sp>
        <p:nvSpPr>
          <p:cNvPr id="13" name="Text 9"/>
          <p:cNvSpPr txBox="1"/>
          <p:nvPr/>
        </p:nvSpPr>
        <p:spPr>
          <a:xfrm>
            <a:off x="2904683" y="3355848"/>
            <a:ext cx="1853123" cy="457200"/>
          </a:xfrm>
          <a:prstGeom prst="rect">
            <a:avLst/>
          </a:prstGeom>
          <a:noFill/>
          <a:ln/>
        </p:spPr>
        <p:txBody>
          <a:bodyPr wrap="square" lIns="0" tIns="0" rIns="0" bIns="0" rtlCol="0" anchor="t"/>
          <a:lstStyle/>
          <a:p>
            <a:pPr algn="ctr" indent="0" marL="0">
              <a:buNone/>
            </a:pPr>
            <a:r>
              <a:rPr lang="en-US" sz="1100" dirty="0">
                <a:solidFill>
                  <a:schemeClr val="accent4"/>
                </a:solidFill>
                <a:latin typeface="Calibri" pitchFamily="34" charset="0"/>
                <a:ea typeface="Calibri" pitchFamily="34" charset="-122"/>
                <a:cs typeface="Calibri" pitchFamily="34" charset="-120"/>
              </a:rPr>
              <a:t>EURSvalidator — official rule sets</a:t>
            </a:r>
            <a:endParaRPr lang="en-US" sz="1100" dirty="0"/>
          </a:p>
        </p:txBody>
      </p:sp>
      <p:sp>
        <p:nvSpPr>
          <p:cNvPr id="14" name="Text 10"/>
          <p:cNvSpPr txBox="1"/>
          <p:nvPr/>
        </p:nvSpPr>
        <p:spPr>
          <a:xfrm>
            <a:off x="4849246" y="2450592"/>
            <a:ext cx="228600" cy="502920"/>
          </a:xfrm>
          <a:prstGeom prst="rect">
            <a:avLst/>
          </a:prstGeom>
          <a:noFill/>
          <a:ln/>
        </p:spPr>
        <p:txBody>
          <a:bodyPr wrap="square" lIns="0" tIns="0" rIns="0" bIns="0" rtlCol="0" anchor="ctr"/>
          <a:lstStyle/>
          <a:p>
            <a:pPr algn="ctr" indent="0" marL="0">
              <a:buNone/>
            </a:pPr>
            <a:r>
              <a:rPr lang="en-US" sz="2600" dirty="0">
                <a:solidFill>
                  <a:schemeClr val="accent4"/>
                </a:solidFill>
                <a:latin typeface="Calibri" pitchFamily="34" charset="0"/>
                <a:ea typeface="Calibri" pitchFamily="34" charset="-122"/>
                <a:cs typeface="Calibri" pitchFamily="34" charset="-120"/>
              </a:rPr>
              <a:t>›</a:t>
            </a:r>
            <a:endParaRPr lang="en-US" sz="2600" dirty="0"/>
          </a:p>
        </p:txBody>
      </p:sp>
      <p:sp>
        <p:nvSpPr>
          <p:cNvPr id="15" name="Shape 11"/>
          <p:cNvSpPr/>
          <p:nvPr/>
        </p:nvSpPr>
        <p:spPr>
          <a:xfrm>
            <a:off x="5844388" y="2450592"/>
            <a:ext cx="502920" cy="502920"/>
          </a:xfrm>
          <a:prstGeom prst="ellipse">
            <a:avLst/>
          </a:prstGeom>
          <a:solidFill>
            <a:schemeClr val="accent1"/>
          </a:solidFill>
          <a:ln/>
        </p:spPr>
      </p:sp>
      <p:pic>
        <p:nvPicPr>
          <p:cNvPr id="16" name="Image 2" descr="C:\Users\msali\AppData\Local\Temp\claude\ppr_pitch\icons\review.png">    </p:cNvPr>
          <p:cNvPicPr>
            <a:picLocks noChangeAspect="1"/>
          </p:cNvPicPr>
          <p:nvPr/>
        </p:nvPicPr>
        <p:blipFill>
          <a:blip r:embed="rId3"/>
          <a:stretch>
            <a:fillRect/>
          </a:stretch>
        </p:blipFill>
        <p:spPr>
          <a:xfrm>
            <a:off x="5965088" y="2571293"/>
            <a:ext cx="261518" cy="261518"/>
          </a:xfrm>
          <a:prstGeom prst="rect">
            <a:avLst/>
          </a:prstGeom>
        </p:spPr>
      </p:pic>
      <p:sp>
        <p:nvSpPr>
          <p:cNvPr id="17" name="Text 12"/>
          <p:cNvSpPr txBox="1"/>
          <p:nvPr/>
        </p:nvSpPr>
        <p:spPr>
          <a:xfrm>
            <a:off x="5077846" y="3026664"/>
            <a:ext cx="2036003" cy="310896"/>
          </a:xfrm>
          <a:prstGeom prst="rect">
            <a:avLst/>
          </a:prstGeom>
          <a:noFill/>
          <a:ln/>
        </p:spPr>
        <p:txBody>
          <a:bodyPr wrap="square" lIns="0" tIns="0" rIns="0" bIns="0" rtlCol="0" anchor="ctr"/>
          <a:lstStyle/>
          <a:p>
            <a:pPr algn="ctr" indent="0" marL="0">
              <a:buNone/>
            </a:pPr>
            <a:r>
              <a:rPr lang="en-US" sz="1500" b="1" dirty="0">
                <a:solidFill>
                  <a:schemeClr val="tx1"/>
                </a:solidFill>
                <a:latin typeface="Cambria" pitchFamily="34" charset="0"/>
                <a:ea typeface="Cambria" pitchFamily="34" charset="-122"/>
                <a:cs typeface="Cambria" pitchFamily="34" charset="-120"/>
              </a:rPr>
              <a:t>Review</a:t>
            </a:r>
            <a:endParaRPr lang="en-US" sz="1500" dirty="0"/>
          </a:p>
        </p:txBody>
      </p:sp>
      <p:sp>
        <p:nvSpPr>
          <p:cNvPr id="18" name="Text 13"/>
          <p:cNvSpPr txBox="1"/>
          <p:nvPr/>
        </p:nvSpPr>
        <p:spPr>
          <a:xfrm>
            <a:off x="5169286" y="3355848"/>
            <a:ext cx="1853123" cy="457200"/>
          </a:xfrm>
          <a:prstGeom prst="rect">
            <a:avLst/>
          </a:prstGeom>
          <a:noFill/>
          <a:ln/>
        </p:spPr>
        <p:txBody>
          <a:bodyPr wrap="square" lIns="0" tIns="0" rIns="0" bIns="0" rtlCol="0" anchor="t"/>
          <a:lstStyle/>
          <a:p>
            <a:pPr algn="ctr" indent="0" marL="0">
              <a:buNone/>
            </a:pPr>
            <a:r>
              <a:rPr lang="en-US" sz="1100" dirty="0">
                <a:solidFill>
                  <a:schemeClr val="accent4"/>
                </a:solidFill>
                <a:latin typeface="Calibri" pitchFamily="34" charset="0"/>
                <a:ea typeface="Calibri" pitchFamily="34" charset="-122"/>
                <a:cs typeface="Calibri" pitchFamily="34" charset="-120"/>
              </a:rPr>
              <a:t>EURS — annotate, search, navigate</a:t>
            </a:r>
            <a:endParaRPr lang="en-US" sz="1100" dirty="0"/>
          </a:p>
        </p:txBody>
      </p:sp>
      <p:sp>
        <p:nvSpPr>
          <p:cNvPr id="19" name="Text 14"/>
          <p:cNvSpPr txBox="1"/>
          <p:nvPr/>
        </p:nvSpPr>
        <p:spPr>
          <a:xfrm>
            <a:off x="7113849" y="2450592"/>
            <a:ext cx="228600" cy="502920"/>
          </a:xfrm>
          <a:prstGeom prst="rect">
            <a:avLst/>
          </a:prstGeom>
          <a:noFill/>
          <a:ln/>
        </p:spPr>
        <p:txBody>
          <a:bodyPr wrap="square" lIns="0" tIns="0" rIns="0" bIns="0" rtlCol="0" anchor="ctr"/>
          <a:lstStyle/>
          <a:p>
            <a:pPr algn="ctr" indent="0" marL="0">
              <a:buNone/>
            </a:pPr>
            <a:r>
              <a:rPr lang="en-US" sz="2600" dirty="0">
                <a:solidFill>
                  <a:schemeClr val="accent4"/>
                </a:solidFill>
                <a:latin typeface="Calibri" pitchFamily="34" charset="0"/>
                <a:ea typeface="Calibri" pitchFamily="34" charset="-122"/>
                <a:cs typeface="Calibri" pitchFamily="34" charset="-120"/>
              </a:rPr>
              <a:t>›</a:t>
            </a:r>
            <a:endParaRPr lang="en-US" sz="2600" dirty="0"/>
          </a:p>
        </p:txBody>
      </p:sp>
      <p:sp>
        <p:nvSpPr>
          <p:cNvPr id="20" name="Shape 15"/>
          <p:cNvSpPr/>
          <p:nvPr/>
        </p:nvSpPr>
        <p:spPr>
          <a:xfrm>
            <a:off x="8108991" y="2450592"/>
            <a:ext cx="502920" cy="502920"/>
          </a:xfrm>
          <a:prstGeom prst="ellipse">
            <a:avLst/>
          </a:prstGeom>
          <a:solidFill>
            <a:schemeClr val="accent4"/>
          </a:solidFill>
          <a:ln/>
        </p:spPr>
      </p:sp>
      <p:pic>
        <p:nvPicPr>
          <p:cNvPr id="21" name="Image 3" descr="C:\Users\msali\AppData\Local\Temp\claude\ppr_pitch\icons\decide.png">    </p:cNvPr>
          <p:cNvPicPr>
            <a:picLocks noChangeAspect="1"/>
          </p:cNvPicPr>
          <p:nvPr/>
        </p:nvPicPr>
        <p:blipFill>
          <a:blip r:embed="rId4"/>
          <a:stretch>
            <a:fillRect/>
          </a:stretch>
        </p:blipFill>
        <p:spPr>
          <a:xfrm>
            <a:off x="8229691" y="2571293"/>
            <a:ext cx="261518" cy="261518"/>
          </a:xfrm>
          <a:prstGeom prst="rect">
            <a:avLst/>
          </a:prstGeom>
        </p:spPr>
      </p:pic>
      <p:sp>
        <p:nvSpPr>
          <p:cNvPr id="22" name="Text 16"/>
          <p:cNvSpPr txBox="1"/>
          <p:nvPr/>
        </p:nvSpPr>
        <p:spPr>
          <a:xfrm>
            <a:off x="7342449" y="3026664"/>
            <a:ext cx="2036003" cy="310896"/>
          </a:xfrm>
          <a:prstGeom prst="rect">
            <a:avLst/>
          </a:prstGeom>
          <a:noFill/>
          <a:ln/>
        </p:spPr>
        <p:txBody>
          <a:bodyPr wrap="square" lIns="0" tIns="0" rIns="0" bIns="0" rtlCol="0" anchor="ctr"/>
          <a:lstStyle/>
          <a:p>
            <a:pPr algn="ctr" indent="0" marL="0">
              <a:buNone/>
            </a:pPr>
            <a:r>
              <a:rPr lang="en-US" sz="1500" b="1" dirty="0">
                <a:solidFill>
                  <a:schemeClr val="tx1"/>
                </a:solidFill>
                <a:latin typeface="Cambria" pitchFamily="34" charset="0"/>
                <a:ea typeface="Cambria" pitchFamily="34" charset="-122"/>
                <a:cs typeface="Cambria" pitchFamily="34" charset="-120"/>
              </a:rPr>
              <a:t>Decide</a:t>
            </a:r>
            <a:endParaRPr lang="en-US" sz="1500" dirty="0"/>
          </a:p>
        </p:txBody>
      </p:sp>
      <p:sp>
        <p:nvSpPr>
          <p:cNvPr id="23" name="Text 17"/>
          <p:cNvSpPr txBox="1"/>
          <p:nvPr/>
        </p:nvSpPr>
        <p:spPr>
          <a:xfrm>
            <a:off x="7433889" y="3355848"/>
            <a:ext cx="1853123" cy="457200"/>
          </a:xfrm>
          <a:prstGeom prst="rect">
            <a:avLst/>
          </a:prstGeom>
          <a:noFill/>
          <a:ln/>
        </p:spPr>
        <p:txBody>
          <a:bodyPr wrap="square" lIns="0" tIns="0" rIns="0" bIns="0" rtlCol="0" anchor="t"/>
          <a:lstStyle/>
          <a:p>
            <a:pPr algn="ctr" indent="0" marL="0">
              <a:buNone/>
            </a:pPr>
            <a:r>
              <a:rPr lang="en-US" sz="1100" dirty="0">
                <a:solidFill>
                  <a:schemeClr val="accent4"/>
                </a:solidFill>
                <a:latin typeface="Calibri" pitchFamily="34" charset="0"/>
                <a:ea typeface="Calibri" pitchFamily="34" charset="-122"/>
                <a:cs typeface="Calibri" pitchFamily="34" charset="-120"/>
              </a:rPr>
              <a:t>Not part of EURS</a:t>
            </a:r>
            <a:endParaRPr lang="en-US" sz="1100" dirty="0"/>
          </a:p>
        </p:txBody>
      </p:sp>
      <p:sp>
        <p:nvSpPr>
          <p:cNvPr id="24" name="Text 18"/>
          <p:cNvSpPr txBox="1"/>
          <p:nvPr/>
        </p:nvSpPr>
        <p:spPr>
          <a:xfrm>
            <a:off x="9378452" y="2450592"/>
            <a:ext cx="228600" cy="502920"/>
          </a:xfrm>
          <a:prstGeom prst="rect">
            <a:avLst/>
          </a:prstGeom>
          <a:noFill/>
          <a:ln/>
        </p:spPr>
        <p:txBody>
          <a:bodyPr wrap="square" lIns="0" tIns="0" rIns="0" bIns="0" rtlCol="0" anchor="ctr"/>
          <a:lstStyle/>
          <a:p>
            <a:pPr algn="ctr" indent="0" marL="0">
              <a:buNone/>
            </a:pPr>
            <a:r>
              <a:rPr lang="en-US" sz="2600" dirty="0">
                <a:solidFill>
                  <a:schemeClr val="accent4"/>
                </a:solidFill>
                <a:latin typeface="Calibri" pitchFamily="34" charset="0"/>
                <a:ea typeface="Calibri" pitchFamily="34" charset="-122"/>
                <a:cs typeface="Calibri" pitchFamily="34" charset="-120"/>
              </a:rPr>
              <a:t>›</a:t>
            </a:r>
            <a:endParaRPr lang="en-US" sz="2600" dirty="0"/>
          </a:p>
        </p:txBody>
      </p:sp>
      <p:sp>
        <p:nvSpPr>
          <p:cNvPr id="25" name="Shape 19"/>
          <p:cNvSpPr/>
          <p:nvPr/>
        </p:nvSpPr>
        <p:spPr>
          <a:xfrm>
            <a:off x="10373594" y="2450592"/>
            <a:ext cx="502920" cy="502920"/>
          </a:xfrm>
          <a:prstGeom prst="ellipse">
            <a:avLst/>
          </a:prstGeom>
          <a:solidFill>
            <a:schemeClr val="accent4"/>
          </a:solidFill>
          <a:ln/>
        </p:spPr>
      </p:sp>
      <p:pic>
        <p:nvPicPr>
          <p:cNvPr id="26" name="Image 4" descr="C:\Users\msali\AppData\Local\Temp\claude\ppr_pitch\icons\certificate.png">    </p:cNvPr>
          <p:cNvPicPr>
            <a:picLocks noChangeAspect="1"/>
          </p:cNvPicPr>
          <p:nvPr/>
        </p:nvPicPr>
        <p:blipFill>
          <a:blip r:embed="rId5"/>
          <a:stretch>
            <a:fillRect/>
          </a:stretch>
        </p:blipFill>
        <p:spPr>
          <a:xfrm>
            <a:off x="10494294" y="2571293"/>
            <a:ext cx="261518" cy="261518"/>
          </a:xfrm>
          <a:prstGeom prst="rect">
            <a:avLst/>
          </a:prstGeom>
        </p:spPr>
      </p:pic>
      <p:sp>
        <p:nvSpPr>
          <p:cNvPr id="27" name="Text 20"/>
          <p:cNvSpPr txBox="1"/>
          <p:nvPr/>
        </p:nvSpPr>
        <p:spPr>
          <a:xfrm>
            <a:off x="9607052" y="3026664"/>
            <a:ext cx="2036003" cy="310896"/>
          </a:xfrm>
          <a:prstGeom prst="rect">
            <a:avLst/>
          </a:prstGeom>
          <a:noFill/>
          <a:ln/>
        </p:spPr>
        <p:txBody>
          <a:bodyPr wrap="square" lIns="0" tIns="0" rIns="0" bIns="0" rtlCol="0" anchor="ctr"/>
          <a:lstStyle/>
          <a:p>
            <a:pPr algn="ctr" indent="0" marL="0">
              <a:buNone/>
            </a:pPr>
            <a:r>
              <a:rPr lang="en-US" sz="1500" b="1" dirty="0">
                <a:solidFill>
                  <a:schemeClr val="tx1"/>
                </a:solidFill>
                <a:latin typeface="Cambria" pitchFamily="34" charset="0"/>
                <a:ea typeface="Cambria" pitchFamily="34" charset="-122"/>
                <a:cs typeface="Cambria" pitchFamily="34" charset="-120"/>
              </a:rPr>
              <a:t>Certify</a:t>
            </a:r>
            <a:endParaRPr lang="en-US" sz="1500" dirty="0"/>
          </a:p>
        </p:txBody>
      </p:sp>
      <p:sp>
        <p:nvSpPr>
          <p:cNvPr id="28" name="Text 21"/>
          <p:cNvSpPr txBox="1"/>
          <p:nvPr/>
        </p:nvSpPr>
        <p:spPr>
          <a:xfrm>
            <a:off x="9698492" y="3355848"/>
            <a:ext cx="1853123" cy="457200"/>
          </a:xfrm>
          <a:prstGeom prst="rect">
            <a:avLst/>
          </a:prstGeom>
          <a:noFill/>
          <a:ln/>
        </p:spPr>
        <p:txBody>
          <a:bodyPr wrap="square" lIns="0" tIns="0" rIns="0" bIns="0" rtlCol="0" anchor="t"/>
          <a:lstStyle/>
          <a:p>
            <a:pPr algn="ctr" indent="0" marL="0">
              <a:buNone/>
            </a:pPr>
            <a:r>
              <a:rPr lang="en-US" sz="1100" dirty="0">
                <a:solidFill>
                  <a:schemeClr val="accent4"/>
                </a:solidFill>
                <a:latin typeface="Calibri" pitchFamily="34" charset="0"/>
                <a:ea typeface="Calibri" pitchFamily="34" charset="-122"/>
                <a:cs typeface="Calibri" pitchFamily="34" charset="-120"/>
              </a:rPr>
              <a:t>Not part of EURS</a:t>
            </a:r>
            <a:endParaRPr lang="en-US" sz="1100" dirty="0"/>
          </a:p>
        </p:txBody>
      </p:sp>
      <p:sp>
        <p:nvSpPr>
          <p:cNvPr id="29" name="Shape 22"/>
          <p:cNvSpPr/>
          <p:nvPr/>
        </p:nvSpPr>
        <p:spPr>
          <a:xfrm>
            <a:off x="548640" y="4069080"/>
            <a:ext cx="11094415" cy="1143000"/>
          </a:xfrm>
          <a:prstGeom prst="roundRect">
            <a:avLst>
              <a:gd name="adj" fmla="val 8000"/>
            </a:avLst>
          </a:prstGeom>
          <a:solidFill>
            <a:schemeClr val="bg2"/>
          </a:solidFill>
          <a:ln/>
          <a:effectLst>
            <a:outerShdw sx="100000" sy="100000" kx="0" ky="0" algn="bl" rotWithShape="0" blurRad="101600" dist="38100" dir="5400000">
              <a:srgbClr val="17211F">
                <a:alpha val="16000"/>
              </a:srgbClr>
            </a:outerShdw>
          </a:effectLst>
        </p:spPr>
      </p:sp>
      <p:sp>
        <p:nvSpPr>
          <p:cNvPr id="30" name="Text 23"/>
          <p:cNvSpPr txBox="1"/>
          <p:nvPr/>
        </p:nvSpPr>
        <p:spPr>
          <a:xfrm>
            <a:off x="914400" y="4206240"/>
            <a:ext cx="10362895" cy="868680"/>
          </a:xfrm>
          <a:prstGeom prst="rect">
            <a:avLst/>
          </a:prstGeom>
          <a:noFill/>
          <a:ln/>
        </p:spPr>
        <p:txBody>
          <a:bodyPr wrap="square" lIns="0" tIns="0" rIns="0" bIns="0" rtlCol="0" anchor="ctr"/>
          <a:lstStyle/>
          <a:p>
            <a:pPr algn="l" indent="0" marL="0">
              <a:buNone/>
            </a:pPr>
            <a:r>
              <a:rPr lang="en-US" sz="1600" dirty="0">
                <a:solidFill>
                  <a:srgbClr val="17211F"/>
                </a:solidFill>
                <a:latin typeface="Calibri" pitchFamily="34" charset="0"/>
                <a:ea typeface="Calibri" pitchFamily="34" charset="-122"/>
                <a:cs typeface="Calibri" pitchFamily="34" charset="-120"/>
              </a:rPr>
              <a:t>EXTEDO validates and reviews brilliantly — that’s genuinely two stages of five, done well. </a:t>
            </a:r>
            <a:pPr algn="l" indent="0" marL="0">
              <a:buNone/>
            </a:pPr>
            <a:r>
              <a:rPr lang="en-US" sz="1600" b="1" dirty="0">
                <a:solidFill>
                  <a:srgbClr val="0E4F4A"/>
                </a:solidFill>
                <a:latin typeface="Calibri" pitchFamily="34" charset="0"/>
                <a:ea typeface="Calibri" pitchFamily="34" charset="-122"/>
                <a:cs typeface="Calibri" pitchFamily="34" charset="-120"/>
              </a:rPr>
              <a:t>The portal, the decision and the certificate are a different system — and the Department doesn’t have one of those without PPR.</a:t>
            </a:r>
            <a:endParaRPr lang="en-US" sz="1600" dirty="0"/>
          </a:p>
        </p:txBody>
      </p:sp>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058400" cy="292608"/>
          </a:xfrm>
          <a:prstGeom prst="rect">
            <a:avLst/>
          </a:prstGeom>
          <a:noFill/>
          <a:ln/>
        </p:spPr>
        <p:txBody>
          <a:bodyPr wrap="square" rtlCol="0"/>
          <a:lstStyle/>
          <a:p>
            <a:pPr algn="l" indent="0" marL="0">
              <a:buNone/>
            </a:pPr>
            <a:r>
              <a:rPr lang="en-US" sz="1300" b="1" spc="150" kern="0" dirty="0">
                <a:solidFill>
                  <a:schemeClr val="accent2"/>
                </a:solidFill>
                <a:latin typeface="Calibri" pitchFamily="34" charset="0"/>
                <a:ea typeface="Calibri" pitchFamily="34" charset="-122"/>
                <a:cs typeface="Calibri" pitchFamily="34" charset="-120"/>
              </a:rPr>
              <a:t>MEET PPR</a:t>
            </a:r>
            <a:endParaRPr lang="en-US" sz="1300" dirty="0"/>
          </a:p>
        </p:txBody>
      </p:sp>
      <p:sp>
        <p:nvSpPr>
          <p:cNvPr id="3" name="Text 0"/>
          <p:cNvSpPr/>
          <p:nvPr>
            <p:ph idx="101" type="title" hasCustomPrompt="1"/>
          </p:nvPr>
        </p:nvSpPr>
        <p:spPr>
          <a:xfrm>
            <a:off x="548640" y="676656"/>
            <a:ext cx="11094415" cy="566928"/>
          </a:xfrm>
          <a:prstGeom prst="rect">
            <a:avLst/>
          </a:prstGeom>
          <a:noFill/>
          <a:ln/>
        </p:spPr>
        <p:txBody>
          <a:bodyPr wrap="square" rtlCol="0"/>
          <a:lstStyle/>
          <a:p>
            <a:pPr algn="l" indent="0" marL="0">
              <a:buNone/>
            </a:pPr>
            <a:r>
              <a:rPr lang="en-US" sz="3000" b="1" dirty="0">
                <a:solidFill>
                  <a:schemeClr val="tx1"/>
                </a:solidFill>
                <a:latin typeface="Cambria" pitchFamily="34" charset="0"/>
                <a:ea typeface="Cambria" pitchFamily="34" charset="-122"/>
                <a:cs typeface="Cambria" pitchFamily="34" charset="-120"/>
              </a:rPr>
              <a:t>Five stages, one system — upload to certificate</a:t>
            </a:r>
            <a:endParaRPr lang="en-US" sz="3000" dirty="0"/>
          </a:p>
        </p:txBody>
      </p:sp>
      <p:sp>
        <p:nvSpPr>
          <p:cNvPr id="4" name="Shape 2"/>
          <p:cNvSpPr/>
          <p:nvPr/>
        </p:nvSpPr>
        <p:spPr>
          <a:xfrm>
            <a:off x="1315182" y="2267712"/>
            <a:ext cx="502920" cy="502920"/>
          </a:xfrm>
          <a:prstGeom prst="ellipse">
            <a:avLst/>
          </a:prstGeom>
          <a:solidFill>
            <a:schemeClr val="accent1"/>
          </a:solidFill>
          <a:ln/>
        </p:spPr>
      </p:sp>
      <p:pic>
        <p:nvPicPr>
          <p:cNvPr id="5" name="Image 0" descr="C:\Users\msali\AppData\Local\Temp\claude\ppr_pitch\icons\submit.png">    </p:cNvPr>
          <p:cNvPicPr>
            <a:picLocks noChangeAspect="1"/>
          </p:cNvPicPr>
          <p:nvPr/>
        </p:nvPicPr>
        <p:blipFill>
          <a:blip r:embed="rId1"/>
          <a:stretch>
            <a:fillRect/>
          </a:stretch>
        </p:blipFill>
        <p:spPr>
          <a:xfrm>
            <a:off x="1435882" y="2388413"/>
            <a:ext cx="261518" cy="261518"/>
          </a:xfrm>
          <a:prstGeom prst="rect">
            <a:avLst/>
          </a:prstGeom>
        </p:spPr>
      </p:pic>
      <p:sp>
        <p:nvSpPr>
          <p:cNvPr id="6" name="Text 3"/>
          <p:cNvSpPr txBox="1"/>
          <p:nvPr/>
        </p:nvSpPr>
        <p:spPr>
          <a:xfrm>
            <a:off x="548640" y="2843784"/>
            <a:ext cx="2036003" cy="310896"/>
          </a:xfrm>
          <a:prstGeom prst="rect">
            <a:avLst/>
          </a:prstGeom>
          <a:noFill/>
          <a:ln/>
        </p:spPr>
        <p:txBody>
          <a:bodyPr wrap="square" lIns="0" tIns="0" rIns="0" bIns="0" rtlCol="0" anchor="ctr"/>
          <a:lstStyle/>
          <a:p>
            <a:pPr algn="ctr" indent="0" marL="0">
              <a:buNone/>
            </a:pPr>
            <a:r>
              <a:rPr lang="en-US" sz="1500" b="1" dirty="0">
                <a:solidFill>
                  <a:schemeClr val="tx1"/>
                </a:solidFill>
                <a:latin typeface="Cambria" pitchFamily="34" charset="0"/>
                <a:ea typeface="Cambria" pitchFamily="34" charset="-122"/>
                <a:cs typeface="Cambria" pitchFamily="34" charset="-120"/>
              </a:rPr>
              <a:t>Submit</a:t>
            </a:r>
            <a:endParaRPr lang="en-US" sz="1500" dirty="0"/>
          </a:p>
        </p:txBody>
      </p:sp>
      <p:sp>
        <p:nvSpPr>
          <p:cNvPr id="7" name="Text 4"/>
          <p:cNvSpPr txBox="1"/>
          <p:nvPr/>
        </p:nvSpPr>
        <p:spPr>
          <a:xfrm>
            <a:off x="640080" y="3172968"/>
            <a:ext cx="1853123" cy="365760"/>
          </a:xfrm>
          <a:prstGeom prst="rect">
            <a:avLst/>
          </a:prstGeom>
          <a:noFill/>
          <a:ln/>
        </p:spPr>
        <p:txBody>
          <a:bodyPr wrap="square" lIns="0" tIns="0" rIns="0" bIns="0" rtlCol="0" anchor="t"/>
          <a:lstStyle/>
          <a:p>
            <a:pPr algn="ctr" indent="0" marL="0">
              <a:buNone/>
            </a:pPr>
            <a:r>
              <a:rPr lang="en-US" sz="1100" dirty="0">
                <a:solidFill>
                  <a:schemeClr val="accent2"/>
                </a:solidFill>
                <a:latin typeface="Calibri" pitchFamily="34" charset="0"/>
                <a:ea typeface="Calibri" pitchFamily="34" charset="-122"/>
                <a:cs typeface="Calibri" pitchFamily="34" charset="-120"/>
              </a:rPr>
              <a:t>Company portal — create, upload, submit</a:t>
            </a:r>
            <a:endParaRPr lang="en-US" sz="1100" dirty="0"/>
          </a:p>
        </p:txBody>
      </p:sp>
      <p:sp>
        <p:nvSpPr>
          <p:cNvPr id="8" name="Text 5"/>
          <p:cNvSpPr txBox="1"/>
          <p:nvPr/>
        </p:nvSpPr>
        <p:spPr>
          <a:xfrm>
            <a:off x="640080" y="3493008"/>
            <a:ext cx="1853123" cy="274320"/>
          </a:xfrm>
          <a:prstGeom prst="rect">
            <a:avLst/>
          </a:prstGeom>
          <a:noFill/>
          <a:ln/>
        </p:spPr>
        <p:txBody>
          <a:bodyPr wrap="square" lIns="0" tIns="0" rIns="0" bIns="0" rtlCol="0" anchor="t"/>
          <a:lstStyle/>
          <a:p>
            <a:pPr algn="ctr" indent="0" marL="0">
              <a:buNone/>
            </a:pPr>
            <a:r>
              <a:rPr lang="en-US" sz="1000" i="1" dirty="0">
                <a:solidFill>
                  <a:schemeClr val="accent4"/>
                </a:solidFill>
                <a:latin typeface="Calibri" pitchFamily="34" charset="0"/>
                <a:ea typeface="Calibri" pitchFamily="34" charset="-122"/>
                <a:cs typeface="Calibri" pitchFamily="34" charset="-120"/>
              </a:rPr>
              <a:t>Company</a:t>
            </a:r>
            <a:endParaRPr lang="en-US" sz="1000" dirty="0"/>
          </a:p>
        </p:txBody>
      </p:sp>
      <p:sp>
        <p:nvSpPr>
          <p:cNvPr id="9" name="Text 6"/>
          <p:cNvSpPr txBox="1"/>
          <p:nvPr/>
        </p:nvSpPr>
        <p:spPr>
          <a:xfrm>
            <a:off x="2584643" y="2267712"/>
            <a:ext cx="228600" cy="502920"/>
          </a:xfrm>
          <a:prstGeom prst="rect">
            <a:avLst/>
          </a:prstGeom>
          <a:noFill/>
          <a:ln/>
        </p:spPr>
        <p:txBody>
          <a:bodyPr wrap="square" lIns="0" tIns="0" rIns="0" bIns="0" rtlCol="0" anchor="ctr"/>
          <a:lstStyle/>
          <a:p>
            <a:pPr algn="ctr" indent="0" marL="0">
              <a:buNone/>
            </a:pPr>
            <a:r>
              <a:rPr lang="en-US" sz="2600" dirty="0">
                <a:solidFill>
                  <a:schemeClr val="accent2"/>
                </a:solidFill>
                <a:latin typeface="Calibri" pitchFamily="34" charset="0"/>
                <a:ea typeface="Calibri" pitchFamily="34" charset="-122"/>
                <a:cs typeface="Calibri" pitchFamily="34" charset="-120"/>
              </a:rPr>
              <a:t>›</a:t>
            </a:r>
            <a:endParaRPr lang="en-US" sz="2600" dirty="0"/>
          </a:p>
        </p:txBody>
      </p:sp>
      <p:sp>
        <p:nvSpPr>
          <p:cNvPr id="10" name="Shape 7"/>
          <p:cNvSpPr/>
          <p:nvPr/>
        </p:nvSpPr>
        <p:spPr>
          <a:xfrm>
            <a:off x="3579785" y="2267712"/>
            <a:ext cx="502920" cy="502920"/>
          </a:xfrm>
          <a:prstGeom prst="ellipse">
            <a:avLst/>
          </a:prstGeom>
          <a:solidFill>
            <a:schemeClr val="accent1"/>
          </a:solidFill>
          <a:ln/>
        </p:spPr>
      </p:sp>
      <p:pic>
        <p:nvPicPr>
          <p:cNvPr id="11" name="Image 1" descr="C:\Users\msali\AppData\Local\Temp\claude\ppr_pitch\icons\validate.png">    </p:cNvPr>
          <p:cNvPicPr>
            <a:picLocks noChangeAspect="1"/>
          </p:cNvPicPr>
          <p:nvPr/>
        </p:nvPicPr>
        <p:blipFill>
          <a:blip r:embed="rId2"/>
          <a:stretch>
            <a:fillRect/>
          </a:stretch>
        </p:blipFill>
        <p:spPr>
          <a:xfrm>
            <a:off x="3700485" y="2388413"/>
            <a:ext cx="261518" cy="261518"/>
          </a:xfrm>
          <a:prstGeom prst="rect">
            <a:avLst/>
          </a:prstGeom>
        </p:spPr>
      </p:pic>
      <p:sp>
        <p:nvSpPr>
          <p:cNvPr id="12" name="Text 8"/>
          <p:cNvSpPr txBox="1"/>
          <p:nvPr/>
        </p:nvSpPr>
        <p:spPr>
          <a:xfrm>
            <a:off x="2813243" y="2843784"/>
            <a:ext cx="2036003" cy="310896"/>
          </a:xfrm>
          <a:prstGeom prst="rect">
            <a:avLst/>
          </a:prstGeom>
          <a:noFill/>
          <a:ln/>
        </p:spPr>
        <p:txBody>
          <a:bodyPr wrap="square" lIns="0" tIns="0" rIns="0" bIns="0" rtlCol="0" anchor="ctr"/>
          <a:lstStyle/>
          <a:p>
            <a:pPr algn="ctr" indent="0" marL="0">
              <a:buNone/>
            </a:pPr>
            <a:r>
              <a:rPr lang="en-US" sz="1500" b="1" dirty="0">
                <a:solidFill>
                  <a:schemeClr val="tx1"/>
                </a:solidFill>
                <a:latin typeface="Cambria" pitchFamily="34" charset="0"/>
                <a:ea typeface="Cambria" pitchFamily="34" charset="-122"/>
                <a:cs typeface="Cambria" pitchFamily="34" charset="-120"/>
              </a:rPr>
              <a:t>Validate</a:t>
            </a:r>
            <a:endParaRPr lang="en-US" sz="1500" dirty="0"/>
          </a:p>
        </p:txBody>
      </p:sp>
      <p:sp>
        <p:nvSpPr>
          <p:cNvPr id="13" name="Text 9"/>
          <p:cNvSpPr txBox="1"/>
          <p:nvPr/>
        </p:nvSpPr>
        <p:spPr>
          <a:xfrm>
            <a:off x="2904683" y="3172968"/>
            <a:ext cx="1853123" cy="365760"/>
          </a:xfrm>
          <a:prstGeom prst="rect">
            <a:avLst/>
          </a:prstGeom>
          <a:noFill/>
          <a:ln/>
        </p:spPr>
        <p:txBody>
          <a:bodyPr wrap="square" lIns="0" tIns="0" rIns="0" bIns="0" rtlCol="0" anchor="t"/>
          <a:lstStyle/>
          <a:p>
            <a:pPr algn="ctr" indent="0" marL="0">
              <a:buNone/>
            </a:pPr>
            <a:r>
              <a:rPr lang="en-US" sz="1100" dirty="0">
                <a:solidFill>
                  <a:schemeClr val="accent2"/>
                </a:solidFill>
                <a:latin typeface="Calibri" pitchFamily="34" charset="0"/>
                <a:ea typeface="Calibri" pitchFamily="34" charset="-122"/>
                <a:cs typeface="Calibri" pitchFamily="34" charset="-120"/>
              </a:rPr>
              <a:t>32 rules, 3 layers, automatic</a:t>
            </a:r>
            <a:endParaRPr lang="en-US" sz="1100" dirty="0"/>
          </a:p>
        </p:txBody>
      </p:sp>
      <p:sp>
        <p:nvSpPr>
          <p:cNvPr id="14" name="Text 10"/>
          <p:cNvSpPr txBox="1"/>
          <p:nvPr/>
        </p:nvSpPr>
        <p:spPr>
          <a:xfrm>
            <a:off x="2904683" y="3493008"/>
            <a:ext cx="1853123" cy="274320"/>
          </a:xfrm>
          <a:prstGeom prst="rect">
            <a:avLst/>
          </a:prstGeom>
          <a:noFill/>
          <a:ln/>
        </p:spPr>
        <p:txBody>
          <a:bodyPr wrap="square" lIns="0" tIns="0" rIns="0" bIns="0" rtlCol="0" anchor="t"/>
          <a:lstStyle/>
          <a:p>
            <a:pPr algn="ctr" indent="0" marL="0">
              <a:buNone/>
            </a:pPr>
            <a:r>
              <a:rPr lang="en-US" sz="1000" i="1" dirty="0">
                <a:solidFill>
                  <a:schemeClr val="accent4"/>
                </a:solidFill>
                <a:latin typeface="Calibri" pitchFamily="34" charset="0"/>
                <a:ea typeface="Calibri" pitchFamily="34" charset="-122"/>
                <a:cs typeface="Calibri" pitchFamily="34" charset="-120"/>
              </a:rPr>
              <a:t>System</a:t>
            </a:r>
            <a:endParaRPr lang="en-US" sz="1000" dirty="0"/>
          </a:p>
        </p:txBody>
      </p:sp>
      <p:sp>
        <p:nvSpPr>
          <p:cNvPr id="15" name="Text 11"/>
          <p:cNvSpPr txBox="1"/>
          <p:nvPr/>
        </p:nvSpPr>
        <p:spPr>
          <a:xfrm>
            <a:off x="4849246" y="2267712"/>
            <a:ext cx="228600" cy="502920"/>
          </a:xfrm>
          <a:prstGeom prst="rect">
            <a:avLst/>
          </a:prstGeom>
          <a:noFill/>
          <a:ln/>
        </p:spPr>
        <p:txBody>
          <a:bodyPr wrap="square" lIns="0" tIns="0" rIns="0" bIns="0" rtlCol="0" anchor="ctr"/>
          <a:lstStyle/>
          <a:p>
            <a:pPr algn="ctr" indent="0" marL="0">
              <a:buNone/>
            </a:pPr>
            <a:r>
              <a:rPr lang="en-US" sz="2600" dirty="0">
                <a:solidFill>
                  <a:schemeClr val="accent2"/>
                </a:solidFill>
                <a:latin typeface="Calibri" pitchFamily="34" charset="0"/>
                <a:ea typeface="Calibri" pitchFamily="34" charset="-122"/>
                <a:cs typeface="Calibri" pitchFamily="34" charset="-120"/>
              </a:rPr>
              <a:t>›</a:t>
            </a:r>
            <a:endParaRPr lang="en-US" sz="2600" dirty="0"/>
          </a:p>
        </p:txBody>
      </p:sp>
      <p:sp>
        <p:nvSpPr>
          <p:cNvPr id="16" name="Shape 12"/>
          <p:cNvSpPr/>
          <p:nvPr/>
        </p:nvSpPr>
        <p:spPr>
          <a:xfrm>
            <a:off x="5844388" y="2267712"/>
            <a:ext cx="502920" cy="502920"/>
          </a:xfrm>
          <a:prstGeom prst="ellipse">
            <a:avLst/>
          </a:prstGeom>
          <a:solidFill>
            <a:schemeClr val="accent1"/>
          </a:solidFill>
          <a:ln/>
        </p:spPr>
      </p:sp>
      <p:pic>
        <p:nvPicPr>
          <p:cNvPr id="17" name="Image 2" descr="C:\Users\msali\AppData\Local\Temp\claude\ppr_pitch\icons\review.png">    </p:cNvPr>
          <p:cNvPicPr>
            <a:picLocks noChangeAspect="1"/>
          </p:cNvPicPr>
          <p:nvPr/>
        </p:nvPicPr>
        <p:blipFill>
          <a:blip r:embed="rId3"/>
          <a:stretch>
            <a:fillRect/>
          </a:stretch>
        </p:blipFill>
        <p:spPr>
          <a:xfrm>
            <a:off x="5965088" y="2388413"/>
            <a:ext cx="261518" cy="261518"/>
          </a:xfrm>
          <a:prstGeom prst="rect">
            <a:avLst/>
          </a:prstGeom>
        </p:spPr>
      </p:pic>
      <p:sp>
        <p:nvSpPr>
          <p:cNvPr id="18" name="Text 13"/>
          <p:cNvSpPr txBox="1"/>
          <p:nvPr/>
        </p:nvSpPr>
        <p:spPr>
          <a:xfrm>
            <a:off x="5077846" y="2843784"/>
            <a:ext cx="2036003" cy="310896"/>
          </a:xfrm>
          <a:prstGeom prst="rect">
            <a:avLst/>
          </a:prstGeom>
          <a:noFill/>
          <a:ln/>
        </p:spPr>
        <p:txBody>
          <a:bodyPr wrap="square" lIns="0" tIns="0" rIns="0" bIns="0" rtlCol="0" anchor="ctr"/>
          <a:lstStyle/>
          <a:p>
            <a:pPr algn="ctr" indent="0" marL="0">
              <a:buNone/>
            </a:pPr>
            <a:r>
              <a:rPr lang="en-US" sz="1500" b="1" dirty="0">
                <a:solidFill>
                  <a:schemeClr val="tx1"/>
                </a:solidFill>
                <a:latin typeface="Cambria" pitchFamily="34" charset="0"/>
                <a:ea typeface="Cambria" pitchFamily="34" charset="-122"/>
                <a:cs typeface="Cambria" pitchFamily="34" charset="-120"/>
              </a:rPr>
              <a:t>Review</a:t>
            </a:r>
            <a:endParaRPr lang="en-US" sz="1500" dirty="0"/>
          </a:p>
        </p:txBody>
      </p:sp>
      <p:sp>
        <p:nvSpPr>
          <p:cNvPr id="19" name="Text 14"/>
          <p:cNvSpPr txBox="1"/>
          <p:nvPr/>
        </p:nvSpPr>
        <p:spPr>
          <a:xfrm>
            <a:off x="5169286" y="3172968"/>
            <a:ext cx="1853123" cy="365760"/>
          </a:xfrm>
          <a:prstGeom prst="rect">
            <a:avLst/>
          </a:prstGeom>
          <a:noFill/>
          <a:ln/>
        </p:spPr>
        <p:txBody>
          <a:bodyPr wrap="square" lIns="0" tIns="0" rIns="0" bIns="0" rtlCol="0" anchor="t"/>
          <a:lstStyle/>
          <a:p>
            <a:pPr algn="ctr" indent="0" marL="0">
              <a:buNone/>
            </a:pPr>
            <a:r>
              <a:rPr lang="en-US" sz="1100" dirty="0">
                <a:solidFill>
                  <a:schemeClr val="accent2"/>
                </a:solidFill>
                <a:latin typeface="Calibri" pitchFamily="34" charset="0"/>
                <a:ea typeface="Calibri" pitchFamily="34" charset="-122"/>
                <a:cs typeface="Calibri" pitchFamily="34" charset="-120"/>
              </a:rPr>
              <a:t>One specialist per CTD module</a:t>
            </a:r>
            <a:endParaRPr lang="en-US" sz="1100" dirty="0"/>
          </a:p>
        </p:txBody>
      </p:sp>
      <p:sp>
        <p:nvSpPr>
          <p:cNvPr id="20" name="Text 15"/>
          <p:cNvSpPr txBox="1"/>
          <p:nvPr/>
        </p:nvSpPr>
        <p:spPr>
          <a:xfrm>
            <a:off x="5169286" y="3493008"/>
            <a:ext cx="1853123" cy="274320"/>
          </a:xfrm>
          <a:prstGeom prst="rect">
            <a:avLst/>
          </a:prstGeom>
          <a:noFill/>
          <a:ln/>
        </p:spPr>
        <p:txBody>
          <a:bodyPr wrap="square" lIns="0" tIns="0" rIns="0" bIns="0" rtlCol="0" anchor="t"/>
          <a:lstStyle/>
          <a:p>
            <a:pPr algn="ctr" indent="0" marL="0">
              <a:buNone/>
            </a:pPr>
            <a:r>
              <a:rPr lang="en-US" sz="1000" i="1" dirty="0">
                <a:solidFill>
                  <a:schemeClr val="accent4"/>
                </a:solidFill>
                <a:latin typeface="Calibri" pitchFamily="34" charset="0"/>
                <a:ea typeface="Calibri" pitchFamily="34" charset="-122"/>
                <a:cs typeface="Calibri" pitchFamily="34" charset="-120"/>
              </a:rPr>
              <a:t>Reviewers</a:t>
            </a:r>
            <a:endParaRPr lang="en-US" sz="1000" dirty="0"/>
          </a:p>
        </p:txBody>
      </p:sp>
      <p:sp>
        <p:nvSpPr>
          <p:cNvPr id="21" name="Text 16"/>
          <p:cNvSpPr txBox="1"/>
          <p:nvPr/>
        </p:nvSpPr>
        <p:spPr>
          <a:xfrm>
            <a:off x="7113849" y="2267712"/>
            <a:ext cx="228600" cy="502920"/>
          </a:xfrm>
          <a:prstGeom prst="rect">
            <a:avLst/>
          </a:prstGeom>
          <a:noFill/>
          <a:ln/>
        </p:spPr>
        <p:txBody>
          <a:bodyPr wrap="square" lIns="0" tIns="0" rIns="0" bIns="0" rtlCol="0" anchor="ctr"/>
          <a:lstStyle/>
          <a:p>
            <a:pPr algn="ctr" indent="0" marL="0">
              <a:buNone/>
            </a:pPr>
            <a:r>
              <a:rPr lang="en-US" sz="2600" dirty="0">
                <a:solidFill>
                  <a:schemeClr val="accent2"/>
                </a:solidFill>
                <a:latin typeface="Calibri" pitchFamily="34" charset="0"/>
                <a:ea typeface="Calibri" pitchFamily="34" charset="-122"/>
                <a:cs typeface="Calibri" pitchFamily="34" charset="-120"/>
              </a:rPr>
              <a:t>›</a:t>
            </a:r>
            <a:endParaRPr lang="en-US" sz="2600" dirty="0"/>
          </a:p>
        </p:txBody>
      </p:sp>
      <p:sp>
        <p:nvSpPr>
          <p:cNvPr id="22" name="Shape 17"/>
          <p:cNvSpPr/>
          <p:nvPr/>
        </p:nvSpPr>
        <p:spPr>
          <a:xfrm>
            <a:off x="8108991" y="2267712"/>
            <a:ext cx="502920" cy="502920"/>
          </a:xfrm>
          <a:prstGeom prst="ellipse">
            <a:avLst/>
          </a:prstGeom>
          <a:solidFill>
            <a:schemeClr val="accent1"/>
          </a:solidFill>
          <a:ln/>
        </p:spPr>
      </p:sp>
      <p:pic>
        <p:nvPicPr>
          <p:cNvPr id="23" name="Image 3" descr="C:\Users\msali\AppData\Local\Temp\claude\ppr_pitch\icons\decide.png">    </p:cNvPr>
          <p:cNvPicPr>
            <a:picLocks noChangeAspect="1"/>
          </p:cNvPicPr>
          <p:nvPr/>
        </p:nvPicPr>
        <p:blipFill>
          <a:blip r:embed="rId4"/>
          <a:stretch>
            <a:fillRect/>
          </a:stretch>
        </p:blipFill>
        <p:spPr>
          <a:xfrm>
            <a:off x="8229691" y="2388413"/>
            <a:ext cx="261518" cy="261518"/>
          </a:xfrm>
          <a:prstGeom prst="rect">
            <a:avLst/>
          </a:prstGeom>
        </p:spPr>
      </p:pic>
      <p:sp>
        <p:nvSpPr>
          <p:cNvPr id="24" name="Text 18"/>
          <p:cNvSpPr txBox="1"/>
          <p:nvPr/>
        </p:nvSpPr>
        <p:spPr>
          <a:xfrm>
            <a:off x="7342449" y="2843784"/>
            <a:ext cx="2036003" cy="310896"/>
          </a:xfrm>
          <a:prstGeom prst="rect">
            <a:avLst/>
          </a:prstGeom>
          <a:noFill/>
          <a:ln/>
        </p:spPr>
        <p:txBody>
          <a:bodyPr wrap="square" lIns="0" tIns="0" rIns="0" bIns="0" rtlCol="0" anchor="ctr"/>
          <a:lstStyle/>
          <a:p>
            <a:pPr algn="ctr" indent="0" marL="0">
              <a:buNone/>
            </a:pPr>
            <a:r>
              <a:rPr lang="en-US" sz="1500" b="1" dirty="0">
                <a:solidFill>
                  <a:schemeClr val="tx1"/>
                </a:solidFill>
                <a:latin typeface="Cambria" pitchFamily="34" charset="0"/>
                <a:ea typeface="Cambria" pitchFamily="34" charset="-122"/>
                <a:cs typeface="Cambria" pitchFamily="34" charset="-120"/>
              </a:rPr>
              <a:t>Decide</a:t>
            </a:r>
            <a:endParaRPr lang="en-US" sz="1500" dirty="0"/>
          </a:p>
        </p:txBody>
      </p:sp>
      <p:sp>
        <p:nvSpPr>
          <p:cNvPr id="25" name="Text 19"/>
          <p:cNvSpPr txBox="1"/>
          <p:nvPr/>
        </p:nvSpPr>
        <p:spPr>
          <a:xfrm>
            <a:off x="7433889" y="3172968"/>
            <a:ext cx="1853123" cy="365760"/>
          </a:xfrm>
          <a:prstGeom prst="rect">
            <a:avLst/>
          </a:prstGeom>
          <a:noFill/>
          <a:ln/>
        </p:spPr>
        <p:txBody>
          <a:bodyPr wrap="square" lIns="0" tIns="0" rIns="0" bIns="0" rtlCol="0" anchor="t"/>
          <a:lstStyle/>
          <a:p>
            <a:pPr algn="ctr" indent="0" marL="0">
              <a:buNone/>
            </a:pPr>
            <a:r>
              <a:rPr lang="en-US" sz="1100" dirty="0">
                <a:solidFill>
                  <a:schemeClr val="accent2"/>
                </a:solidFill>
                <a:latin typeface="Calibri" pitchFamily="34" charset="0"/>
                <a:ea typeface="Calibri" pitchFamily="34" charset="-122"/>
                <a:cs typeface="Calibri" pitchFamily="34" charset="-120"/>
              </a:rPr>
              <a:t>HOD approves, rejects or returns</a:t>
            </a:r>
            <a:endParaRPr lang="en-US" sz="1100" dirty="0"/>
          </a:p>
        </p:txBody>
      </p:sp>
      <p:sp>
        <p:nvSpPr>
          <p:cNvPr id="26" name="Text 20"/>
          <p:cNvSpPr txBox="1"/>
          <p:nvPr/>
        </p:nvSpPr>
        <p:spPr>
          <a:xfrm>
            <a:off x="7433889" y="3493008"/>
            <a:ext cx="1853123" cy="274320"/>
          </a:xfrm>
          <a:prstGeom prst="rect">
            <a:avLst/>
          </a:prstGeom>
          <a:noFill/>
          <a:ln/>
        </p:spPr>
        <p:txBody>
          <a:bodyPr wrap="square" lIns="0" tIns="0" rIns="0" bIns="0" rtlCol="0" anchor="t"/>
          <a:lstStyle/>
          <a:p>
            <a:pPr algn="ctr" indent="0" marL="0">
              <a:buNone/>
            </a:pPr>
            <a:r>
              <a:rPr lang="en-US" sz="1000" i="1" dirty="0">
                <a:solidFill>
                  <a:schemeClr val="accent4"/>
                </a:solidFill>
                <a:latin typeface="Calibri" pitchFamily="34" charset="0"/>
                <a:ea typeface="Calibri" pitchFamily="34" charset="-122"/>
                <a:cs typeface="Calibri" pitchFamily="34" charset="-120"/>
              </a:rPr>
              <a:t>Head of Dept.</a:t>
            </a:r>
            <a:endParaRPr lang="en-US" sz="1000" dirty="0"/>
          </a:p>
        </p:txBody>
      </p:sp>
      <p:sp>
        <p:nvSpPr>
          <p:cNvPr id="27" name="Text 21"/>
          <p:cNvSpPr txBox="1"/>
          <p:nvPr/>
        </p:nvSpPr>
        <p:spPr>
          <a:xfrm>
            <a:off x="9378452" y="2267712"/>
            <a:ext cx="228600" cy="502920"/>
          </a:xfrm>
          <a:prstGeom prst="rect">
            <a:avLst/>
          </a:prstGeom>
          <a:noFill/>
          <a:ln/>
        </p:spPr>
        <p:txBody>
          <a:bodyPr wrap="square" lIns="0" tIns="0" rIns="0" bIns="0" rtlCol="0" anchor="ctr"/>
          <a:lstStyle/>
          <a:p>
            <a:pPr algn="ctr" indent="0" marL="0">
              <a:buNone/>
            </a:pPr>
            <a:r>
              <a:rPr lang="en-US" sz="2600" dirty="0">
                <a:solidFill>
                  <a:schemeClr val="accent2"/>
                </a:solidFill>
                <a:latin typeface="Calibri" pitchFamily="34" charset="0"/>
                <a:ea typeface="Calibri" pitchFamily="34" charset="-122"/>
                <a:cs typeface="Calibri" pitchFamily="34" charset="-120"/>
              </a:rPr>
              <a:t>›</a:t>
            </a:r>
            <a:endParaRPr lang="en-US" sz="2600" dirty="0"/>
          </a:p>
        </p:txBody>
      </p:sp>
      <p:sp>
        <p:nvSpPr>
          <p:cNvPr id="28" name="Shape 22"/>
          <p:cNvSpPr/>
          <p:nvPr/>
        </p:nvSpPr>
        <p:spPr>
          <a:xfrm>
            <a:off x="10373594" y="2267712"/>
            <a:ext cx="502920" cy="502920"/>
          </a:xfrm>
          <a:prstGeom prst="ellipse">
            <a:avLst/>
          </a:prstGeom>
          <a:solidFill>
            <a:schemeClr val="accent1"/>
          </a:solidFill>
          <a:ln/>
        </p:spPr>
      </p:sp>
      <p:pic>
        <p:nvPicPr>
          <p:cNvPr id="29" name="Image 4" descr="C:\Users\msali\AppData\Local\Temp\claude\ppr_pitch\icons\certificate.png">    </p:cNvPr>
          <p:cNvPicPr>
            <a:picLocks noChangeAspect="1"/>
          </p:cNvPicPr>
          <p:nvPr/>
        </p:nvPicPr>
        <p:blipFill>
          <a:blip r:embed="rId5"/>
          <a:stretch>
            <a:fillRect/>
          </a:stretch>
        </p:blipFill>
        <p:spPr>
          <a:xfrm>
            <a:off x="10494294" y="2388413"/>
            <a:ext cx="261518" cy="261518"/>
          </a:xfrm>
          <a:prstGeom prst="rect">
            <a:avLst/>
          </a:prstGeom>
        </p:spPr>
      </p:pic>
      <p:sp>
        <p:nvSpPr>
          <p:cNvPr id="30" name="Text 23"/>
          <p:cNvSpPr txBox="1"/>
          <p:nvPr/>
        </p:nvSpPr>
        <p:spPr>
          <a:xfrm>
            <a:off x="9607052" y="2843784"/>
            <a:ext cx="2036003" cy="310896"/>
          </a:xfrm>
          <a:prstGeom prst="rect">
            <a:avLst/>
          </a:prstGeom>
          <a:noFill/>
          <a:ln/>
        </p:spPr>
        <p:txBody>
          <a:bodyPr wrap="square" lIns="0" tIns="0" rIns="0" bIns="0" rtlCol="0" anchor="ctr"/>
          <a:lstStyle/>
          <a:p>
            <a:pPr algn="ctr" indent="0" marL="0">
              <a:buNone/>
            </a:pPr>
            <a:r>
              <a:rPr lang="en-US" sz="1500" b="1" dirty="0">
                <a:solidFill>
                  <a:schemeClr val="tx1"/>
                </a:solidFill>
                <a:latin typeface="Cambria" pitchFamily="34" charset="0"/>
                <a:ea typeface="Cambria" pitchFamily="34" charset="-122"/>
                <a:cs typeface="Cambria" pitchFamily="34" charset="-120"/>
              </a:rPr>
              <a:t>Certify</a:t>
            </a:r>
            <a:endParaRPr lang="en-US" sz="1500" dirty="0"/>
          </a:p>
        </p:txBody>
      </p:sp>
      <p:sp>
        <p:nvSpPr>
          <p:cNvPr id="31" name="Text 24"/>
          <p:cNvSpPr txBox="1"/>
          <p:nvPr/>
        </p:nvSpPr>
        <p:spPr>
          <a:xfrm>
            <a:off x="9698492" y="3172968"/>
            <a:ext cx="1853123" cy="365760"/>
          </a:xfrm>
          <a:prstGeom prst="rect">
            <a:avLst/>
          </a:prstGeom>
          <a:noFill/>
          <a:ln/>
        </p:spPr>
        <p:txBody>
          <a:bodyPr wrap="square" lIns="0" tIns="0" rIns="0" bIns="0" rtlCol="0" anchor="t"/>
          <a:lstStyle/>
          <a:p>
            <a:pPr algn="ctr" indent="0" marL="0">
              <a:buNone/>
            </a:pPr>
            <a:r>
              <a:rPr lang="en-US" sz="1100" dirty="0">
                <a:solidFill>
                  <a:schemeClr val="accent2"/>
                </a:solidFill>
                <a:latin typeface="Calibri" pitchFamily="34" charset="0"/>
                <a:ea typeface="Calibri" pitchFamily="34" charset="-122"/>
                <a:cs typeface="Calibri" pitchFamily="34" charset="-120"/>
              </a:rPr>
              <a:t>Bilingual certificate, instantly</a:t>
            </a:r>
            <a:endParaRPr lang="en-US" sz="1100" dirty="0"/>
          </a:p>
        </p:txBody>
      </p:sp>
      <p:sp>
        <p:nvSpPr>
          <p:cNvPr id="32" name="Text 25"/>
          <p:cNvSpPr txBox="1"/>
          <p:nvPr/>
        </p:nvSpPr>
        <p:spPr>
          <a:xfrm>
            <a:off x="9698492" y="3493008"/>
            <a:ext cx="1853123" cy="274320"/>
          </a:xfrm>
          <a:prstGeom prst="rect">
            <a:avLst/>
          </a:prstGeom>
          <a:noFill/>
          <a:ln/>
        </p:spPr>
        <p:txBody>
          <a:bodyPr wrap="square" lIns="0" tIns="0" rIns="0" bIns="0" rtlCol="0" anchor="t"/>
          <a:lstStyle/>
          <a:p>
            <a:pPr algn="ctr" indent="0" marL="0">
              <a:buNone/>
            </a:pPr>
            <a:r>
              <a:rPr lang="en-US" sz="1000" i="1" dirty="0">
                <a:solidFill>
                  <a:schemeClr val="accent4"/>
                </a:solidFill>
                <a:latin typeface="Calibri" pitchFamily="34" charset="0"/>
                <a:ea typeface="Calibri" pitchFamily="34" charset="-122"/>
                <a:cs typeface="Calibri" pitchFamily="34" charset="-120"/>
              </a:rPr>
              <a:t>System</a:t>
            </a:r>
            <a:endParaRPr lang="en-US" sz="1000" dirty="0"/>
          </a:p>
        </p:txBody>
      </p:sp>
      <p:sp>
        <p:nvSpPr>
          <p:cNvPr id="33" name="Text 26"/>
          <p:cNvSpPr txBox="1"/>
          <p:nvPr/>
        </p:nvSpPr>
        <p:spPr>
          <a:xfrm>
            <a:off x="548640" y="4160520"/>
            <a:ext cx="11094415" cy="457200"/>
          </a:xfrm>
          <a:prstGeom prst="rect">
            <a:avLst/>
          </a:prstGeom>
          <a:noFill/>
          <a:ln/>
        </p:spPr>
        <p:txBody>
          <a:bodyPr wrap="square" lIns="0" tIns="0" rIns="0" bIns="0" rtlCol="0" anchor="t"/>
          <a:lstStyle/>
          <a:p>
            <a:pPr algn="ctr" indent="0" marL="0">
              <a:buNone/>
            </a:pPr>
            <a:r>
              <a:rPr lang="en-US" sz="1400" i="1" dirty="0">
                <a:solidFill>
                  <a:schemeClr val="tx1"/>
                </a:solidFill>
                <a:latin typeface="Calibri" pitchFamily="34" charset="0"/>
                <a:ea typeface="Calibri" pitchFamily="34" charset="-122"/>
                <a:cs typeface="Calibri" pitchFamily="34" charset="-120"/>
              </a:rPr>
              <a:t>Every status change is role-checked, written to the audit trail, and notified automatically — in-app and by email.</a:t>
            </a:r>
            <a:endParaRPr lang="en-US" sz="1400" dirty="0"/>
          </a:p>
        </p:txBody>
      </p:sp>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058400" cy="292608"/>
          </a:xfrm>
          <a:prstGeom prst="rect">
            <a:avLst/>
          </a:prstGeom>
          <a:noFill/>
          <a:ln/>
        </p:spPr>
        <p:txBody>
          <a:bodyPr wrap="square" rtlCol="0"/>
          <a:lstStyle/>
          <a:p>
            <a:pPr algn="l" indent="0" marL="0">
              <a:buNone/>
            </a:pPr>
            <a:r>
              <a:rPr lang="en-US" sz="1300" b="1" spc="150" kern="0" dirty="0">
                <a:solidFill>
                  <a:schemeClr val="accent3"/>
                </a:solidFill>
                <a:latin typeface="Calibri" pitchFamily="34" charset="0"/>
                <a:ea typeface="Calibri" pitchFamily="34" charset="-122"/>
                <a:cs typeface="Calibri" pitchFamily="34" charset="-120"/>
              </a:rPr>
              <a:t>PROOF, NOT A PROMISE</a:t>
            </a:r>
            <a:endParaRPr lang="en-US" sz="1300" dirty="0"/>
          </a:p>
        </p:txBody>
      </p:sp>
      <p:sp>
        <p:nvSpPr>
          <p:cNvPr id="3" name="Text 0"/>
          <p:cNvSpPr/>
          <p:nvPr>
            <p:ph idx="101" type="title" hasCustomPrompt="1"/>
          </p:nvPr>
        </p:nvSpPr>
        <p:spPr>
          <a:xfrm>
            <a:off x="548640" y="676656"/>
            <a:ext cx="11094415" cy="566928"/>
          </a:xfrm>
          <a:prstGeom prst="rect">
            <a:avLst/>
          </a:prstGeom>
          <a:noFill/>
          <a:ln/>
        </p:spPr>
        <p:txBody>
          <a:bodyPr wrap="square" rtlCol="0"/>
          <a:lstStyle/>
          <a:p>
            <a:pPr algn="l" indent="0" marL="0">
              <a:buNone/>
            </a:pPr>
            <a:r>
              <a:rPr lang="en-US" sz="3000" b="1" dirty="0">
                <a:solidFill>
                  <a:schemeClr val="bg1"/>
                </a:solidFill>
                <a:latin typeface="Cambria" pitchFamily="34" charset="0"/>
                <a:ea typeface="Cambria" pitchFamily="34" charset="-122"/>
                <a:cs typeface="Cambria" pitchFamily="34" charset="-120"/>
              </a:rPr>
              <a:t>By the numbers</a:t>
            </a:r>
            <a:endParaRPr lang="en-US" sz="3000" dirty="0"/>
          </a:p>
        </p:txBody>
      </p:sp>
      <p:sp>
        <p:nvSpPr>
          <p:cNvPr id="4" name="Shape 2"/>
          <p:cNvSpPr/>
          <p:nvPr/>
        </p:nvSpPr>
        <p:spPr>
          <a:xfrm>
            <a:off x="548640" y="1600200"/>
            <a:ext cx="3515228" cy="2057400"/>
          </a:xfrm>
          <a:prstGeom prst="roundRect">
            <a:avLst>
              <a:gd name="adj" fmla="val 4444"/>
            </a:avLst>
          </a:prstGeom>
          <a:solidFill>
            <a:schemeClr val="bg1">
              <a:alpha val="15000"/>
            </a:schemeClr>
          </a:solidFill>
          <a:ln/>
        </p:spPr>
      </p:sp>
      <p:sp>
        <p:nvSpPr>
          <p:cNvPr id="5" name="Text 3"/>
          <p:cNvSpPr txBox="1"/>
          <p:nvPr/>
        </p:nvSpPr>
        <p:spPr>
          <a:xfrm>
            <a:off x="548640" y="1984248"/>
            <a:ext cx="3515228" cy="777240"/>
          </a:xfrm>
          <a:prstGeom prst="rect">
            <a:avLst/>
          </a:prstGeom>
          <a:noFill/>
          <a:ln/>
        </p:spPr>
        <p:txBody>
          <a:bodyPr wrap="square" lIns="0" tIns="0" rIns="0" bIns="0" rtlCol="0" anchor="ctr"/>
          <a:lstStyle/>
          <a:p>
            <a:pPr algn="ctr" indent="0" marL="0">
              <a:buNone/>
            </a:pPr>
            <a:r>
              <a:rPr lang="en-US" sz="4000" b="1" dirty="0">
                <a:solidFill>
                  <a:schemeClr val="accent3"/>
                </a:solidFill>
                <a:latin typeface="Cambria" pitchFamily="34" charset="0"/>
                <a:ea typeface="Cambria" pitchFamily="34" charset="-122"/>
                <a:cs typeface="Cambria" pitchFamily="34" charset="-120"/>
              </a:rPr>
              <a:t>32</a:t>
            </a:r>
            <a:endParaRPr lang="en-US" sz="4000" dirty="0"/>
          </a:p>
        </p:txBody>
      </p:sp>
      <p:sp>
        <p:nvSpPr>
          <p:cNvPr id="6" name="Text 4"/>
          <p:cNvSpPr txBox="1"/>
          <p:nvPr/>
        </p:nvSpPr>
        <p:spPr>
          <a:xfrm>
            <a:off x="822960" y="2788920"/>
            <a:ext cx="2966588" cy="685800"/>
          </a:xfrm>
          <a:prstGeom prst="rect">
            <a:avLst/>
          </a:prstGeom>
          <a:noFill/>
          <a:ln/>
        </p:spPr>
        <p:txBody>
          <a:bodyPr wrap="square" lIns="0" tIns="0" rIns="0" bIns="0" rtlCol="0" anchor="t"/>
          <a:lstStyle/>
          <a:p>
            <a:pPr algn="ctr" indent="0" marL="0">
              <a:buNone/>
            </a:pPr>
            <a:r>
              <a:rPr lang="en-US" sz="1300" dirty="0">
                <a:solidFill>
                  <a:schemeClr val="bg1"/>
                </a:solidFill>
                <a:latin typeface="Calibri" pitchFamily="34" charset="0"/>
                <a:ea typeface="Calibri" pitchFamily="34" charset="-122"/>
                <a:cs typeface="Calibri" pitchFamily="34" charset="-120"/>
              </a:rPr>
              <a:t>validation rules across 3 layers</a:t>
            </a:r>
            <a:endParaRPr lang="en-US" sz="1300" dirty="0"/>
          </a:p>
        </p:txBody>
      </p:sp>
      <p:sp>
        <p:nvSpPr>
          <p:cNvPr id="7" name="Shape 5"/>
          <p:cNvSpPr/>
          <p:nvPr/>
        </p:nvSpPr>
        <p:spPr>
          <a:xfrm>
            <a:off x="4338188" y="1600200"/>
            <a:ext cx="3515228" cy="2057400"/>
          </a:xfrm>
          <a:prstGeom prst="roundRect">
            <a:avLst>
              <a:gd name="adj" fmla="val 4444"/>
            </a:avLst>
          </a:prstGeom>
          <a:solidFill>
            <a:schemeClr val="bg1">
              <a:alpha val="15000"/>
            </a:schemeClr>
          </a:solidFill>
          <a:ln/>
        </p:spPr>
      </p:sp>
      <p:sp>
        <p:nvSpPr>
          <p:cNvPr id="8" name="Text 6"/>
          <p:cNvSpPr txBox="1"/>
          <p:nvPr/>
        </p:nvSpPr>
        <p:spPr>
          <a:xfrm>
            <a:off x="4338188" y="1984248"/>
            <a:ext cx="3515228" cy="777240"/>
          </a:xfrm>
          <a:prstGeom prst="rect">
            <a:avLst/>
          </a:prstGeom>
          <a:noFill/>
          <a:ln/>
        </p:spPr>
        <p:txBody>
          <a:bodyPr wrap="square" lIns="0" tIns="0" rIns="0" bIns="0" rtlCol="0" anchor="ctr"/>
          <a:lstStyle/>
          <a:p>
            <a:pPr algn="ctr" indent="0" marL="0">
              <a:buNone/>
            </a:pPr>
            <a:r>
              <a:rPr lang="en-US" sz="4000" b="1" dirty="0">
                <a:solidFill>
                  <a:schemeClr val="accent3"/>
                </a:solidFill>
                <a:latin typeface="Cambria" pitchFamily="34" charset="0"/>
                <a:ea typeface="Cambria" pitchFamily="34" charset="-122"/>
                <a:cs typeface="Cambria" pitchFamily="34" charset="-120"/>
              </a:rPr>
              <a:t>149 / 149</a:t>
            </a:r>
            <a:endParaRPr lang="en-US" sz="4000" dirty="0"/>
          </a:p>
        </p:txBody>
      </p:sp>
      <p:sp>
        <p:nvSpPr>
          <p:cNvPr id="9" name="Text 7"/>
          <p:cNvSpPr txBox="1"/>
          <p:nvPr/>
        </p:nvSpPr>
        <p:spPr>
          <a:xfrm>
            <a:off x="4612508" y="2788920"/>
            <a:ext cx="2966588" cy="685800"/>
          </a:xfrm>
          <a:prstGeom prst="rect">
            <a:avLst/>
          </a:prstGeom>
          <a:noFill/>
          <a:ln/>
        </p:spPr>
        <p:txBody>
          <a:bodyPr wrap="square" lIns="0" tIns="0" rIns="0" bIns="0" rtlCol="0" anchor="t"/>
          <a:lstStyle/>
          <a:p>
            <a:pPr algn="ctr" indent="0" marL="0">
              <a:buNone/>
            </a:pPr>
            <a:r>
              <a:rPr lang="en-US" sz="1300" dirty="0">
                <a:solidFill>
                  <a:schemeClr val="bg1"/>
                </a:solidFill>
                <a:latin typeface="Calibri" pitchFamily="34" charset="0"/>
                <a:ea typeface="Calibri" pitchFamily="34" charset="-122"/>
                <a:cs typeface="Calibri" pitchFamily="34" charset="-120"/>
              </a:rPr>
              <a:t>automated tests passing</a:t>
            </a:r>
            <a:endParaRPr lang="en-US" sz="1300" dirty="0"/>
          </a:p>
        </p:txBody>
      </p:sp>
      <p:sp>
        <p:nvSpPr>
          <p:cNvPr id="10" name="Shape 8"/>
          <p:cNvSpPr/>
          <p:nvPr/>
        </p:nvSpPr>
        <p:spPr>
          <a:xfrm>
            <a:off x="8127736" y="1600200"/>
            <a:ext cx="3515228" cy="2057400"/>
          </a:xfrm>
          <a:prstGeom prst="roundRect">
            <a:avLst>
              <a:gd name="adj" fmla="val 4444"/>
            </a:avLst>
          </a:prstGeom>
          <a:solidFill>
            <a:schemeClr val="bg1">
              <a:alpha val="15000"/>
            </a:schemeClr>
          </a:solidFill>
          <a:ln/>
        </p:spPr>
      </p:sp>
      <p:sp>
        <p:nvSpPr>
          <p:cNvPr id="11" name="Text 9"/>
          <p:cNvSpPr txBox="1"/>
          <p:nvPr/>
        </p:nvSpPr>
        <p:spPr>
          <a:xfrm>
            <a:off x="8127736" y="1984248"/>
            <a:ext cx="3515228" cy="777240"/>
          </a:xfrm>
          <a:prstGeom prst="rect">
            <a:avLst/>
          </a:prstGeom>
          <a:noFill/>
          <a:ln/>
        </p:spPr>
        <p:txBody>
          <a:bodyPr wrap="square" lIns="0" tIns="0" rIns="0" bIns="0" rtlCol="0" anchor="ctr"/>
          <a:lstStyle/>
          <a:p>
            <a:pPr algn="ctr" indent="0" marL="0">
              <a:buNone/>
            </a:pPr>
            <a:r>
              <a:rPr lang="en-US" sz="4000" b="1" dirty="0">
                <a:solidFill>
                  <a:schemeClr val="accent3"/>
                </a:solidFill>
                <a:latin typeface="Cambria" pitchFamily="34" charset="0"/>
                <a:ea typeface="Cambria" pitchFamily="34" charset="-122"/>
                <a:cs typeface="Cambria" pitchFamily="34" charset="-120"/>
              </a:rPr>
              <a:t>10</a:t>
            </a:r>
            <a:endParaRPr lang="en-US" sz="4000" dirty="0"/>
          </a:p>
        </p:txBody>
      </p:sp>
      <p:sp>
        <p:nvSpPr>
          <p:cNvPr id="12" name="Text 10"/>
          <p:cNvSpPr txBox="1"/>
          <p:nvPr/>
        </p:nvSpPr>
        <p:spPr>
          <a:xfrm>
            <a:off x="8402056" y="2788920"/>
            <a:ext cx="2966588" cy="685800"/>
          </a:xfrm>
          <a:prstGeom prst="rect">
            <a:avLst/>
          </a:prstGeom>
          <a:noFill/>
          <a:ln/>
        </p:spPr>
        <p:txBody>
          <a:bodyPr wrap="square" lIns="0" tIns="0" rIns="0" bIns="0" rtlCol="0" anchor="t"/>
          <a:lstStyle/>
          <a:p>
            <a:pPr algn="ctr" indent="0" marL="0">
              <a:buNone/>
            </a:pPr>
            <a:r>
              <a:rPr lang="en-US" sz="1300" dirty="0">
                <a:solidFill>
                  <a:schemeClr val="bg1"/>
                </a:solidFill>
                <a:latin typeface="Calibri" pitchFamily="34" charset="0"/>
                <a:ea typeface="Calibri" pitchFamily="34" charset="-122"/>
                <a:cs typeface="Calibri" pitchFamily="34" charset="-120"/>
              </a:rPr>
              <a:t>application states, every one audited</a:t>
            </a:r>
            <a:endParaRPr lang="en-US" sz="1300" dirty="0"/>
          </a:p>
        </p:txBody>
      </p:sp>
      <p:sp>
        <p:nvSpPr>
          <p:cNvPr id="13" name="Shape 11"/>
          <p:cNvSpPr/>
          <p:nvPr/>
        </p:nvSpPr>
        <p:spPr>
          <a:xfrm>
            <a:off x="548640" y="4023360"/>
            <a:ext cx="3515228" cy="2057400"/>
          </a:xfrm>
          <a:prstGeom prst="roundRect">
            <a:avLst>
              <a:gd name="adj" fmla="val 4444"/>
            </a:avLst>
          </a:prstGeom>
          <a:solidFill>
            <a:schemeClr val="bg1">
              <a:alpha val="15000"/>
            </a:schemeClr>
          </a:solidFill>
          <a:ln/>
        </p:spPr>
      </p:sp>
      <p:sp>
        <p:nvSpPr>
          <p:cNvPr id="14" name="Text 12"/>
          <p:cNvSpPr txBox="1"/>
          <p:nvPr/>
        </p:nvSpPr>
        <p:spPr>
          <a:xfrm>
            <a:off x="548640" y="4407408"/>
            <a:ext cx="3515228" cy="777240"/>
          </a:xfrm>
          <a:prstGeom prst="rect">
            <a:avLst/>
          </a:prstGeom>
          <a:noFill/>
          <a:ln/>
        </p:spPr>
        <p:txBody>
          <a:bodyPr wrap="square" lIns="0" tIns="0" rIns="0" bIns="0" rtlCol="0" anchor="ctr"/>
          <a:lstStyle/>
          <a:p>
            <a:pPr algn="ctr" indent="0" marL="0">
              <a:buNone/>
            </a:pPr>
            <a:r>
              <a:rPr lang="en-US" sz="4000" b="1" dirty="0">
                <a:solidFill>
                  <a:schemeClr val="accent3"/>
                </a:solidFill>
                <a:latin typeface="Cambria" pitchFamily="34" charset="0"/>
                <a:ea typeface="Cambria" pitchFamily="34" charset="-122"/>
                <a:cs typeface="Cambria" pitchFamily="34" charset="-120"/>
              </a:rPr>
              <a:t>12</a:t>
            </a:r>
            <a:endParaRPr lang="en-US" sz="4000" dirty="0"/>
          </a:p>
        </p:txBody>
      </p:sp>
      <p:sp>
        <p:nvSpPr>
          <p:cNvPr id="15" name="Text 13"/>
          <p:cNvSpPr txBox="1"/>
          <p:nvPr/>
        </p:nvSpPr>
        <p:spPr>
          <a:xfrm>
            <a:off x="822960" y="5212080"/>
            <a:ext cx="2966588" cy="685800"/>
          </a:xfrm>
          <a:prstGeom prst="rect">
            <a:avLst/>
          </a:prstGeom>
          <a:noFill/>
          <a:ln/>
        </p:spPr>
        <p:txBody>
          <a:bodyPr wrap="square" lIns="0" tIns="0" rIns="0" bIns="0" rtlCol="0" anchor="t"/>
          <a:lstStyle/>
          <a:p>
            <a:pPr algn="ctr" indent="0" marL="0">
              <a:buNone/>
            </a:pPr>
            <a:r>
              <a:rPr lang="en-US" sz="1300" dirty="0">
                <a:solidFill>
                  <a:schemeClr val="bg1"/>
                </a:solidFill>
                <a:latin typeface="Calibri" pitchFamily="34" charset="0"/>
                <a:ea typeface="Calibri" pitchFamily="34" charset="-122"/>
                <a:cs typeface="Calibri" pitchFamily="34" charset="-120"/>
              </a:rPr>
              <a:t>documented workflows + 7 video walkthroughs</a:t>
            </a:r>
            <a:endParaRPr lang="en-US" sz="1300" dirty="0"/>
          </a:p>
        </p:txBody>
      </p:sp>
      <p:sp>
        <p:nvSpPr>
          <p:cNvPr id="16" name="Shape 14"/>
          <p:cNvSpPr/>
          <p:nvPr/>
        </p:nvSpPr>
        <p:spPr>
          <a:xfrm>
            <a:off x="4338188" y="4023360"/>
            <a:ext cx="3515228" cy="2057400"/>
          </a:xfrm>
          <a:prstGeom prst="roundRect">
            <a:avLst>
              <a:gd name="adj" fmla="val 4444"/>
            </a:avLst>
          </a:prstGeom>
          <a:solidFill>
            <a:schemeClr val="bg1">
              <a:alpha val="15000"/>
            </a:schemeClr>
          </a:solidFill>
          <a:ln/>
        </p:spPr>
      </p:sp>
      <p:sp>
        <p:nvSpPr>
          <p:cNvPr id="17" name="Text 15"/>
          <p:cNvSpPr txBox="1"/>
          <p:nvPr/>
        </p:nvSpPr>
        <p:spPr>
          <a:xfrm>
            <a:off x="4338188" y="4407408"/>
            <a:ext cx="3515228" cy="777240"/>
          </a:xfrm>
          <a:prstGeom prst="rect">
            <a:avLst/>
          </a:prstGeom>
          <a:noFill/>
          <a:ln/>
        </p:spPr>
        <p:txBody>
          <a:bodyPr wrap="square" lIns="0" tIns="0" rIns="0" bIns="0" rtlCol="0" anchor="ctr"/>
          <a:lstStyle/>
          <a:p>
            <a:pPr algn="ctr" indent="0" marL="0">
              <a:buNone/>
            </a:pPr>
            <a:r>
              <a:rPr lang="en-US" sz="4000" b="1" dirty="0">
                <a:solidFill>
                  <a:schemeClr val="accent3"/>
                </a:solidFill>
                <a:latin typeface="Cambria" pitchFamily="34" charset="0"/>
                <a:ea typeface="Cambria" pitchFamily="34" charset="-122"/>
                <a:cs typeface="Cambria" pitchFamily="34" charset="-120"/>
              </a:rPr>
              <a:t>2</a:t>
            </a:r>
            <a:endParaRPr lang="en-US" sz="4000" dirty="0"/>
          </a:p>
        </p:txBody>
      </p:sp>
      <p:sp>
        <p:nvSpPr>
          <p:cNvPr id="18" name="Text 16"/>
          <p:cNvSpPr txBox="1"/>
          <p:nvPr/>
        </p:nvSpPr>
        <p:spPr>
          <a:xfrm>
            <a:off x="4612508" y="5212080"/>
            <a:ext cx="2966588" cy="685800"/>
          </a:xfrm>
          <a:prstGeom prst="rect">
            <a:avLst/>
          </a:prstGeom>
          <a:noFill/>
          <a:ln/>
        </p:spPr>
        <p:txBody>
          <a:bodyPr wrap="square" lIns="0" tIns="0" rIns="0" bIns="0" rtlCol="0" anchor="t"/>
          <a:lstStyle/>
          <a:p>
            <a:pPr algn="ctr" indent="0" marL="0">
              <a:buNone/>
            </a:pPr>
            <a:r>
              <a:rPr lang="en-US" sz="1300" dirty="0">
                <a:solidFill>
                  <a:schemeClr val="bg1"/>
                </a:solidFill>
                <a:latin typeface="Calibri" pitchFamily="34" charset="0"/>
                <a:ea typeface="Calibri" pitchFamily="34" charset="-122"/>
                <a:cs typeface="Calibri" pitchFamily="34" charset="-120"/>
              </a:rPr>
              <a:t>languages — full English &amp; Arabic RTL</a:t>
            </a:r>
            <a:endParaRPr lang="en-US" sz="1300" dirty="0"/>
          </a:p>
        </p:txBody>
      </p:sp>
      <p:sp>
        <p:nvSpPr>
          <p:cNvPr id="19" name="Shape 17"/>
          <p:cNvSpPr/>
          <p:nvPr/>
        </p:nvSpPr>
        <p:spPr>
          <a:xfrm>
            <a:off x="8127736" y="4023360"/>
            <a:ext cx="3515228" cy="2057400"/>
          </a:xfrm>
          <a:prstGeom prst="roundRect">
            <a:avLst>
              <a:gd name="adj" fmla="val 4444"/>
            </a:avLst>
          </a:prstGeom>
          <a:solidFill>
            <a:schemeClr val="bg1">
              <a:alpha val="15000"/>
            </a:schemeClr>
          </a:solidFill>
          <a:ln/>
        </p:spPr>
      </p:sp>
      <p:sp>
        <p:nvSpPr>
          <p:cNvPr id="20" name="Text 18"/>
          <p:cNvSpPr txBox="1"/>
          <p:nvPr/>
        </p:nvSpPr>
        <p:spPr>
          <a:xfrm>
            <a:off x="8127736" y="4407408"/>
            <a:ext cx="3515228" cy="777240"/>
          </a:xfrm>
          <a:prstGeom prst="rect">
            <a:avLst/>
          </a:prstGeom>
          <a:noFill/>
          <a:ln/>
        </p:spPr>
        <p:txBody>
          <a:bodyPr wrap="square" lIns="0" tIns="0" rIns="0" bIns="0" rtlCol="0" anchor="ctr"/>
          <a:lstStyle/>
          <a:p>
            <a:pPr algn="ctr" indent="0" marL="0">
              <a:buNone/>
            </a:pPr>
            <a:r>
              <a:rPr lang="en-US" sz="4000" b="1" dirty="0">
                <a:solidFill>
                  <a:schemeClr val="accent3"/>
                </a:solidFill>
                <a:latin typeface="Cambria" pitchFamily="34" charset="0"/>
                <a:ea typeface="Cambria" pitchFamily="34" charset="-122"/>
                <a:cs typeface="Cambria" pitchFamily="34" charset="-120"/>
              </a:rPr>
              <a:t>0</a:t>
            </a:r>
            <a:endParaRPr lang="en-US" sz="4000" dirty="0"/>
          </a:p>
        </p:txBody>
      </p:sp>
      <p:sp>
        <p:nvSpPr>
          <p:cNvPr id="21" name="Text 19"/>
          <p:cNvSpPr txBox="1"/>
          <p:nvPr/>
        </p:nvSpPr>
        <p:spPr>
          <a:xfrm>
            <a:off x="8402056" y="5212080"/>
            <a:ext cx="2966588" cy="685800"/>
          </a:xfrm>
          <a:prstGeom prst="rect">
            <a:avLst/>
          </a:prstGeom>
          <a:noFill/>
          <a:ln/>
        </p:spPr>
        <p:txBody>
          <a:bodyPr wrap="square" lIns="0" tIns="0" rIns="0" bIns="0" rtlCol="0" anchor="t"/>
          <a:lstStyle/>
          <a:p>
            <a:pPr algn="ctr" indent="0" marL="0">
              <a:buNone/>
            </a:pPr>
            <a:r>
              <a:rPr lang="en-US" sz="1300" dirty="0">
                <a:solidFill>
                  <a:schemeClr val="bg1"/>
                </a:solidFill>
                <a:latin typeface="Calibri" pitchFamily="34" charset="0"/>
                <a:ea typeface="Calibri" pitchFamily="34" charset="-122"/>
                <a:cs typeface="Calibri" pitchFamily="34" charset="-120"/>
              </a:rPr>
              <a:t>licence or subscription fees — owned outright</a:t>
            </a:r>
            <a:endParaRPr lang="en-US" sz="1300" dirty="0"/>
          </a:p>
        </p:txBody>
      </p:sp>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058400" cy="292608"/>
          </a:xfrm>
          <a:prstGeom prst="rect">
            <a:avLst/>
          </a:prstGeom>
          <a:noFill/>
          <a:ln/>
        </p:spPr>
        <p:txBody>
          <a:bodyPr wrap="square" rtlCol="0"/>
          <a:lstStyle/>
          <a:p>
            <a:pPr algn="l" indent="0" marL="0">
              <a:buNone/>
            </a:pPr>
            <a:r>
              <a:rPr lang="en-US" sz="1300" b="1" spc="150" kern="0" dirty="0">
                <a:solidFill>
                  <a:schemeClr val="accent2"/>
                </a:solidFill>
                <a:latin typeface="Calibri" pitchFamily="34" charset="0"/>
                <a:ea typeface="Calibri" pitchFamily="34" charset="-122"/>
                <a:cs typeface="Calibri" pitchFamily="34" charset="-120"/>
              </a:rPr>
              <a:t>HEAD-TO-HEAD</a:t>
            </a:r>
            <a:endParaRPr lang="en-US" sz="1300" dirty="0"/>
          </a:p>
        </p:txBody>
      </p:sp>
      <p:sp>
        <p:nvSpPr>
          <p:cNvPr id="3" name="Text 0"/>
          <p:cNvSpPr/>
          <p:nvPr>
            <p:ph idx="101" type="title" hasCustomPrompt="1"/>
          </p:nvPr>
        </p:nvSpPr>
        <p:spPr>
          <a:xfrm>
            <a:off x="548640" y="676656"/>
            <a:ext cx="11094415" cy="566928"/>
          </a:xfrm>
          <a:prstGeom prst="rect">
            <a:avLst/>
          </a:prstGeom>
          <a:noFill/>
          <a:ln/>
        </p:spPr>
        <p:txBody>
          <a:bodyPr wrap="square" rtlCol="0"/>
          <a:lstStyle/>
          <a:p>
            <a:pPr algn="l" indent="0" marL="0">
              <a:buNone/>
            </a:pPr>
            <a:r>
              <a:rPr lang="en-US" sz="3000" b="1" dirty="0">
                <a:solidFill>
                  <a:schemeClr val="tx1"/>
                </a:solidFill>
                <a:latin typeface="Cambria" pitchFamily="34" charset="0"/>
                <a:ea typeface="Cambria" pitchFamily="34" charset="-122"/>
                <a:cs typeface="Cambria" pitchFamily="34" charset="-120"/>
              </a:rPr>
              <a:t>Two different kinds of system</a:t>
            </a:r>
            <a:endParaRPr lang="en-US" sz="3000" dirty="0"/>
          </a:p>
        </p:txBody>
      </p:sp>
      <p:sp>
        <p:nvSpPr>
          <p:cNvPr id="4" name="Shape 2"/>
          <p:cNvSpPr/>
          <p:nvPr/>
        </p:nvSpPr>
        <p:spPr>
          <a:xfrm>
            <a:off x="548640" y="1463040"/>
            <a:ext cx="5364328" cy="4343400"/>
          </a:xfrm>
          <a:prstGeom prst="roundRect">
            <a:avLst>
              <a:gd name="adj" fmla="val 2105"/>
            </a:avLst>
          </a:prstGeom>
          <a:solidFill>
            <a:schemeClr val="bg2"/>
          </a:solidFill>
          <a:ln/>
          <a:effectLst>
            <a:outerShdw sx="100000" sy="100000" kx="0" ky="0" algn="bl" rotWithShape="0" blurRad="101600" dist="38100" dir="5400000">
              <a:srgbClr val="17211F">
                <a:alpha val="16000"/>
              </a:srgbClr>
            </a:outerShdw>
          </a:effectLst>
        </p:spPr>
      </p:sp>
      <p:sp>
        <p:nvSpPr>
          <p:cNvPr id="5" name="Shape 3"/>
          <p:cNvSpPr/>
          <p:nvPr/>
        </p:nvSpPr>
        <p:spPr>
          <a:xfrm>
            <a:off x="6278728" y="1463040"/>
            <a:ext cx="5364328" cy="4343400"/>
          </a:xfrm>
          <a:prstGeom prst="roundRect">
            <a:avLst>
              <a:gd name="adj" fmla="val 2105"/>
            </a:avLst>
          </a:prstGeom>
          <a:solidFill>
            <a:schemeClr val="bg1"/>
          </a:solidFill>
          <a:ln w="12700">
            <a:solidFill>
              <a:schemeClr val="accent4"/>
            </a:solidFill>
            <a:prstDash val="solid"/>
          </a:ln>
        </p:spPr>
      </p:sp>
      <p:sp>
        <p:nvSpPr>
          <p:cNvPr id="6" name="Shape 4"/>
          <p:cNvSpPr/>
          <p:nvPr/>
        </p:nvSpPr>
        <p:spPr>
          <a:xfrm>
            <a:off x="822960" y="1719072"/>
            <a:ext cx="457200" cy="457200"/>
          </a:xfrm>
          <a:prstGeom prst="ellipse">
            <a:avLst/>
          </a:prstGeom>
          <a:solidFill>
            <a:schemeClr val="accent1"/>
          </a:solidFill>
          <a:ln/>
        </p:spPr>
      </p:sp>
      <p:pic>
        <p:nvPicPr>
          <p:cNvPr id="7" name="Image 0" descr="C:\Users\msali\AppData\Local\Temp\claude\ppr_pitch\icons\flask.png">    </p:cNvPr>
          <p:cNvPicPr>
            <a:picLocks noChangeAspect="1"/>
          </p:cNvPicPr>
          <p:nvPr/>
        </p:nvPicPr>
        <p:blipFill>
          <a:blip r:embed="rId1"/>
          <a:stretch>
            <a:fillRect/>
          </a:stretch>
        </p:blipFill>
        <p:spPr>
          <a:xfrm>
            <a:off x="932688" y="1828800"/>
            <a:ext cx="237744" cy="237744"/>
          </a:xfrm>
          <a:prstGeom prst="rect">
            <a:avLst/>
          </a:prstGeom>
        </p:spPr>
      </p:pic>
      <p:sp>
        <p:nvSpPr>
          <p:cNvPr id="8" name="Text 5"/>
          <p:cNvSpPr txBox="1"/>
          <p:nvPr/>
        </p:nvSpPr>
        <p:spPr>
          <a:xfrm>
            <a:off x="1417320" y="1700784"/>
            <a:ext cx="4221328" cy="502920"/>
          </a:xfrm>
          <a:prstGeom prst="rect">
            <a:avLst/>
          </a:prstGeom>
          <a:noFill/>
          <a:ln/>
        </p:spPr>
        <p:txBody>
          <a:bodyPr wrap="square" lIns="0" tIns="0" rIns="0" bIns="0" rtlCol="0" anchor="ctr"/>
          <a:lstStyle/>
          <a:p>
            <a:pPr algn="l" indent="0" marL="0">
              <a:buNone/>
            </a:pPr>
            <a:r>
              <a:rPr lang="en-US" sz="2000" b="1" dirty="0">
                <a:solidFill>
                  <a:srgbClr val="0E4F4A"/>
                </a:solidFill>
                <a:latin typeface="Cambria" pitchFamily="34" charset="0"/>
                <a:ea typeface="Cambria" pitchFamily="34" charset="-122"/>
                <a:cs typeface="Cambria" pitchFamily="34" charset="-120"/>
              </a:rPr>
              <a:t>PPR</a:t>
            </a:r>
            <a:endParaRPr lang="en-US" sz="2000" dirty="0"/>
          </a:p>
        </p:txBody>
      </p:sp>
      <p:sp>
        <p:nvSpPr>
          <p:cNvPr id="9" name="Text 6"/>
          <p:cNvSpPr txBox="1"/>
          <p:nvPr/>
        </p:nvSpPr>
        <p:spPr>
          <a:xfrm>
            <a:off x="868680" y="2377440"/>
            <a:ext cx="4724248" cy="420624"/>
          </a:xfrm>
          <a:prstGeom prst="rect">
            <a:avLst/>
          </a:prstGeom>
          <a:noFill/>
          <a:ln/>
        </p:spPr>
        <p:txBody>
          <a:bodyPr wrap="square" lIns="0" tIns="0" rIns="0" bIns="0" rtlCol="0" anchor="ctr"/>
          <a:lstStyle/>
          <a:p>
            <a:pPr algn="l" indent="0" marL="0">
              <a:buNone/>
            </a:pPr>
            <a:r>
              <a:rPr lang="en-US" sz="1400" b="1" dirty="0">
                <a:solidFill>
                  <a:srgbClr val="17211F"/>
                </a:solidFill>
                <a:latin typeface="Calibri" pitchFamily="34" charset="0"/>
                <a:ea typeface="Calibri" pitchFamily="34" charset="-122"/>
                <a:cs typeface="Calibri" pitchFamily="34" charset="-120"/>
              </a:rPr>
              <a:t>Type:  </a:t>
            </a:r>
            <a:pPr algn="l" indent="0" marL="0">
              <a:buNone/>
            </a:pPr>
            <a:r>
              <a:rPr lang="en-US" sz="1400" dirty="0">
                <a:solidFill>
                  <a:srgbClr val="17211F"/>
                </a:solidFill>
                <a:latin typeface="Calibri" pitchFamily="34" charset="0"/>
                <a:ea typeface="Calibri" pitchFamily="34" charset="-122"/>
                <a:cs typeface="Calibri" pitchFamily="34" charset="-120"/>
              </a:rPr>
              <a:t>Registration workflow + validation</a:t>
            </a:r>
            <a:endParaRPr lang="en-US" sz="1400" dirty="0"/>
          </a:p>
        </p:txBody>
      </p:sp>
      <p:sp>
        <p:nvSpPr>
          <p:cNvPr id="10" name="Text 7"/>
          <p:cNvSpPr txBox="1"/>
          <p:nvPr/>
        </p:nvSpPr>
        <p:spPr>
          <a:xfrm>
            <a:off x="868680" y="2834640"/>
            <a:ext cx="4724248" cy="420624"/>
          </a:xfrm>
          <a:prstGeom prst="rect">
            <a:avLst/>
          </a:prstGeom>
          <a:noFill/>
          <a:ln/>
        </p:spPr>
        <p:txBody>
          <a:bodyPr wrap="square" lIns="0" tIns="0" rIns="0" bIns="0" rtlCol="0" anchor="ctr"/>
          <a:lstStyle/>
          <a:p>
            <a:pPr algn="l" indent="0" marL="0">
              <a:buNone/>
            </a:pPr>
            <a:r>
              <a:rPr lang="en-US" sz="1400" b="1" dirty="0">
                <a:solidFill>
                  <a:srgbClr val="17211F"/>
                </a:solidFill>
                <a:latin typeface="Calibri" pitchFamily="34" charset="0"/>
                <a:ea typeface="Calibri" pitchFamily="34" charset="-122"/>
                <a:cs typeface="Calibri" pitchFamily="34" charset="-120"/>
              </a:rPr>
              <a:t>Built by:  </a:t>
            </a:r>
            <a:pPr algn="l" indent="0" marL="0">
              <a:buNone/>
            </a:pPr>
            <a:r>
              <a:rPr lang="en-US" sz="1400" dirty="0">
                <a:solidFill>
                  <a:srgbClr val="17211F"/>
                </a:solidFill>
                <a:latin typeface="Calibri" pitchFamily="34" charset="0"/>
                <a:ea typeface="Calibri" pitchFamily="34" charset="-122"/>
                <a:cs typeface="Calibri" pitchFamily="34" charset="-120"/>
              </a:rPr>
              <a:t>Department's own project team</a:t>
            </a:r>
            <a:endParaRPr lang="en-US" sz="1400" dirty="0"/>
          </a:p>
        </p:txBody>
      </p:sp>
      <p:sp>
        <p:nvSpPr>
          <p:cNvPr id="11" name="Text 8"/>
          <p:cNvSpPr txBox="1"/>
          <p:nvPr/>
        </p:nvSpPr>
        <p:spPr>
          <a:xfrm>
            <a:off x="868680" y="3291840"/>
            <a:ext cx="4724248" cy="420624"/>
          </a:xfrm>
          <a:prstGeom prst="rect">
            <a:avLst/>
          </a:prstGeom>
          <a:noFill/>
          <a:ln/>
        </p:spPr>
        <p:txBody>
          <a:bodyPr wrap="square" lIns="0" tIns="0" rIns="0" bIns="0" rtlCol="0" anchor="ctr"/>
          <a:lstStyle/>
          <a:p>
            <a:pPr algn="l" indent="0" marL="0">
              <a:buNone/>
            </a:pPr>
            <a:r>
              <a:rPr lang="en-US" sz="1400" b="1" dirty="0">
                <a:solidFill>
                  <a:srgbClr val="17211F"/>
                </a:solidFill>
                <a:latin typeface="Calibri" pitchFamily="34" charset="0"/>
                <a:ea typeface="Calibri" pitchFamily="34" charset="-122"/>
                <a:cs typeface="Calibri" pitchFamily="34" charset="-120"/>
              </a:rPr>
              <a:t>Users:  </a:t>
            </a:r>
            <a:pPr algn="l" indent="0" marL="0">
              <a:buNone/>
            </a:pPr>
            <a:r>
              <a:rPr lang="en-US" sz="1400" dirty="0">
                <a:solidFill>
                  <a:srgbClr val="17211F"/>
                </a:solidFill>
                <a:latin typeface="Calibri" pitchFamily="34" charset="0"/>
                <a:ea typeface="Calibri" pitchFamily="34" charset="-122"/>
                <a:cs typeface="Calibri" pitchFamily="34" charset="-120"/>
              </a:rPr>
              <a:t>Company · Reviewers · Lead · HOD</a:t>
            </a:r>
            <a:endParaRPr lang="en-US" sz="1400" dirty="0"/>
          </a:p>
        </p:txBody>
      </p:sp>
      <p:sp>
        <p:nvSpPr>
          <p:cNvPr id="12" name="Text 9"/>
          <p:cNvSpPr txBox="1"/>
          <p:nvPr/>
        </p:nvSpPr>
        <p:spPr>
          <a:xfrm>
            <a:off x="868680" y="3749040"/>
            <a:ext cx="4724248" cy="420624"/>
          </a:xfrm>
          <a:prstGeom prst="rect">
            <a:avLst/>
          </a:prstGeom>
          <a:noFill/>
          <a:ln/>
        </p:spPr>
        <p:txBody>
          <a:bodyPr wrap="square" lIns="0" tIns="0" rIns="0" bIns="0" rtlCol="0" anchor="ctr"/>
          <a:lstStyle/>
          <a:p>
            <a:pPr algn="l" indent="0" marL="0">
              <a:buNone/>
            </a:pPr>
            <a:r>
              <a:rPr lang="en-US" sz="1400" b="1" dirty="0">
                <a:solidFill>
                  <a:srgbClr val="17211F"/>
                </a:solidFill>
                <a:latin typeface="Calibri" pitchFamily="34" charset="0"/>
                <a:ea typeface="Calibri" pitchFamily="34" charset="-122"/>
                <a:cs typeface="Calibri" pitchFamily="34" charset="-120"/>
              </a:rPr>
              <a:t>Technology:  </a:t>
            </a:r>
            <a:pPr algn="l" indent="0" marL="0">
              <a:buNone/>
            </a:pPr>
            <a:r>
              <a:rPr lang="en-US" sz="1400" dirty="0">
                <a:solidFill>
                  <a:srgbClr val="17211F"/>
                </a:solidFill>
                <a:latin typeface="Calibri" pitchFamily="34" charset="0"/>
                <a:ea typeface="Calibri" pitchFamily="34" charset="-122"/>
                <a:cs typeface="Calibri" pitchFamily="34" charset="-120"/>
              </a:rPr>
              <a:t>Django 5.2, Tailwind, MySQL</a:t>
            </a:r>
            <a:endParaRPr lang="en-US" sz="1400" dirty="0"/>
          </a:p>
        </p:txBody>
      </p:sp>
      <p:sp>
        <p:nvSpPr>
          <p:cNvPr id="13" name="Text 10"/>
          <p:cNvSpPr txBox="1"/>
          <p:nvPr/>
        </p:nvSpPr>
        <p:spPr>
          <a:xfrm>
            <a:off x="868680" y="4206240"/>
            <a:ext cx="4724248" cy="420624"/>
          </a:xfrm>
          <a:prstGeom prst="rect">
            <a:avLst/>
          </a:prstGeom>
          <a:noFill/>
          <a:ln/>
        </p:spPr>
        <p:txBody>
          <a:bodyPr wrap="square" lIns="0" tIns="0" rIns="0" bIns="0" rtlCol="0" anchor="ctr"/>
          <a:lstStyle/>
          <a:p>
            <a:pPr algn="l" indent="0" marL="0">
              <a:buNone/>
            </a:pPr>
            <a:r>
              <a:rPr lang="en-US" sz="1400" b="1" dirty="0">
                <a:solidFill>
                  <a:srgbClr val="17211F"/>
                </a:solidFill>
                <a:latin typeface="Calibri" pitchFamily="34" charset="0"/>
                <a:ea typeface="Calibri" pitchFamily="34" charset="-122"/>
                <a:cs typeface="Calibri" pitchFamily="34" charset="-120"/>
              </a:rPr>
              <a:t>Languages:  </a:t>
            </a:r>
            <a:pPr algn="l" indent="0" marL="0">
              <a:buNone/>
            </a:pPr>
            <a:r>
              <a:rPr lang="en-US" sz="1400" dirty="0">
                <a:solidFill>
                  <a:srgbClr val="17211F"/>
                </a:solidFill>
                <a:latin typeface="Calibri" pitchFamily="34" charset="0"/>
                <a:ea typeface="Calibri" pitchFamily="34" charset="-122"/>
                <a:cs typeface="Calibri" pitchFamily="34" charset="-120"/>
              </a:rPr>
              <a:t>English and Arabic (full RTL)</a:t>
            </a:r>
            <a:endParaRPr lang="en-US" sz="1400" dirty="0"/>
          </a:p>
        </p:txBody>
      </p:sp>
      <p:sp>
        <p:nvSpPr>
          <p:cNvPr id="14" name="Text 11"/>
          <p:cNvSpPr txBox="1"/>
          <p:nvPr/>
        </p:nvSpPr>
        <p:spPr>
          <a:xfrm>
            <a:off x="868680" y="4663440"/>
            <a:ext cx="4724248" cy="420624"/>
          </a:xfrm>
          <a:prstGeom prst="rect">
            <a:avLst/>
          </a:prstGeom>
          <a:noFill/>
          <a:ln/>
        </p:spPr>
        <p:txBody>
          <a:bodyPr wrap="square" lIns="0" tIns="0" rIns="0" bIns="0" rtlCol="0" anchor="ctr"/>
          <a:lstStyle/>
          <a:p>
            <a:pPr algn="l" indent="0" marL="0">
              <a:buNone/>
            </a:pPr>
            <a:r>
              <a:rPr lang="en-US" sz="1400" b="1" dirty="0">
                <a:solidFill>
                  <a:srgbClr val="17211F"/>
                </a:solidFill>
                <a:latin typeface="Calibri" pitchFamily="34" charset="0"/>
                <a:ea typeface="Calibri" pitchFamily="34" charset="-122"/>
                <a:cs typeface="Calibri" pitchFamily="34" charset="-120"/>
              </a:rPr>
              <a:t>Validation:  </a:t>
            </a:r>
            <a:pPr algn="l" indent="0" marL="0">
              <a:buNone/>
            </a:pPr>
            <a:r>
              <a:rPr lang="en-US" sz="1400" dirty="0">
                <a:solidFill>
                  <a:srgbClr val="17211F"/>
                </a:solidFill>
                <a:latin typeface="Calibri" pitchFamily="34" charset="0"/>
                <a:ea typeface="Calibri" pitchFamily="34" charset="-122"/>
                <a:cs typeface="Calibri" pitchFamily="34" charset="-120"/>
              </a:rPr>
              <a:t>32 rules · ICH DTD · GCC M1 v1.5</a:t>
            </a:r>
            <a:endParaRPr lang="en-US" sz="1400" dirty="0"/>
          </a:p>
        </p:txBody>
      </p:sp>
      <p:sp>
        <p:nvSpPr>
          <p:cNvPr id="15" name="Text 12"/>
          <p:cNvSpPr txBox="1"/>
          <p:nvPr/>
        </p:nvSpPr>
        <p:spPr>
          <a:xfrm>
            <a:off x="868680" y="5120640"/>
            <a:ext cx="4724248" cy="420624"/>
          </a:xfrm>
          <a:prstGeom prst="rect">
            <a:avLst/>
          </a:prstGeom>
          <a:noFill/>
          <a:ln/>
        </p:spPr>
        <p:txBody>
          <a:bodyPr wrap="square" lIns="0" tIns="0" rIns="0" bIns="0" rtlCol="0" anchor="ctr"/>
          <a:lstStyle/>
          <a:p>
            <a:pPr algn="l" indent="0" marL="0">
              <a:buNone/>
            </a:pPr>
            <a:r>
              <a:rPr lang="en-US" sz="1400" b="1" dirty="0">
                <a:solidFill>
                  <a:srgbClr val="17211F"/>
                </a:solidFill>
                <a:latin typeface="Calibri" pitchFamily="34" charset="0"/>
                <a:ea typeface="Calibri" pitchFamily="34" charset="-122"/>
                <a:cs typeface="Calibri" pitchFamily="34" charset="-120"/>
              </a:rPr>
              <a:t>Status:  </a:t>
            </a:r>
            <a:pPr algn="l" indent="0" marL="0">
              <a:buNone/>
            </a:pPr>
            <a:r>
              <a:rPr lang="en-US" sz="1400" dirty="0">
                <a:solidFill>
                  <a:srgbClr val="17211F"/>
                </a:solidFill>
                <a:latin typeface="Calibri" pitchFamily="34" charset="0"/>
                <a:ea typeface="Calibri" pitchFamily="34" charset="-122"/>
                <a:cs typeface="Calibri" pitchFamily="34" charset="-120"/>
              </a:rPr>
              <a:t>Proof of concept · 149 tests passing</a:t>
            </a:r>
            <a:endParaRPr lang="en-US" sz="1400" dirty="0"/>
          </a:p>
        </p:txBody>
      </p:sp>
      <p:sp>
        <p:nvSpPr>
          <p:cNvPr id="16" name="Shape 13"/>
          <p:cNvSpPr/>
          <p:nvPr/>
        </p:nvSpPr>
        <p:spPr>
          <a:xfrm>
            <a:off x="6553048" y="1719072"/>
            <a:ext cx="457200" cy="457200"/>
          </a:xfrm>
          <a:prstGeom prst="ellipse">
            <a:avLst/>
          </a:prstGeom>
          <a:solidFill>
            <a:schemeClr val="accent4"/>
          </a:solidFill>
          <a:ln/>
        </p:spPr>
      </p:sp>
      <p:pic>
        <p:nvPicPr>
          <p:cNvPr id="17" name="Image 1" descr="C:\Users\msali\AppData\Local\Temp\claude\ppr_pitch\icons\document.png">    </p:cNvPr>
          <p:cNvPicPr>
            <a:picLocks noChangeAspect="1"/>
          </p:cNvPicPr>
          <p:nvPr/>
        </p:nvPicPr>
        <p:blipFill>
          <a:blip r:embed="rId2"/>
          <a:stretch>
            <a:fillRect/>
          </a:stretch>
        </p:blipFill>
        <p:spPr>
          <a:xfrm>
            <a:off x="6662776" y="1828800"/>
            <a:ext cx="237744" cy="237744"/>
          </a:xfrm>
          <a:prstGeom prst="rect">
            <a:avLst/>
          </a:prstGeom>
        </p:spPr>
      </p:pic>
      <p:sp>
        <p:nvSpPr>
          <p:cNvPr id="18" name="Text 14"/>
          <p:cNvSpPr txBox="1"/>
          <p:nvPr/>
        </p:nvSpPr>
        <p:spPr>
          <a:xfrm>
            <a:off x="7147408" y="1700784"/>
            <a:ext cx="4221328" cy="502920"/>
          </a:xfrm>
          <a:prstGeom prst="rect">
            <a:avLst/>
          </a:prstGeom>
          <a:noFill/>
          <a:ln/>
        </p:spPr>
        <p:txBody>
          <a:bodyPr wrap="square" lIns="0" tIns="0" rIns="0" bIns="0" rtlCol="0" anchor="ctr"/>
          <a:lstStyle/>
          <a:p>
            <a:pPr algn="l" indent="0" marL="0">
              <a:buNone/>
            </a:pPr>
            <a:r>
              <a:rPr lang="en-US" sz="2000" b="1" dirty="0">
                <a:solidFill>
                  <a:srgbClr val="17211F"/>
                </a:solidFill>
                <a:latin typeface="Cambria" pitchFamily="34" charset="0"/>
                <a:ea typeface="Cambria" pitchFamily="34" charset="-122"/>
                <a:cs typeface="Cambria" pitchFamily="34" charset="-120"/>
              </a:rPr>
              <a:t>EXTEDO</a:t>
            </a:r>
            <a:endParaRPr lang="en-US" sz="2000" dirty="0"/>
          </a:p>
        </p:txBody>
      </p:sp>
      <p:sp>
        <p:nvSpPr>
          <p:cNvPr id="19" name="Text 15"/>
          <p:cNvSpPr txBox="1"/>
          <p:nvPr/>
        </p:nvSpPr>
        <p:spPr>
          <a:xfrm>
            <a:off x="6598768" y="2377440"/>
            <a:ext cx="4724248" cy="420624"/>
          </a:xfrm>
          <a:prstGeom prst="rect">
            <a:avLst/>
          </a:prstGeom>
          <a:noFill/>
          <a:ln/>
        </p:spPr>
        <p:txBody>
          <a:bodyPr wrap="square" lIns="0" tIns="0" rIns="0" bIns="0" rtlCol="0" anchor="ctr"/>
          <a:lstStyle/>
          <a:p>
            <a:pPr algn="l" indent="0" marL="0">
              <a:buNone/>
            </a:pPr>
            <a:r>
              <a:rPr lang="en-US" sz="1400" b="1" dirty="0">
                <a:solidFill>
                  <a:srgbClr val="17211F"/>
                </a:solidFill>
                <a:latin typeface="Calibri" pitchFamily="34" charset="0"/>
                <a:ea typeface="Calibri" pitchFamily="34" charset="-122"/>
                <a:cs typeface="Calibri" pitchFamily="34" charset="-120"/>
              </a:rPr>
              <a:t>Type:  </a:t>
            </a:r>
            <a:pPr algn="l" indent="0" marL="0">
              <a:buNone/>
            </a:pPr>
            <a:r>
              <a:rPr lang="en-US" sz="1400" dirty="0">
                <a:solidFill>
                  <a:srgbClr val="17211F"/>
                </a:solidFill>
                <a:latin typeface="Calibri" pitchFamily="34" charset="0"/>
                <a:ea typeface="Calibri" pitchFamily="34" charset="-122"/>
                <a:cs typeface="Calibri" pitchFamily="34" charset="-120"/>
              </a:rPr>
              <a:t>Validation &amp; review software</a:t>
            </a:r>
            <a:endParaRPr lang="en-US" sz="1400" dirty="0"/>
          </a:p>
        </p:txBody>
      </p:sp>
      <p:sp>
        <p:nvSpPr>
          <p:cNvPr id="20" name="Text 16"/>
          <p:cNvSpPr txBox="1"/>
          <p:nvPr/>
        </p:nvSpPr>
        <p:spPr>
          <a:xfrm>
            <a:off x="6598768" y="2834640"/>
            <a:ext cx="4724248" cy="420624"/>
          </a:xfrm>
          <a:prstGeom prst="rect">
            <a:avLst/>
          </a:prstGeom>
          <a:noFill/>
          <a:ln/>
        </p:spPr>
        <p:txBody>
          <a:bodyPr wrap="square" lIns="0" tIns="0" rIns="0" bIns="0" rtlCol="0" anchor="ctr"/>
          <a:lstStyle/>
          <a:p>
            <a:pPr algn="l" indent="0" marL="0">
              <a:buNone/>
            </a:pPr>
            <a:r>
              <a:rPr lang="en-US" sz="1400" b="1" dirty="0">
                <a:solidFill>
                  <a:srgbClr val="17211F"/>
                </a:solidFill>
                <a:latin typeface="Calibri" pitchFamily="34" charset="0"/>
                <a:ea typeface="Calibri" pitchFamily="34" charset="-122"/>
                <a:cs typeface="Calibri" pitchFamily="34" charset="-120"/>
              </a:rPr>
              <a:t>Vendor:  </a:t>
            </a:r>
            <a:pPr algn="l" indent="0" marL="0">
              <a:buNone/>
            </a:pPr>
            <a:r>
              <a:rPr lang="en-US" sz="1400" dirty="0">
                <a:solidFill>
                  <a:srgbClr val="17211F"/>
                </a:solidFill>
                <a:latin typeface="Calibri" pitchFamily="34" charset="0"/>
                <a:ea typeface="Calibri" pitchFamily="34" charset="-122"/>
                <a:cs typeface="Calibri" pitchFamily="34" charset="-120"/>
              </a:rPr>
              <a:t>EXTEDO (Germany)</a:t>
            </a:r>
            <a:endParaRPr lang="en-US" sz="1400" dirty="0"/>
          </a:p>
        </p:txBody>
      </p:sp>
      <p:sp>
        <p:nvSpPr>
          <p:cNvPr id="21" name="Text 17"/>
          <p:cNvSpPr txBox="1"/>
          <p:nvPr/>
        </p:nvSpPr>
        <p:spPr>
          <a:xfrm>
            <a:off x="6598768" y="3291840"/>
            <a:ext cx="4724248" cy="420624"/>
          </a:xfrm>
          <a:prstGeom prst="rect">
            <a:avLst/>
          </a:prstGeom>
          <a:noFill/>
          <a:ln/>
        </p:spPr>
        <p:txBody>
          <a:bodyPr wrap="square" lIns="0" tIns="0" rIns="0" bIns="0" rtlCol="0" anchor="ctr"/>
          <a:lstStyle/>
          <a:p>
            <a:pPr algn="l" indent="0" marL="0">
              <a:buNone/>
            </a:pPr>
            <a:r>
              <a:rPr lang="en-US" sz="1400" b="1" dirty="0">
                <a:solidFill>
                  <a:srgbClr val="17211F"/>
                </a:solidFill>
                <a:latin typeface="Calibri" pitchFamily="34" charset="0"/>
                <a:ea typeface="Calibri" pitchFamily="34" charset="-122"/>
                <a:cs typeface="Calibri" pitchFamily="34" charset="-120"/>
              </a:rPr>
              <a:t>Users:  </a:t>
            </a:r>
            <a:pPr algn="l" indent="0" marL="0">
              <a:buNone/>
            </a:pPr>
            <a:r>
              <a:rPr lang="en-US" sz="1400" dirty="0">
                <a:solidFill>
                  <a:srgbClr val="17211F"/>
                </a:solidFill>
                <a:latin typeface="Calibri" pitchFamily="34" charset="0"/>
                <a:ea typeface="Calibri" pitchFamily="34" charset="-122"/>
                <a:cs typeface="Calibri" pitchFamily="34" charset="-120"/>
              </a:rPr>
              <a:t>Agency validators &amp; assessors</a:t>
            </a:r>
            <a:endParaRPr lang="en-US" sz="1400" dirty="0"/>
          </a:p>
        </p:txBody>
      </p:sp>
      <p:sp>
        <p:nvSpPr>
          <p:cNvPr id="22" name="Text 18"/>
          <p:cNvSpPr txBox="1"/>
          <p:nvPr/>
        </p:nvSpPr>
        <p:spPr>
          <a:xfrm>
            <a:off x="6598768" y="3749040"/>
            <a:ext cx="4724248" cy="420624"/>
          </a:xfrm>
          <a:prstGeom prst="rect">
            <a:avLst/>
          </a:prstGeom>
          <a:noFill/>
          <a:ln/>
        </p:spPr>
        <p:txBody>
          <a:bodyPr wrap="square" lIns="0" tIns="0" rIns="0" bIns="0" rtlCol="0" anchor="ctr"/>
          <a:lstStyle/>
          <a:p>
            <a:pPr algn="l" indent="0" marL="0">
              <a:buNone/>
            </a:pPr>
            <a:r>
              <a:rPr lang="en-US" sz="1400" b="1" dirty="0">
                <a:solidFill>
                  <a:srgbClr val="17211F"/>
                </a:solidFill>
                <a:latin typeface="Calibri" pitchFamily="34" charset="0"/>
                <a:ea typeface="Calibri" pitchFamily="34" charset="-122"/>
                <a:cs typeface="Calibri" pitchFamily="34" charset="-120"/>
              </a:rPr>
              <a:t>Technology:  </a:t>
            </a:r>
            <a:pPr algn="l" indent="0" marL="0">
              <a:buNone/>
            </a:pPr>
            <a:r>
              <a:rPr lang="en-US" sz="1400" dirty="0">
                <a:solidFill>
                  <a:srgbClr val="17211F"/>
                </a:solidFill>
                <a:latin typeface="Calibri" pitchFamily="34" charset="0"/>
                <a:ea typeface="Calibri" pitchFamily="34" charset="-122"/>
                <a:cs typeface="Calibri" pitchFamily="34" charset="-120"/>
              </a:rPr>
              <a:t>Windows desktop + EURSnext web</a:t>
            </a:r>
            <a:endParaRPr lang="en-US" sz="1400" dirty="0"/>
          </a:p>
        </p:txBody>
      </p:sp>
      <p:sp>
        <p:nvSpPr>
          <p:cNvPr id="23" name="Text 19"/>
          <p:cNvSpPr txBox="1"/>
          <p:nvPr/>
        </p:nvSpPr>
        <p:spPr>
          <a:xfrm>
            <a:off x="6598768" y="4206240"/>
            <a:ext cx="4724248" cy="420624"/>
          </a:xfrm>
          <a:prstGeom prst="rect">
            <a:avLst/>
          </a:prstGeom>
          <a:noFill/>
          <a:ln/>
        </p:spPr>
        <p:txBody>
          <a:bodyPr wrap="square" lIns="0" tIns="0" rIns="0" bIns="0" rtlCol="0" anchor="ctr"/>
          <a:lstStyle/>
          <a:p>
            <a:pPr algn="l" indent="0" marL="0">
              <a:buNone/>
            </a:pPr>
            <a:r>
              <a:rPr lang="en-US" sz="1400" b="1" dirty="0">
                <a:solidFill>
                  <a:srgbClr val="17211F"/>
                </a:solidFill>
                <a:latin typeface="Calibri" pitchFamily="34" charset="0"/>
                <a:ea typeface="Calibri" pitchFamily="34" charset="-122"/>
                <a:cs typeface="Calibri" pitchFamily="34" charset="-120"/>
              </a:rPr>
              <a:t>Languages:  </a:t>
            </a:r>
            <a:pPr algn="l" indent="0" marL="0">
              <a:buNone/>
            </a:pPr>
            <a:r>
              <a:rPr lang="en-US" sz="1400" dirty="0">
                <a:solidFill>
                  <a:srgbClr val="17211F"/>
                </a:solidFill>
                <a:latin typeface="Calibri" pitchFamily="34" charset="0"/>
                <a:ea typeface="Calibri" pitchFamily="34" charset="-122"/>
                <a:cs typeface="Calibri" pitchFamily="34" charset="-120"/>
              </a:rPr>
              <a:t>English (Arabic not documented)</a:t>
            </a:r>
            <a:endParaRPr lang="en-US" sz="1400" dirty="0"/>
          </a:p>
        </p:txBody>
      </p:sp>
      <p:sp>
        <p:nvSpPr>
          <p:cNvPr id="24" name="Text 20"/>
          <p:cNvSpPr txBox="1"/>
          <p:nvPr/>
        </p:nvSpPr>
        <p:spPr>
          <a:xfrm>
            <a:off x="6598768" y="4663440"/>
            <a:ext cx="4724248" cy="420624"/>
          </a:xfrm>
          <a:prstGeom prst="rect">
            <a:avLst/>
          </a:prstGeom>
          <a:noFill/>
          <a:ln/>
        </p:spPr>
        <p:txBody>
          <a:bodyPr wrap="square" lIns="0" tIns="0" rIns="0" bIns="0" rtlCol="0" anchor="ctr"/>
          <a:lstStyle/>
          <a:p>
            <a:pPr algn="l" indent="0" marL="0">
              <a:buNone/>
            </a:pPr>
            <a:r>
              <a:rPr lang="en-US" sz="1400" b="1" dirty="0">
                <a:solidFill>
                  <a:srgbClr val="17211F"/>
                </a:solidFill>
                <a:latin typeface="Calibri" pitchFamily="34" charset="0"/>
                <a:ea typeface="Calibri" pitchFamily="34" charset="-122"/>
                <a:cs typeface="Calibri" pitchFamily="34" charset="-120"/>
              </a:rPr>
              <a:t>Validation:  </a:t>
            </a:r>
            <a:pPr algn="l" indent="0" marL="0">
              <a:buNone/>
            </a:pPr>
            <a:r>
              <a:rPr lang="en-US" sz="1400" dirty="0">
                <a:solidFill>
                  <a:srgbClr val="17211F"/>
                </a:solidFill>
                <a:latin typeface="Calibri" pitchFamily="34" charset="0"/>
                <a:ea typeface="Calibri" pitchFamily="34" charset="-122"/>
                <a:cs typeface="Calibri" pitchFamily="34" charset="-120"/>
              </a:rPr>
              <a:t>Official regional sets, by subscription</a:t>
            </a:r>
            <a:endParaRPr lang="en-US" sz="1400" dirty="0"/>
          </a:p>
        </p:txBody>
      </p:sp>
      <p:sp>
        <p:nvSpPr>
          <p:cNvPr id="25" name="Text 21"/>
          <p:cNvSpPr txBox="1"/>
          <p:nvPr/>
        </p:nvSpPr>
        <p:spPr>
          <a:xfrm>
            <a:off x="6598768" y="5120640"/>
            <a:ext cx="4724248" cy="420624"/>
          </a:xfrm>
          <a:prstGeom prst="rect">
            <a:avLst/>
          </a:prstGeom>
          <a:noFill/>
          <a:ln/>
        </p:spPr>
        <p:txBody>
          <a:bodyPr wrap="square" lIns="0" tIns="0" rIns="0" bIns="0" rtlCol="0" anchor="ctr"/>
          <a:lstStyle/>
          <a:p>
            <a:pPr algn="l" indent="0" marL="0">
              <a:buNone/>
            </a:pPr>
            <a:r>
              <a:rPr lang="en-US" sz="1400" b="1" dirty="0">
                <a:solidFill>
                  <a:srgbClr val="17211F"/>
                </a:solidFill>
                <a:latin typeface="Calibri" pitchFamily="34" charset="0"/>
                <a:ea typeface="Calibri" pitchFamily="34" charset="-122"/>
                <a:cs typeface="Calibri" pitchFamily="34" charset="-120"/>
              </a:rPr>
              <a:t>Status:  </a:t>
            </a:r>
            <a:pPr algn="l" indent="0" marL="0">
              <a:buNone/>
            </a:pPr>
            <a:r>
              <a:rPr lang="en-US" sz="1400" dirty="0">
                <a:solidFill>
                  <a:srgbClr val="17211F"/>
                </a:solidFill>
                <a:latin typeface="Calibri" pitchFamily="34" charset="0"/>
                <a:ea typeface="Calibri" pitchFamily="34" charset="-122"/>
                <a:cs typeface="Calibri" pitchFamily="34" charset="-120"/>
              </a:rPr>
              <a:t>Mature · used by EMA, 35+ agencies</a:t>
            </a:r>
            <a:endParaRPr lang="en-US" sz="1400" dirty="0"/>
          </a:p>
        </p:txBody>
      </p:sp>
      <p:sp>
        <p:nvSpPr>
          <p:cNvPr id="26" name="Text 22"/>
          <p:cNvSpPr txBox="1"/>
          <p:nvPr/>
        </p:nvSpPr>
        <p:spPr>
          <a:xfrm>
            <a:off x="548640" y="5943600"/>
            <a:ext cx="11094415" cy="365760"/>
          </a:xfrm>
          <a:prstGeom prst="rect">
            <a:avLst/>
          </a:prstGeom>
          <a:noFill/>
          <a:ln/>
        </p:spPr>
        <p:txBody>
          <a:bodyPr wrap="square" lIns="0" tIns="0" rIns="0" bIns="0" rtlCol="0" anchor="ctr"/>
          <a:lstStyle/>
          <a:p>
            <a:pPr algn="ctr" indent="0" marL="0">
              <a:buNone/>
            </a:pPr>
            <a:r>
              <a:rPr lang="en-US" sz="1100" i="1" dirty="0">
                <a:solidFill>
                  <a:schemeClr val="accent4"/>
                </a:solidFill>
                <a:latin typeface="Calibri" pitchFamily="34" charset="0"/>
                <a:ea typeface="Calibri" pitchFamily="34" charset="-122"/>
                <a:cs typeface="Calibri" pitchFamily="34" charset="-120"/>
              </a:rPr>
              <a:t>EXTEDO assessed from public product material only — no EXTEDO software was tested. Full method &amp; sources: PPR-CMP-001.</a:t>
            </a:r>
            <a:endParaRPr lang="en-US" sz="1100" dirty="0"/>
          </a:p>
        </p:txBody>
      </p:sp>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058400" cy="292608"/>
          </a:xfrm>
          <a:prstGeom prst="rect">
            <a:avLst/>
          </a:prstGeom>
          <a:noFill/>
          <a:ln/>
        </p:spPr>
        <p:txBody>
          <a:bodyPr wrap="square" rtlCol="0"/>
          <a:lstStyle/>
          <a:p>
            <a:pPr algn="l" indent="0" marL="0">
              <a:buNone/>
            </a:pPr>
            <a:r>
              <a:rPr lang="en-US" sz="1300" b="1" spc="150" kern="0" dirty="0">
                <a:solidFill>
                  <a:schemeClr val="accent2"/>
                </a:solidFill>
                <a:latin typeface="Calibri" pitchFamily="34" charset="0"/>
                <a:ea typeface="Calibri" pitchFamily="34" charset="-122"/>
                <a:cs typeface="Calibri" pitchFamily="34" charset="-120"/>
              </a:rPr>
              <a:t>HEAD-TO-HEAD</a:t>
            </a:r>
            <a:endParaRPr lang="en-US" sz="1300" dirty="0"/>
          </a:p>
        </p:txBody>
      </p:sp>
      <p:sp>
        <p:nvSpPr>
          <p:cNvPr id="3" name="Text 0"/>
          <p:cNvSpPr/>
          <p:nvPr>
            <p:ph idx="101" type="title" hasCustomPrompt="1"/>
          </p:nvPr>
        </p:nvSpPr>
        <p:spPr>
          <a:xfrm>
            <a:off x="548640" y="676656"/>
            <a:ext cx="11094415" cy="566928"/>
          </a:xfrm>
          <a:prstGeom prst="rect">
            <a:avLst/>
          </a:prstGeom>
          <a:noFill/>
          <a:ln/>
        </p:spPr>
        <p:txBody>
          <a:bodyPr wrap="square" rtlCol="0"/>
          <a:lstStyle/>
          <a:p>
            <a:pPr algn="l" indent="0" marL="0">
              <a:buNone/>
            </a:pPr>
            <a:r>
              <a:rPr lang="en-US" sz="3000" b="1" dirty="0">
                <a:solidFill>
                  <a:schemeClr val="tx1"/>
                </a:solidFill>
                <a:latin typeface="Cambria" pitchFamily="34" charset="0"/>
                <a:ea typeface="Cambria" pitchFamily="34" charset="-122"/>
                <a:cs typeface="Cambria" pitchFamily="34" charset="-120"/>
              </a:rPr>
              <a:t>Capability, side by side</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5669280"/>
                <a:gridCol w="2712568"/>
                <a:gridCol w="2712568"/>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Capability</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E4F4A"/>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PPR</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E4F4A"/>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EXTEDO</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E4F4A"/>
                    </a:solidFill>
                  </a:tcPr>
                </a:tc>
              </a:tr>
              <a:tr h="0">
                <a:tc>
                  <a:txBody>
                    <a:bodyPr/>
                    <a:lstStyle/>
                    <a:p>
                      <a:pPr algn="l" indent="0" marL="0">
                        <a:buNone/>
                      </a:pPr>
                      <a:r>
                        <a:rPr lang="en-US" sz="1400" dirty="0">
                          <a:solidFill>
                            <a:srgbClr val="17211F"/>
                          </a:solidFill>
                          <a:latin typeface="Calibri" pitchFamily="34" charset="0"/>
                          <a:ea typeface="Calibri" pitchFamily="34" charset="-122"/>
                          <a:cs typeface="Calibri" pitchFamily="34" charset="-120"/>
                        </a:rPr>
                        <a:t>End-to-end workflow (submit → certificate)</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FULL</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E4F4A"/>
                    </a:solidFill>
                  </a:tcPr>
                </a:tc>
                <a:tc>
                  <a:txBody>
                    <a:bodyPr/>
                    <a:lstStyle/>
                    <a:p>
                      <a:pPr algn="ctr" indent="0" marL="0">
                        <a:buNone/>
                      </a:pPr>
                      <a:r>
                        <a:rPr lang="en-US" sz="1400" b="1" dirty="0">
                          <a:solidFill>
                            <a:srgbClr val="6B7876"/>
                          </a:solidFill>
                          <a:latin typeface="Calibri" pitchFamily="34" charset="0"/>
                          <a:ea typeface="Calibri" pitchFamily="34" charset="-122"/>
                          <a:cs typeface="Calibri" pitchFamily="34" charset="-120"/>
                        </a:rPr>
                        <a:t>NOT INCLUDED</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7E9E8"/>
                    </a:solidFill>
                  </a:tcPr>
                </a:tc>
              </a:tr>
              <a:tr h="0">
                <a:tc>
                  <a:txBody>
                    <a:bodyPr/>
                    <a:lstStyle/>
                    <a:p>
                      <a:pPr algn="l" indent="0" marL="0">
                        <a:buNone/>
                      </a:pPr>
                      <a:r>
                        <a:rPr lang="en-US" sz="1400" dirty="0">
                          <a:solidFill>
                            <a:srgbClr val="17211F"/>
                          </a:solidFill>
                          <a:latin typeface="Calibri" pitchFamily="34" charset="0"/>
                          <a:ea typeface="Calibri" pitchFamily="34" charset="-122"/>
                          <a:cs typeface="Calibri" pitchFamily="34" charset="-120"/>
                        </a:rPr>
                        <a:t>eCTD validation (official ICH DTD)</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AF2E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FULL</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E4F4A"/>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FULL</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E4F4A"/>
                    </a:solidFill>
                  </a:tcPr>
                </a:tc>
              </a:tr>
              <a:tr h="0">
                <a:tc>
                  <a:txBody>
                    <a:bodyPr/>
                    <a:lstStyle/>
                    <a:p>
                      <a:pPr algn="l" indent="0" marL="0">
                        <a:buNone/>
                      </a:pPr>
                      <a:r>
                        <a:rPr lang="en-US" sz="1400" dirty="0">
                          <a:solidFill>
                            <a:srgbClr val="17211F"/>
                          </a:solidFill>
                          <a:latin typeface="Calibri" pitchFamily="34" charset="0"/>
                          <a:ea typeface="Calibri" pitchFamily="34" charset="-122"/>
                          <a:cs typeface="Calibri" pitchFamily="34" charset="-120"/>
                        </a:rPr>
                        <a:t>GCC Module 1 v1.5 validation</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FULL</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E4F4A"/>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FULL</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E4F4A"/>
                    </a:solidFill>
                  </a:tcPr>
                </a:tc>
              </a:tr>
              <a:tr h="0">
                <a:tc>
                  <a:txBody>
                    <a:bodyPr/>
                    <a:lstStyle/>
                    <a:p>
                      <a:pPr algn="l" indent="0" marL="0">
                        <a:buNone/>
                      </a:pPr>
                      <a:r>
                        <a:rPr lang="en-US" sz="1400" dirty="0">
                          <a:solidFill>
                            <a:srgbClr val="17211F"/>
                          </a:solidFill>
                          <a:latin typeface="Calibri" pitchFamily="34" charset="0"/>
                          <a:ea typeface="Calibri" pitchFamily="34" charset="-122"/>
                          <a:cs typeface="Calibri" pitchFamily="34" charset="-120"/>
                        </a:rPr>
                        <a:t>Specialist review per CTD module</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AF2E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FULL</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E4F4A"/>
                    </a:solidFill>
                  </a:tcPr>
                </a:tc>
                <a:tc>
                  <a:txBody>
                    <a:bodyPr/>
                    <a:lstStyle/>
                    <a:p>
                      <a:pPr algn="ctr" indent="0" marL="0">
                        <a:buNone/>
                      </a:pPr>
                      <a:r>
                        <a:rPr lang="en-US" sz="1400" b="1" dirty="0">
                          <a:solidFill>
                            <a:srgbClr val="6B7876"/>
                          </a:solidFill>
                          <a:latin typeface="Calibri" pitchFamily="34" charset="0"/>
                          <a:ea typeface="Calibri" pitchFamily="34" charset="-122"/>
                          <a:cs typeface="Calibri" pitchFamily="34" charset="-120"/>
                        </a:rPr>
                        <a:t>NOT INCLUDED</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7E9E8"/>
                    </a:solidFill>
                  </a:tcPr>
                </a:tc>
              </a:tr>
              <a:tr h="0">
                <a:tc>
                  <a:txBody>
                    <a:bodyPr/>
                    <a:lstStyle/>
                    <a:p>
                      <a:pPr algn="l" indent="0" marL="0">
                        <a:buNone/>
                      </a:pPr>
                      <a:r>
                        <a:rPr lang="en-US" sz="1400" dirty="0">
                          <a:solidFill>
                            <a:srgbClr val="17211F"/>
                          </a:solidFill>
                          <a:latin typeface="Calibri" pitchFamily="34" charset="0"/>
                          <a:ea typeface="Calibri" pitchFamily="34" charset="-122"/>
                          <a:cs typeface="Calibri" pitchFamily="34" charset="-120"/>
                        </a:rPr>
                        <a:t>AI dossier assistant (cited answers)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FULL</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E4F4A"/>
                    </a:solidFill>
                  </a:tcPr>
                </a:tc>
                <a:tc>
                  <a:txBody>
                    <a:bodyPr/>
                    <a:lstStyle/>
                    <a:p>
                      <a:pPr algn="ctr" indent="0" marL="0">
                        <a:buNone/>
                      </a:pPr>
                      <a:r>
                        <a:rPr lang="en-US" sz="1400" b="1" dirty="0">
                          <a:solidFill>
                            <a:srgbClr val="6B7876"/>
                          </a:solidFill>
                          <a:latin typeface="Calibri" pitchFamily="34" charset="0"/>
                          <a:ea typeface="Calibri" pitchFamily="34" charset="-122"/>
                          <a:cs typeface="Calibri" pitchFamily="34" charset="-120"/>
                        </a:rPr>
                        <a:t>NOT INCLUDED</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7E9E8"/>
                    </a:solidFill>
                  </a:tcPr>
                </a:tc>
              </a:tr>
              <a:tr h="0">
                <a:tc>
                  <a:txBody>
                    <a:bodyPr/>
                    <a:lstStyle/>
                    <a:p>
                      <a:pPr algn="l" indent="0" marL="0">
                        <a:buNone/>
                      </a:pPr>
                      <a:r>
                        <a:rPr lang="en-US" sz="1400" dirty="0">
                          <a:solidFill>
                            <a:srgbClr val="17211F"/>
                          </a:solidFill>
                          <a:latin typeface="Calibri" pitchFamily="34" charset="0"/>
                          <a:ea typeface="Calibri" pitchFamily="34" charset="-122"/>
                          <a:cs typeface="Calibri" pitchFamily="34" charset="-120"/>
                        </a:rPr>
                        <a:t>Arabic interface (full RTL)</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AF2E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FULL</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E4F4A"/>
                    </a:solidFill>
                  </a:tcPr>
                </a:tc>
                <a:tc>
                  <a:txBody>
                    <a:bodyPr/>
                    <a:lstStyle/>
                    <a:p>
                      <a:pPr algn="ctr" indent="0" marL="0">
                        <a:buNone/>
                      </a:pPr>
                      <a:r>
                        <a:rPr lang="en-US" sz="1400" b="1" dirty="0">
                          <a:solidFill>
                            <a:srgbClr val="6B7876"/>
                          </a:solidFill>
                          <a:latin typeface="Calibri" pitchFamily="34" charset="0"/>
                          <a:ea typeface="Calibri" pitchFamily="34" charset="-122"/>
                          <a:cs typeface="Calibri" pitchFamily="34" charset="-120"/>
                        </a:rPr>
                        <a:t>NOT INCLUDED</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7E9E8"/>
                    </a:solidFill>
                  </a:tcPr>
                </a:tc>
              </a:tr>
              <a:tr h="0">
                <a:tc>
                  <a:txBody>
                    <a:bodyPr/>
                    <a:lstStyle/>
                    <a:p>
                      <a:pPr algn="l" indent="0" marL="0">
                        <a:buNone/>
                      </a:pPr>
                      <a:r>
                        <a:rPr lang="en-US" sz="1400" dirty="0">
                          <a:solidFill>
                            <a:srgbClr val="17211F"/>
                          </a:solidFill>
                          <a:latin typeface="Calibri" pitchFamily="34" charset="0"/>
                          <a:ea typeface="Calibri" pitchFamily="34" charset="-122"/>
                          <a:cs typeface="Calibri" pitchFamily="34" charset="-120"/>
                        </a:rPr>
                        <a:t>PDF annotation &amp; markup</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b="1" dirty="0">
                          <a:solidFill>
                            <a:srgbClr val="6B7876"/>
                          </a:solidFill>
                          <a:latin typeface="Calibri" pitchFamily="34" charset="0"/>
                          <a:ea typeface="Calibri" pitchFamily="34" charset="-122"/>
                          <a:cs typeface="Calibri" pitchFamily="34" charset="-120"/>
                        </a:rPr>
                        <a:t>NOT INCLUDED</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7E9E8"/>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FULL</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E4F4A"/>
                    </a:solidFill>
                  </a:tcPr>
                </a:tc>
              </a:tr>
              <a:tr h="0">
                <a:tc>
                  <a:txBody>
                    <a:bodyPr/>
                    <a:lstStyle/>
                    <a:p>
                      <a:pPr algn="l" indent="0" marL="0">
                        <a:buNone/>
                      </a:pPr>
                      <a:r>
                        <a:rPr lang="en-US" sz="1400" dirty="0">
                          <a:solidFill>
                            <a:srgbClr val="17211F"/>
                          </a:solidFill>
                          <a:latin typeface="Calibri" pitchFamily="34" charset="0"/>
                          <a:ea typeface="Calibri" pitchFamily="34" charset="-122"/>
                          <a:cs typeface="Calibri" pitchFamily="34" charset="-120"/>
                        </a:rPr>
                        <a:t>Enterprise integration API</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AF2EF"/>
                    </a:solidFill>
                  </a:tcPr>
                </a:tc>
                <a:tc>
                  <a:txBody>
                    <a:bodyPr/>
                    <a:lstStyle/>
                    <a:p>
                      <a:pPr algn="ctr" indent="0" marL="0">
                        <a:buNone/>
                      </a:pPr>
                      <a:r>
                        <a:rPr lang="en-US" sz="1400" b="1" dirty="0">
                          <a:solidFill>
                            <a:srgbClr val="6B7876"/>
                          </a:solidFill>
                          <a:latin typeface="Calibri" pitchFamily="34" charset="0"/>
                          <a:ea typeface="Calibri" pitchFamily="34" charset="-122"/>
                          <a:cs typeface="Calibri" pitchFamily="34" charset="-120"/>
                        </a:rPr>
                        <a:t>NOT INCLUDED</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7E9E8"/>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FULL</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E4F4A"/>
                    </a:solidFill>
                  </a:tcPr>
                </a:tc>
              </a:tr>
              <a:tr h="0">
                <a:tc gridSpan="3">
                  <a:txBody>
                    <a:bodyPr/>
                    <a:lstStyle/>
                    <a:p>
                      <a:pPr algn="l" indent="0" marL="0">
                        <a:buNone/>
                      </a:pPr>
                      <a:r>
                        <a:rPr lang="en-US" sz="1100" i="1" dirty="0">
                          <a:solidFill>
                            <a:srgbClr val="6B7876"/>
                          </a:solidFill>
                          <a:latin typeface="Calibri" pitchFamily="34" charset="0"/>
                          <a:ea typeface="Calibri" pitchFamily="34" charset="-122"/>
                          <a:cs typeface="Calibri" pitchFamily="34" charset="-120"/>
                        </a:rPr>
                        <a:t>EXTEDO columns reflect public product material only (flyers, vendor site); no EXTEDO software was tested. Full method &amp; sources: PPR-CMP-001, 18 Oct 2026.</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hMerge="1">
                  <a:tcPr/>
                </a:tc>
                <a:tc hMerge="1">
                  <a:tcPr/>
                </a:tc>
              </a:tr>
            </a:tbl>
          </a:graphicData>
        </a:graphic>
      </p:graphicFrame>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058400" cy="292608"/>
          </a:xfrm>
          <a:prstGeom prst="rect">
            <a:avLst/>
          </a:prstGeom>
          <a:noFill/>
          <a:ln/>
        </p:spPr>
        <p:txBody>
          <a:bodyPr wrap="square" rtlCol="0"/>
          <a:lstStyle/>
          <a:p>
            <a:pPr algn="l" indent="0" marL="0">
              <a:buNone/>
            </a:pPr>
            <a:r>
              <a:rPr lang="en-US" sz="1300" b="1" spc="150" kern="0" dirty="0">
                <a:solidFill>
                  <a:schemeClr val="accent2"/>
                </a:solidFill>
                <a:latin typeface="Calibri" pitchFamily="34" charset="0"/>
                <a:ea typeface="Calibri" pitchFamily="34" charset="-122"/>
                <a:cs typeface="Calibri" pitchFamily="34" charset="-120"/>
              </a:rPr>
              <a:t>HEAD-TO-HEAD</a:t>
            </a:r>
            <a:endParaRPr lang="en-US" sz="1300" dirty="0"/>
          </a:p>
        </p:txBody>
      </p:sp>
      <p:sp>
        <p:nvSpPr>
          <p:cNvPr id="3" name="Text 0"/>
          <p:cNvSpPr/>
          <p:nvPr>
            <p:ph idx="101" type="title" hasCustomPrompt="1"/>
          </p:nvPr>
        </p:nvSpPr>
        <p:spPr>
          <a:xfrm>
            <a:off x="548640" y="676656"/>
            <a:ext cx="11094415" cy="566928"/>
          </a:xfrm>
          <a:prstGeom prst="rect">
            <a:avLst/>
          </a:prstGeom>
          <a:noFill/>
          <a:ln/>
        </p:spPr>
        <p:txBody>
          <a:bodyPr wrap="square" rtlCol="0"/>
          <a:lstStyle/>
          <a:p>
            <a:pPr algn="l" indent="0" marL="0">
              <a:buNone/>
            </a:pPr>
            <a:r>
              <a:rPr lang="en-US" sz="3000" b="1" dirty="0">
                <a:solidFill>
                  <a:schemeClr val="tx1"/>
                </a:solidFill>
                <a:latin typeface="Cambria" pitchFamily="34" charset="0"/>
                <a:ea typeface="Cambria" pitchFamily="34" charset="-122"/>
                <a:cs typeface="Cambria" pitchFamily="34" charset="-120"/>
              </a:rPr>
              <a:t>Where PPR wins outright</a:t>
            </a:r>
            <a:endParaRPr lang="en-US" sz="3000" dirty="0"/>
          </a:p>
        </p:txBody>
      </p:sp>
      <p:sp>
        <p:nvSpPr>
          <p:cNvPr id="4" name="Shape 2"/>
          <p:cNvSpPr/>
          <p:nvPr/>
        </p:nvSpPr>
        <p:spPr>
          <a:xfrm>
            <a:off x="548640" y="1490472"/>
            <a:ext cx="594360" cy="594360"/>
          </a:xfrm>
          <a:prstGeom prst="ellipse">
            <a:avLst/>
          </a:prstGeom>
          <a:solidFill>
            <a:schemeClr val="accent1"/>
          </a:solidFill>
          <a:ln/>
        </p:spPr>
      </p:sp>
      <p:pic>
        <p:nvPicPr>
          <p:cNvPr id="5" name="Image 0" descr="C:\Users\msali\AppData\Local\Temp\claude\ppr_pitch\icons\certificate.png">    </p:cNvPr>
          <p:cNvPicPr>
            <a:picLocks noChangeAspect="1"/>
          </p:cNvPicPr>
          <p:nvPr/>
        </p:nvPicPr>
        <p:blipFill>
          <a:blip r:embed="rId1"/>
          <a:stretch>
            <a:fillRect/>
          </a:stretch>
        </p:blipFill>
        <p:spPr>
          <a:xfrm>
            <a:off x="691286" y="1633118"/>
            <a:ext cx="309067" cy="309067"/>
          </a:xfrm>
          <a:prstGeom prst="rect">
            <a:avLst/>
          </a:prstGeom>
        </p:spPr>
      </p:pic>
      <p:sp>
        <p:nvSpPr>
          <p:cNvPr id="6" name="Text 3"/>
          <p:cNvSpPr txBox="1"/>
          <p:nvPr/>
        </p:nvSpPr>
        <p:spPr>
          <a:xfrm>
            <a:off x="1417320" y="1417320"/>
            <a:ext cx="10222992" cy="822960"/>
          </a:xfrm>
          <a:prstGeom prst="rect">
            <a:avLst/>
          </a:prstGeom>
          <a:noFill/>
          <a:ln/>
        </p:spPr>
        <p:txBody>
          <a:bodyPr wrap="square" lIns="0" tIns="0" rIns="0" bIns="0" rtlCol="0" anchor="t"/>
          <a:lstStyle/>
          <a:p>
            <a:pPr algn="l" indent="0" marL="0">
              <a:lnSpc>
                <a:spcPct val="115000"/>
              </a:lnSpc>
              <a:buNone/>
            </a:pPr>
            <a:r>
              <a:rPr lang="en-US" sz="1500" b="1" dirty="0">
                <a:solidFill>
                  <a:srgbClr val="0E4F4A"/>
                </a:solidFill>
                <a:latin typeface="Calibri" pitchFamily="34" charset="0"/>
                <a:ea typeface="Calibri" pitchFamily="34" charset="-122"/>
                <a:cs typeface="Calibri" pitchFamily="34" charset="-120"/>
              </a:rPr>
              <a:t>Only system that owns the whole case</a:t>
            </a:r>
            <a:endParaRPr lang="en-US" sz="1500" dirty="0"/>
          </a:p>
          <a:p>
            <a:pPr algn="l" indent="0" marL="0">
              <a:lnSpc>
                <a:spcPct val="115000"/>
              </a:lnSpc>
              <a:buNone/>
            </a:pPr>
            <a:r>
              <a:rPr lang="en-US" sz="1300" dirty="0">
                <a:solidFill>
                  <a:srgbClr val="17211F"/>
                </a:solidFill>
                <a:latin typeface="Calibri" pitchFamily="34" charset="0"/>
                <a:ea typeface="Calibri" pitchFamily="34" charset="-122"/>
                <a:cs typeface="Calibri" pitchFamily="34" charset="-120"/>
              </a:rPr>
              <a:t>Submission, validation, specialist review, the HOD’s decision and the certificate — one audited record, not five disconnected tools.</a:t>
            </a:r>
            <a:endParaRPr lang="en-US" sz="1500" dirty="0"/>
          </a:p>
        </p:txBody>
      </p:sp>
      <p:sp>
        <p:nvSpPr>
          <p:cNvPr id="7" name="Shape 4"/>
          <p:cNvSpPr/>
          <p:nvPr/>
        </p:nvSpPr>
        <p:spPr>
          <a:xfrm>
            <a:off x="548640" y="2404872"/>
            <a:ext cx="594360" cy="594360"/>
          </a:xfrm>
          <a:prstGeom prst="ellipse">
            <a:avLst/>
          </a:prstGeom>
          <a:solidFill>
            <a:schemeClr val="accent1"/>
          </a:solidFill>
          <a:ln/>
        </p:spPr>
      </p:sp>
      <p:pic>
        <p:nvPicPr>
          <p:cNvPr id="8" name="Image 1" descr="C:\Users\msali\AppData\Local\Temp\claude\ppr_pitch\icons\globe.png">    </p:cNvPr>
          <p:cNvPicPr>
            <a:picLocks noChangeAspect="1"/>
          </p:cNvPicPr>
          <p:nvPr/>
        </p:nvPicPr>
        <p:blipFill>
          <a:blip r:embed="rId2"/>
          <a:stretch>
            <a:fillRect/>
          </a:stretch>
        </p:blipFill>
        <p:spPr>
          <a:xfrm>
            <a:off x="691286" y="2547518"/>
            <a:ext cx="309067" cy="309067"/>
          </a:xfrm>
          <a:prstGeom prst="rect">
            <a:avLst/>
          </a:prstGeom>
        </p:spPr>
      </p:pic>
      <p:sp>
        <p:nvSpPr>
          <p:cNvPr id="9" name="Text 5"/>
          <p:cNvSpPr txBox="1"/>
          <p:nvPr/>
        </p:nvSpPr>
        <p:spPr>
          <a:xfrm>
            <a:off x="1417320" y="2331720"/>
            <a:ext cx="10222992" cy="822960"/>
          </a:xfrm>
          <a:prstGeom prst="rect">
            <a:avLst/>
          </a:prstGeom>
          <a:noFill/>
          <a:ln/>
        </p:spPr>
        <p:txBody>
          <a:bodyPr wrap="square" lIns="0" tIns="0" rIns="0" bIns="0" rtlCol="0" anchor="t"/>
          <a:lstStyle/>
          <a:p>
            <a:pPr algn="l" indent="0" marL="0">
              <a:lnSpc>
                <a:spcPct val="115000"/>
              </a:lnSpc>
              <a:buNone/>
            </a:pPr>
            <a:r>
              <a:rPr lang="en-US" sz="1500" b="1" dirty="0">
                <a:solidFill>
                  <a:srgbClr val="0E4F4A"/>
                </a:solidFill>
                <a:latin typeface="Calibri" pitchFamily="34" charset="0"/>
                <a:ea typeface="Calibri" pitchFamily="34" charset="-122"/>
                <a:cs typeface="Calibri" pitchFamily="34" charset="-120"/>
              </a:rPr>
              <a:t>Arabic is native, not bolted on</a:t>
            </a:r>
            <a:endParaRPr lang="en-US" sz="1500" dirty="0"/>
          </a:p>
          <a:p>
            <a:pPr algn="l" indent="0" marL="0">
              <a:lnSpc>
                <a:spcPct val="115000"/>
              </a:lnSpc>
              <a:buNone/>
            </a:pPr>
            <a:r>
              <a:rPr lang="en-US" sz="1300" dirty="0">
                <a:solidFill>
                  <a:srgbClr val="17211F"/>
                </a:solidFill>
                <a:latin typeface="Calibri" pitchFamily="34" charset="0"/>
                <a:ea typeface="Calibri" pitchFamily="34" charset="-122"/>
                <a:cs typeface="Calibri" pitchFamily="34" charset="-120"/>
              </a:rPr>
              <a:t>A complete right-to-left interface in both languages — EXTEDO’s public material doesn’t document Arabic support at all.</a:t>
            </a:r>
            <a:endParaRPr lang="en-US" sz="1500" dirty="0"/>
          </a:p>
        </p:txBody>
      </p:sp>
      <p:sp>
        <p:nvSpPr>
          <p:cNvPr id="10" name="Shape 6"/>
          <p:cNvSpPr/>
          <p:nvPr/>
        </p:nvSpPr>
        <p:spPr>
          <a:xfrm>
            <a:off x="548640" y="3319272"/>
            <a:ext cx="594360" cy="594360"/>
          </a:xfrm>
          <a:prstGeom prst="ellipse">
            <a:avLst/>
          </a:prstGeom>
          <a:solidFill>
            <a:schemeClr val="accent1"/>
          </a:solidFill>
          <a:ln/>
        </p:spPr>
      </p:sp>
      <p:pic>
        <p:nvPicPr>
          <p:cNvPr id="11" name="Image 2" descr="C:\Users\msali\AppData\Local\Temp\claude\ppr_pitch\icons\ai.png">    </p:cNvPr>
          <p:cNvPicPr>
            <a:picLocks noChangeAspect="1"/>
          </p:cNvPicPr>
          <p:nvPr/>
        </p:nvPicPr>
        <p:blipFill>
          <a:blip r:embed="rId3"/>
          <a:stretch>
            <a:fillRect/>
          </a:stretch>
        </p:blipFill>
        <p:spPr>
          <a:xfrm>
            <a:off x="691286" y="3461918"/>
            <a:ext cx="309067" cy="309067"/>
          </a:xfrm>
          <a:prstGeom prst="rect">
            <a:avLst/>
          </a:prstGeom>
        </p:spPr>
      </p:pic>
      <p:sp>
        <p:nvSpPr>
          <p:cNvPr id="12" name="Text 7"/>
          <p:cNvSpPr txBox="1"/>
          <p:nvPr/>
        </p:nvSpPr>
        <p:spPr>
          <a:xfrm>
            <a:off x="1417320" y="3246120"/>
            <a:ext cx="10222992" cy="822960"/>
          </a:xfrm>
          <a:prstGeom prst="rect">
            <a:avLst/>
          </a:prstGeom>
          <a:noFill/>
          <a:ln/>
        </p:spPr>
        <p:txBody>
          <a:bodyPr wrap="square" lIns="0" tIns="0" rIns="0" bIns="0" rtlCol="0" anchor="t"/>
          <a:lstStyle/>
          <a:p>
            <a:pPr algn="l" indent="0" marL="0">
              <a:lnSpc>
                <a:spcPct val="115000"/>
              </a:lnSpc>
              <a:buNone/>
            </a:pPr>
            <a:r>
              <a:rPr lang="en-US" sz="1500" b="1" dirty="0">
                <a:solidFill>
                  <a:srgbClr val="0E4F4A"/>
                </a:solidFill>
                <a:latin typeface="Calibri" pitchFamily="34" charset="0"/>
                <a:ea typeface="Calibri" pitchFamily="34" charset="-122"/>
                <a:cs typeface="Calibri" pitchFamily="34" charset="-120"/>
              </a:rPr>
              <a:t>An AI assistant that cites its source</a:t>
            </a:r>
            <a:endParaRPr lang="en-US" sz="1500" dirty="0"/>
          </a:p>
          <a:p>
            <a:pPr algn="l" indent="0" marL="0">
              <a:lnSpc>
                <a:spcPct val="115000"/>
              </a:lnSpc>
              <a:buNone/>
            </a:pPr>
            <a:r>
              <a:rPr lang="en-US" sz="1300" dirty="0">
                <a:solidFill>
                  <a:srgbClr val="17211F"/>
                </a:solidFill>
                <a:latin typeface="Calibri" pitchFamily="34" charset="0"/>
                <a:ea typeface="Calibri" pitchFamily="34" charset="-122"/>
                <a:cs typeface="Calibri" pitchFamily="34" charset="-120"/>
              </a:rPr>
              <a:t>Ask about composition, stability or a validation finding; every answer links to the exact document and page.</a:t>
            </a:r>
            <a:endParaRPr lang="en-US" sz="1500" dirty="0"/>
          </a:p>
        </p:txBody>
      </p:sp>
      <p:sp>
        <p:nvSpPr>
          <p:cNvPr id="13" name="Shape 8"/>
          <p:cNvSpPr/>
          <p:nvPr/>
        </p:nvSpPr>
        <p:spPr>
          <a:xfrm>
            <a:off x="548640" y="4233672"/>
            <a:ext cx="594360" cy="594360"/>
          </a:xfrm>
          <a:prstGeom prst="ellipse">
            <a:avLst/>
          </a:prstGeom>
          <a:solidFill>
            <a:schemeClr val="accent1"/>
          </a:solidFill>
          <a:ln/>
        </p:spPr>
      </p:sp>
      <p:pic>
        <p:nvPicPr>
          <p:cNvPr id="14" name="Image 3" descr="C:\Users\msali\AppData\Local\Temp\claude\ppr_pitch\icons\review.png">    </p:cNvPr>
          <p:cNvPicPr>
            <a:picLocks noChangeAspect="1"/>
          </p:cNvPicPr>
          <p:nvPr/>
        </p:nvPicPr>
        <p:blipFill>
          <a:blip r:embed="rId4"/>
          <a:stretch>
            <a:fillRect/>
          </a:stretch>
        </p:blipFill>
        <p:spPr>
          <a:xfrm>
            <a:off x="691286" y="4376318"/>
            <a:ext cx="309067" cy="309067"/>
          </a:xfrm>
          <a:prstGeom prst="rect">
            <a:avLst/>
          </a:prstGeom>
        </p:spPr>
      </p:pic>
      <p:sp>
        <p:nvSpPr>
          <p:cNvPr id="15" name="Text 9"/>
          <p:cNvSpPr txBox="1"/>
          <p:nvPr/>
        </p:nvSpPr>
        <p:spPr>
          <a:xfrm>
            <a:off x="1417320" y="4160520"/>
            <a:ext cx="10222992" cy="822960"/>
          </a:xfrm>
          <a:prstGeom prst="rect">
            <a:avLst/>
          </a:prstGeom>
          <a:noFill/>
          <a:ln/>
        </p:spPr>
        <p:txBody>
          <a:bodyPr wrap="square" lIns="0" tIns="0" rIns="0" bIns="0" rtlCol="0" anchor="t"/>
          <a:lstStyle/>
          <a:p>
            <a:pPr algn="l" indent="0" marL="0">
              <a:lnSpc>
                <a:spcPct val="115000"/>
              </a:lnSpc>
              <a:buNone/>
            </a:pPr>
            <a:r>
              <a:rPr lang="en-US" sz="1500" b="1" dirty="0">
                <a:solidFill>
                  <a:srgbClr val="0E4F4A"/>
                </a:solidFill>
                <a:latin typeface="Calibri" pitchFamily="34" charset="0"/>
                <a:ea typeface="Calibri" pitchFamily="34" charset="-122"/>
                <a:cs typeface="Calibri" pitchFamily="34" charset="-120"/>
              </a:rPr>
              <a:t>Specialist review, balanced automatically</a:t>
            </a:r>
            <a:endParaRPr lang="en-US" sz="1500" dirty="0"/>
          </a:p>
          <a:p>
            <a:pPr algn="l" indent="0" marL="0">
              <a:lnSpc>
                <a:spcPct val="115000"/>
              </a:lnSpc>
              <a:buNone/>
            </a:pPr>
            <a:r>
              <a:rPr lang="en-US" sz="1300" dirty="0">
                <a:solidFill>
                  <a:srgbClr val="17211F"/>
                </a:solidFill>
                <a:latin typeface="Calibri" pitchFamily="34" charset="0"/>
                <a:ea typeface="Calibri" pitchFamily="34" charset="-122"/>
                <a:cs typeface="Calibri" pitchFamily="34" charset="-120"/>
              </a:rPr>
              <a:t>One qualified reviewer per CTD module, assigned by current workload — not a manual roster.</a:t>
            </a:r>
            <a:endParaRPr lang="en-US" sz="1500" dirty="0"/>
          </a:p>
        </p:txBody>
      </p:sp>
      <p:sp>
        <p:nvSpPr>
          <p:cNvPr id="16" name="Shape 10"/>
          <p:cNvSpPr/>
          <p:nvPr/>
        </p:nvSpPr>
        <p:spPr>
          <a:xfrm>
            <a:off x="548640" y="5148072"/>
            <a:ext cx="594360" cy="594360"/>
          </a:xfrm>
          <a:prstGeom prst="ellipse">
            <a:avLst/>
          </a:prstGeom>
          <a:solidFill>
            <a:schemeClr val="accent1"/>
          </a:solidFill>
          <a:ln/>
        </p:spPr>
      </p:sp>
      <p:pic>
        <p:nvPicPr>
          <p:cNvPr id="17" name="Image 4" descr="C:\Users\msali\AppData\Local\Temp\claude\ppr_pitch\icons\coins.png">    </p:cNvPr>
          <p:cNvPicPr>
            <a:picLocks noChangeAspect="1"/>
          </p:cNvPicPr>
          <p:nvPr/>
        </p:nvPicPr>
        <p:blipFill>
          <a:blip r:embed="rId5"/>
          <a:stretch>
            <a:fillRect/>
          </a:stretch>
        </p:blipFill>
        <p:spPr>
          <a:xfrm>
            <a:off x="691286" y="5290718"/>
            <a:ext cx="309067" cy="309067"/>
          </a:xfrm>
          <a:prstGeom prst="rect">
            <a:avLst/>
          </a:prstGeom>
        </p:spPr>
      </p:pic>
      <p:sp>
        <p:nvSpPr>
          <p:cNvPr id="18" name="Text 11"/>
          <p:cNvSpPr txBox="1"/>
          <p:nvPr/>
        </p:nvSpPr>
        <p:spPr>
          <a:xfrm>
            <a:off x="1417320" y="5074920"/>
            <a:ext cx="10222992" cy="822960"/>
          </a:xfrm>
          <a:prstGeom prst="rect">
            <a:avLst/>
          </a:prstGeom>
          <a:noFill/>
          <a:ln/>
        </p:spPr>
        <p:txBody>
          <a:bodyPr wrap="square" lIns="0" tIns="0" rIns="0" bIns="0" rtlCol="0" anchor="t"/>
          <a:lstStyle/>
          <a:p>
            <a:pPr algn="l" indent="0" marL="0">
              <a:lnSpc>
                <a:spcPct val="115000"/>
              </a:lnSpc>
              <a:buNone/>
            </a:pPr>
            <a:r>
              <a:rPr lang="en-US" sz="1500" b="1" dirty="0">
                <a:solidFill>
                  <a:srgbClr val="0E4F4A"/>
                </a:solidFill>
                <a:latin typeface="Calibri" pitchFamily="34" charset="0"/>
                <a:ea typeface="Calibri" pitchFamily="34" charset="-122"/>
                <a:cs typeface="Calibri" pitchFamily="34" charset="-120"/>
              </a:rPr>
              <a:t>Owned outright, not licensed</a:t>
            </a:r>
            <a:endParaRPr lang="en-US" sz="1500" dirty="0"/>
          </a:p>
          <a:p>
            <a:pPr algn="l" indent="0" marL="0">
              <a:lnSpc>
                <a:spcPct val="115000"/>
              </a:lnSpc>
              <a:buNone/>
            </a:pPr>
            <a:r>
              <a:rPr lang="en-US" sz="1300" dirty="0">
                <a:solidFill>
                  <a:srgbClr val="17211F"/>
                </a:solidFill>
                <a:latin typeface="Calibri" pitchFamily="34" charset="0"/>
                <a:ea typeface="Calibri" pitchFamily="34" charset="-122"/>
                <a:cs typeface="Calibri" pitchFamily="34" charset="-120"/>
              </a:rPr>
              <a:t>No seat fees, no per-region validation-set subscription. A change the Department asks for ships the same week.</a:t>
            </a:r>
            <a:endParaRPr lang="en-US" sz="1500" dirty="0"/>
          </a:p>
        </p:txBody>
      </p:sp>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058400" cy="292608"/>
          </a:xfrm>
          <a:prstGeom prst="rect">
            <a:avLst/>
          </a:prstGeom>
          <a:noFill/>
          <a:ln/>
        </p:spPr>
        <p:txBody>
          <a:bodyPr wrap="square" rtlCol="0"/>
          <a:lstStyle/>
          <a:p>
            <a:pPr algn="l" indent="0" marL="0">
              <a:buNone/>
            </a:pPr>
            <a:r>
              <a:rPr lang="en-US" sz="1300" b="1" spc="150" kern="0" dirty="0">
                <a:solidFill>
                  <a:schemeClr val="accent2"/>
                </a:solidFill>
                <a:latin typeface="Calibri" pitchFamily="34" charset="0"/>
                <a:ea typeface="Calibri" pitchFamily="34" charset="-122"/>
                <a:cs typeface="Calibri" pitchFamily="34" charset="-120"/>
              </a:rPr>
              <a:t>HEAD-TO-HEAD</a:t>
            </a:r>
            <a:endParaRPr lang="en-US" sz="1300" dirty="0"/>
          </a:p>
        </p:txBody>
      </p:sp>
      <p:sp>
        <p:nvSpPr>
          <p:cNvPr id="3" name="Text 0"/>
          <p:cNvSpPr/>
          <p:nvPr>
            <p:ph idx="101" type="title" hasCustomPrompt="1"/>
          </p:nvPr>
        </p:nvSpPr>
        <p:spPr>
          <a:xfrm>
            <a:off x="548640" y="676656"/>
            <a:ext cx="11094415" cy="566928"/>
          </a:xfrm>
          <a:prstGeom prst="rect">
            <a:avLst/>
          </a:prstGeom>
          <a:noFill/>
          <a:ln/>
        </p:spPr>
        <p:txBody>
          <a:bodyPr wrap="square" rtlCol="0"/>
          <a:lstStyle/>
          <a:p>
            <a:pPr algn="l" indent="0" marL="0">
              <a:buNone/>
            </a:pPr>
            <a:r>
              <a:rPr lang="en-US" sz="3000" b="1" dirty="0">
                <a:solidFill>
                  <a:schemeClr val="tx1"/>
                </a:solidFill>
                <a:latin typeface="Cambria" pitchFamily="34" charset="0"/>
                <a:ea typeface="Cambria" pitchFamily="34" charset="-122"/>
                <a:cs typeface="Cambria" pitchFamily="34" charset="-120"/>
              </a:rPr>
              <a:t>The gaps we had — and how fast they closed</a:t>
            </a:r>
            <a:endParaRPr lang="en-US" sz="3000" dirty="0"/>
          </a:p>
        </p:txBody>
      </p:sp>
      <p:sp>
        <p:nvSpPr>
          <p:cNvPr id="4" name="Text 2"/>
          <p:cNvSpPr txBox="1"/>
          <p:nvPr/>
        </p:nvSpPr>
        <p:spPr>
          <a:xfrm>
            <a:off x="548640" y="1298448"/>
            <a:ext cx="11094415" cy="292608"/>
          </a:xfrm>
          <a:prstGeom prst="rect">
            <a:avLst/>
          </a:prstGeom>
          <a:noFill/>
          <a:ln/>
        </p:spPr>
        <p:txBody>
          <a:bodyPr wrap="square" lIns="0" tIns="0" rIns="0" bIns="0" rtlCol="0" anchor="ctr"/>
          <a:lstStyle/>
          <a:p>
            <a:pPr algn="l" indent="0" marL="0">
              <a:buNone/>
            </a:pPr>
            <a:r>
              <a:rPr lang="en-US" sz="1300" i="1" dirty="0">
                <a:solidFill>
                  <a:schemeClr val="accent4"/>
                </a:solidFill>
                <a:latin typeface="Calibri" pitchFamily="34" charset="0"/>
                <a:ea typeface="Calibri" pitchFamily="34" charset="-122"/>
                <a:cs typeface="Calibri" pitchFamily="34" charset="-120"/>
              </a:rPr>
              <a:t>Assessed 18 October 2026 against EXTEDO’s EURSvalidator. Status shown as of today, 21 October 2026.</a:t>
            </a:r>
            <a:endParaRPr lang="en-US" sz="1300" dirty="0"/>
          </a:p>
        </p:txBody>
      </p:sp>
      <p:sp>
        <p:nvSpPr>
          <p:cNvPr id="5" name="Text 3"/>
          <p:cNvSpPr txBox="1"/>
          <p:nvPr/>
        </p:nvSpPr>
        <p:spPr>
          <a:xfrm>
            <a:off x="548640" y="1965960"/>
            <a:ext cx="4206240" cy="731520"/>
          </a:xfrm>
          <a:prstGeom prst="rect">
            <a:avLst/>
          </a:prstGeom>
          <a:noFill/>
          <a:ln/>
        </p:spPr>
        <p:txBody>
          <a:bodyPr wrap="square" lIns="0" tIns="0" rIns="0" bIns="0" rtlCol="0" anchor="t"/>
          <a:lstStyle/>
          <a:p>
            <a:pPr algn="l" indent="0" marL="0">
              <a:buNone/>
            </a:pPr>
            <a:r>
              <a:rPr lang="en-US" sz="1300" b="1" dirty="0">
                <a:solidFill>
                  <a:srgbClr val="17211F"/>
                </a:solidFill>
                <a:latin typeface="Calibri" pitchFamily="34" charset="0"/>
                <a:ea typeface="Calibri" pitchFamily="34" charset="-122"/>
                <a:cs typeface="Calibri" pitchFamily="34" charset="-120"/>
              </a:rPr>
              <a:t>Reference DTD, not the official one</a:t>
            </a:r>
            <a:endParaRPr lang="en-US" sz="1300" dirty="0"/>
          </a:p>
        </p:txBody>
      </p:sp>
      <p:sp>
        <p:nvSpPr>
          <p:cNvPr id="6" name="Shape 4"/>
          <p:cNvSpPr/>
          <p:nvPr/>
        </p:nvSpPr>
        <p:spPr>
          <a:xfrm>
            <a:off x="4937760" y="1984248"/>
            <a:ext cx="329184" cy="329184"/>
          </a:xfrm>
          <a:prstGeom prst="ellipse">
            <a:avLst/>
          </a:prstGeom>
          <a:solidFill>
            <a:schemeClr val="accent1"/>
          </a:solidFill>
          <a:ln/>
        </p:spPr>
      </p:sp>
      <p:pic>
        <p:nvPicPr>
          <p:cNvPr id="7" name="Image 0" descr="C:\Users\msali\AppData\Local\Temp\claude\ppr_pitch\icons\checkcircle.png">    </p:cNvPr>
          <p:cNvPicPr>
            <a:picLocks noChangeAspect="1"/>
          </p:cNvPicPr>
          <p:nvPr/>
        </p:nvPicPr>
        <p:blipFill>
          <a:blip r:embed="rId1"/>
          <a:stretch>
            <a:fillRect/>
          </a:stretch>
        </p:blipFill>
        <p:spPr>
          <a:xfrm>
            <a:off x="5016764" y="2063252"/>
            <a:ext cx="171176" cy="171176"/>
          </a:xfrm>
          <a:prstGeom prst="rect">
            <a:avLst/>
          </a:prstGeom>
        </p:spPr>
      </p:pic>
      <p:sp>
        <p:nvSpPr>
          <p:cNvPr id="8" name="Text 5"/>
          <p:cNvSpPr txBox="1"/>
          <p:nvPr/>
        </p:nvSpPr>
        <p:spPr>
          <a:xfrm>
            <a:off x="5394960" y="1965960"/>
            <a:ext cx="5852160" cy="731520"/>
          </a:xfrm>
          <a:prstGeom prst="rect">
            <a:avLst/>
          </a:prstGeom>
          <a:noFill/>
          <a:ln/>
        </p:spPr>
        <p:txBody>
          <a:bodyPr wrap="square" lIns="0" tIns="0" rIns="0" bIns="0" rtlCol="0" anchor="t"/>
          <a:lstStyle/>
          <a:p>
            <a:pPr algn="l" indent="0" marL="0">
              <a:buNone/>
            </a:pPr>
            <a:r>
              <a:rPr lang="en-US" sz="1200" b="1" dirty="0">
                <a:solidFill>
                  <a:srgbClr val="0E4F4A"/>
                </a:solidFill>
                <a:latin typeface="Calibri" pitchFamily="34" charset="0"/>
                <a:ea typeface="Calibri" pitchFamily="34" charset="-122"/>
                <a:cs typeface="Calibri" pitchFamily="34" charset="-120"/>
              </a:rPr>
              <a:t>CLOSED — </a:t>
            </a:r>
            <a:pPr algn="l" indent="0" marL="0">
              <a:buNone/>
            </a:pPr>
            <a:r>
              <a:rPr lang="en-US" sz="1200" dirty="0">
                <a:solidFill>
                  <a:srgbClr val="17211F"/>
                </a:solidFill>
                <a:latin typeface="Calibri" pitchFamily="34" charset="0"/>
                <a:ea typeface="Calibri" pitchFamily="34" charset="-122"/>
                <a:cs typeface="Calibri" pitchFamily="34" charset="-120"/>
              </a:rPr>
              <a:t>The official ICH eCTD 3.2 DTD is now bundled unchanged.</a:t>
            </a:r>
            <a:endParaRPr lang="en-US" sz="1200" dirty="0"/>
          </a:p>
        </p:txBody>
      </p:sp>
      <p:sp>
        <p:nvSpPr>
          <p:cNvPr id="9" name="Text 6"/>
          <p:cNvSpPr txBox="1"/>
          <p:nvPr/>
        </p:nvSpPr>
        <p:spPr>
          <a:xfrm>
            <a:off x="548640" y="2743200"/>
            <a:ext cx="4206240" cy="731520"/>
          </a:xfrm>
          <a:prstGeom prst="rect">
            <a:avLst/>
          </a:prstGeom>
          <a:noFill/>
          <a:ln/>
        </p:spPr>
        <p:txBody>
          <a:bodyPr wrap="square" lIns="0" tIns="0" rIns="0" bIns="0" rtlCol="0" anchor="t"/>
          <a:lstStyle/>
          <a:p>
            <a:pPr algn="l" indent="0" marL="0">
              <a:buNone/>
            </a:pPr>
            <a:r>
              <a:rPr lang="en-US" sz="1300" b="1" dirty="0">
                <a:solidFill>
                  <a:srgbClr val="17211F"/>
                </a:solidFill>
                <a:latin typeface="Calibri" pitchFamily="34" charset="0"/>
                <a:ea typeface="Calibri" pitchFamily="34" charset="-122"/>
                <a:cs typeface="Calibri" pitchFamily="34" charset="-120"/>
              </a:rPr>
              <a:t>GCC Module 1 checked for well-formedness only</a:t>
            </a:r>
            <a:endParaRPr lang="en-US" sz="1300" dirty="0"/>
          </a:p>
        </p:txBody>
      </p:sp>
      <p:sp>
        <p:nvSpPr>
          <p:cNvPr id="10" name="Shape 7"/>
          <p:cNvSpPr/>
          <p:nvPr/>
        </p:nvSpPr>
        <p:spPr>
          <a:xfrm>
            <a:off x="4937760" y="2761488"/>
            <a:ext cx="329184" cy="329184"/>
          </a:xfrm>
          <a:prstGeom prst="ellipse">
            <a:avLst/>
          </a:prstGeom>
          <a:solidFill>
            <a:schemeClr val="accent1"/>
          </a:solidFill>
          <a:ln/>
        </p:spPr>
      </p:sp>
      <p:pic>
        <p:nvPicPr>
          <p:cNvPr id="11" name="Image 1" descr="C:\Users\msali\AppData\Local\Temp\claude\ppr_pitch\icons\checkcircle.png">    </p:cNvPr>
          <p:cNvPicPr>
            <a:picLocks noChangeAspect="1"/>
          </p:cNvPicPr>
          <p:nvPr/>
        </p:nvPicPr>
        <p:blipFill>
          <a:blip r:embed="rId2"/>
          <a:stretch>
            <a:fillRect/>
          </a:stretch>
        </p:blipFill>
        <p:spPr>
          <a:xfrm>
            <a:off x="5016764" y="2840492"/>
            <a:ext cx="171176" cy="171176"/>
          </a:xfrm>
          <a:prstGeom prst="rect">
            <a:avLst/>
          </a:prstGeom>
        </p:spPr>
      </p:pic>
      <p:sp>
        <p:nvSpPr>
          <p:cNvPr id="12" name="Text 8"/>
          <p:cNvSpPr txBox="1"/>
          <p:nvPr/>
        </p:nvSpPr>
        <p:spPr>
          <a:xfrm>
            <a:off x="5394960" y="2743200"/>
            <a:ext cx="5852160" cy="731520"/>
          </a:xfrm>
          <a:prstGeom prst="rect">
            <a:avLst/>
          </a:prstGeom>
          <a:noFill/>
          <a:ln/>
        </p:spPr>
        <p:txBody>
          <a:bodyPr wrap="square" lIns="0" tIns="0" rIns="0" bIns="0" rtlCol="0" anchor="t"/>
          <a:lstStyle/>
          <a:p>
            <a:pPr algn="l" indent="0" marL="0">
              <a:buNone/>
            </a:pPr>
            <a:r>
              <a:rPr lang="en-US" sz="1200" b="1" dirty="0">
                <a:solidFill>
                  <a:srgbClr val="0E4F4A"/>
                </a:solidFill>
                <a:latin typeface="Calibri" pitchFamily="34" charset="0"/>
                <a:ea typeface="Calibri" pitchFamily="34" charset="-122"/>
                <a:cs typeface="Calibri" pitchFamily="34" charset="-120"/>
              </a:rPr>
              <a:t>CLOSED — </a:t>
            </a:r>
            <a:pPr algn="l" indent="0" marL="0">
              <a:buNone/>
            </a:pPr>
            <a:r>
              <a:rPr lang="en-US" sz="1200" dirty="0">
                <a:solidFill>
                  <a:srgbClr val="17211F"/>
                </a:solidFill>
                <a:latin typeface="Calibri" pitchFamily="34" charset="0"/>
                <a:ea typeface="Calibri" pitchFamily="34" charset="-122"/>
                <a:cs typeface="Calibri" pitchFamily="34" charset="-120"/>
              </a:rPr>
              <a:t>Full GCC Module 1 v1.5 criteria implemented as validation rules.</a:t>
            </a:r>
            <a:endParaRPr lang="en-US" sz="1200" dirty="0"/>
          </a:p>
        </p:txBody>
      </p:sp>
      <p:sp>
        <p:nvSpPr>
          <p:cNvPr id="13" name="Text 9"/>
          <p:cNvSpPr txBox="1"/>
          <p:nvPr/>
        </p:nvSpPr>
        <p:spPr>
          <a:xfrm>
            <a:off x="548640" y="3520440"/>
            <a:ext cx="4206240" cy="731520"/>
          </a:xfrm>
          <a:prstGeom prst="rect">
            <a:avLst/>
          </a:prstGeom>
          <a:noFill/>
          <a:ln/>
        </p:spPr>
        <p:txBody>
          <a:bodyPr wrap="square" lIns="0" tIns="0" rIns="0" bIns="0" rtlCol="0" anchor="t"/>
          <a:lstStyle/>
          <a:p>
            <a:pPr algn="l" indent="0" marL="0">
              <a:buNone/>
            </a:pPr>
            <a:r>
              <a:rPr lang="en-US" sz="1300" b="1" dirty="0">
                <a:solidFill>
                  <a:srgbClr val="17211F"/>
                </a:solidFill>
                <a:latin typeface="Calibri" pitchFamily="34" charset="0"/>
                <a:ea typeface="Calibri" pitchFamily="34" charset="-122"/>
                <a:cs typeface="Calibri" pitchFamily="34" charset="-120"/>
              </a:rPr>
              <a:t>Synchronous validation blocks large dossiers</a:t>
            </a:r>
            <a:endParaRPr lang="en-US" sz="1300" dirty="0"/>
          </a:p>
        </p:txBody>
      </p:sp>
      <p:sp>
        <p:nvSpPr>
          <p:cNvPr id="14" name="Shape 10"/>
          <p:cNvSpPr/>
          <p:nvPr/>
        </p:nvSpPr>
        <p:spPr>
          <a:xfrm>
            <a:off x="4937760" y="3538728"/>
            <a:ext cx="329184" cy="329184"/>
          </a:xfrm>
          <a:prstGeom prst="ellipse">
            <a:avLst/>
          </a:prstGeom>
          <a:solidFill>
            <a:schemeClr val="accent1"/>
          </a:solidFill>
          <a:ln/>
        </p:spPr>
      </p:sp>
      <p:pic>
        <p:nvPicPr>
          <p:cNvPr id="15" name="Image 2" descr="C:\Users\msali\AppData\Local\Temp\claude\ppr_pitch\icons\checkcircle.png">    </p:cNvPr>
          <p:cNvPicPr>
            <a:picLocks noChangeAspect="1"/>
          </p:cNvPicPr>
          <p:nvPr/>
        </p:nvPicPr>
        <p:blipFill>
          <a:blip r:embed="rId3"/>
          <a:stretch>
            <a:fillRect/>
          </a:stretch>
        </p:blipFill>
        <p:spPr>
          <a:xfrm>
            <a:off x="5016764" y="3617732"/>
            <a:ext cx="171176" cy="171176"/>
          </a:xfrm>
          <a:prstGeom prst="rect">
            <a:avLst/>
          </a:prstGeom>
        </p:spPr>
      </p:pic>
      <p:sp>
        <p:nvSpPr>
          <p:cNvPr id="16" name="Text 11"/>
          <p:cNvSpPr txBox="1"/>
          <p:nvPr/>
        </p:nvSpPr>
        <p:spPr>
          <a:xfrm>
            <a:off x="5394960" y="3520440"/>
            <a:ext cx="5852160" cy="731520"/>
          </a:xfrm>
          <a:prstGeom prst="rect">
            <a:avLst/>
          </a:prstGeom>
          <a:noFill/>
          <a:ln/>
        </p:spPr>
        <p:txBody>
          <a:bodyPr wrap="square" lIns="0" tIns="0" rIns="0" bIns="0" rtlCol="0" anchor="t"/>
          <a:lstStyle/>
          <a:p>
            <a:pPr algn="l" indent="0" marL="0">
              <a:buNone/>
            </a:pPr>
            <a:r>
              <a:rPr lang="en-US" sz="1200" b="1" dirty="0">
                <a:solidFill>
                  <a:srgbClr val="0E4F4A"/>
                </a:solidFill>
                <a:latin typeface="Calibri" pitchFamily="34" charset="0"/>
                <a:ea typeface="Calibri" pitchFamily="34" charset="-122"/>
                <a:cs typeface="Calibri" pitchFamily="34" charset="-120"/>
              </a:rPr>
              <a:t>CLOSED — </a:t>
            </a:r>
            <a:pPr algn="l" indent="0" marL="0">
              <a:buNone/>
            </a:pPr>
            <a:r>
              <a:rPr lang="en-US" sz="1200" dirty="0">
                <a:solidFill>
                  <a:srgbClr val="17211F"/>
                </a:solidFill>
                <a:latin typeface="Calibri" pitchFamily="34" charset="0"/>
                <a:ea typeface="Calibri" pitchFamily="34" charset="-122"/>
                <a:cs typeface="Calibri" pitchFamily="34" charset="-120"/>
              </a:rPr>
              <a:t>A background validation worker now runs in production mode.</a:t>
            </a:r>
            <a:endParaRPr lang="en-US" sz="1200" dirty="0"/>
          </a:p>
        </p:txBody>
      </p:sp>
      <p:sp>
        <p:nvSpPr>
          <p:cNvPr id="17" name="Text 12"/>
          <p:cNvSpPr txBox="1"/>
          <p:nvPr/>
        </p:nvSpPr>
        <p:spPr>
          <a:xfrm>
            <a:off x="548640" y="4297680"/>
            <a:ext cx="4206240" cy="731520"/>
          </a:xfrm>
          <a:prstGeom prst="rect">
            <a:avLst/>
          </a:prstGeom>
          <a:noFill/>
          <a:ln/>
        </p:spPr>
        <p:txBody>
          <a:bodyPr wrap="square" lIns="0" tIns="0" rIns="0" bIns="0" rtlCol="0" anchor="t"/>
          <a:lstStyle/>
          <a:p>
            <a:pPr algn="l" indent="0" marL="0">
              <a:buNone/>
            </a:pPr>
            <a:r>
              <a:rPr lang="en-US" sz="1300" b="1" dirty="0">
                <a:solidFill>
                  <a:srgbClr val="17211F"/>
                </a:solidFill>
                <a:latin typeface="Calibri" pitchFamily="34" charset="0"/>
                <a:ea typeface="Calibri" pitchFamily="34" charset="-122"/>
                <a:cs typeface="Calibri" pitchFamily="34" charset="-120"/>
              </a:rPr>
              <a:t>No formal system validation documentation</a:t>
            </a:r>
            <a:endParaRPr lang="en-US" sz="1300" dirty="0"/>
          </a:p>
        </p:txBody>
      </p:sp>
      <p:sp>
        <p:nvSpPr>
          <p:cNvPr id="18" name="Shape 13"/>
          <p:cNvSpPr/>
          <p:nvPr/>
        </p:nvSpPr>
        <p:spPr>
          <a:xfrm>
            <a:off x="4937760" y="4315968"/>
            <a:ext cx="329184" cy="329184"/>
          </a:xfrm>
          <a:prstGeom prst="ellipse">
            <a:avLst/>
          </a:prstGeom>
          <a:solidFill>
            <a:schemeClr val="accent3"/>
          </a:solidFill>
          <a:ln/>
        </p:spPr>
      </p:sp>
      <p:pic>
        <p:nvPicPr>
          <p:cNvPr id="19" name="Image 3" descr="C:\Users\msali\AppData\Local\Temp\claude\ppr_pitch\icons\hourglass.png">    </p:cNvPr>
          <p:cNvPicPr>
            <a:picLocks noChangeAspect="1"/>
          </p:cNvPicPr>
          <p:nvPr/>
        </p:nvPicPr>
        <p:blipFill>
          <a:blip r:embed="rId4"/>
          <a:stretch>
            <a:fillRect/>
          </a:stretch>
        </p:blipFill>
        <p:spPr>
          <a:xfrm>
            <a:off x="5016764" y="4394972"/>
            <a:ext cx="171176" cy="171176"/>
          </a:xfrm>
          <a:prstGeom prst="rect">
            <a:avLst/>
          </a:prstGeom>
        </p:spPr>
      </p:pic>
      <p:sp>
        <p:nvSpPr>
          <p:cNvPr id="20" name="Text 14"/>
          <p:cNvSpPr txBox="1"/>
          <p:nvPr/>
        </p:nvSpPr>
        <p:spPr>
          <a:xfrm>
            <a:off x="5394960" y="4297680"/>
            <a:ext cx="5852160" cy="731520"/>
          </a:xfrm>
          <a:prstGeom prst="rect">
            <a:avLst/>
          </a:prstGeom>
          <a:noFill/>
          <a:ln/>
        </p:spPr>
        <p:txBody>
          <a:bodyPr wrap="square" lIns="0" tIns="0" rIns="0" bIns="0" rtlCol="0" anchor="t"/>
          <a:lstStyle/>
          <a:p>
            <a:pPr algn="l" indent="0" marL="0">
              <a:buNone/>
            </a:pPr>
            <a:r>
              <a:rPr lang="en-US" sz="1200" b="1" dirty="0">
                <a:solidFill>
                  <a:srgbClr val="D9A441"/>
                </a:solidFill>
                <a:latin typeface="Calibri" pitchFamily="34" charset="0"/>
                <a:ea typeface="Calibri" pitchFamily="34" charset="-122"/>
                <a:cs typeface="Calibri" pitchFamily="34" charset="-120"/>
              </a:rPr>
              <a:t>IN PROGRESS — </a:t>
            </a:r>
            <a:pPr algn="l" indent="0" marL="0">
              <a:buNone/>
            </a:pPr>
            <a:r>
              <a:rPr lang="en-US" sz="1200" dirty="0">
                <a:solidFill>
                  <a:srgbClr val="17211F"/>
                </a:solidFill>
                <a:latin typeface="Calibri" pitchFamily="34" charset="0"/>
                <a:ea typeface="Calibri" pitchFamily="34" charset="-122"/>
                <a:cs typeface="Calibri" pitchFamily="34" charset="-120"/>
              </a:rPr>
              <a:t>GAMP-5 pack drafted: URS, risk assessment, IQ/OQ/PQ, auto traceability — toward HOD sign-off.</a:t>
            </a:r>
            <a:endParaRPr lang="en-US" sz="1200" dirty="0"/>
          </a:p>
        </p:txBody>
      </p:sp>
      <p:sp>
        <p:nvSpPr>
          <p:cNvPr id="21" name="Text 15"/>
          <p:cNvSpPr txBox="1"/>
          <p:nvPr/>
        </p:nvSpPr>
        <p:spPr>
          <a:xfrm>
            <a:off x="548640" y="5074920"/>
            <a:ext cx="4206240" cy="731520"/>
          </a:xfrm>
          <a:prstGeom prst="rect">
            <a:avLst/>
          </a:prstGeom>
          <a:noFill/>
          <a:ln/>
        </p:spPr>
        <p:txBody>
          <a:bodyPr wrap="square" lIns="0" tIns="0" rIns="0" bIns="0" rtlCol="0" anchor="t"/>
          <a:lstStyle/>
          <a:p>
            <a:pPr algn="l" indent="0" marL="0">
              <a:buNone/>
            </a:pPr>
            <a:r>
              <a:rPr lang="en-US" sz="1300" b="1" dirty="0">
                <a:solidFill>
                  <a:srgbClr val="17211F"/>
                </a:solidFill>
                <a:latin typeface="Calibri" pitchFamily="34" charset="0"/>
                <a:ea typeface="Calibri" pitchFamily="34" charset="-122"/>
                <a:cs typeface="Calibri" pitchFamily="34" charset="-120"/>
              </a:rPr>
              <a:t>No benchmark against a reference validator</a:t>
            </a:r>
            <a:endParaRPr lang="en-US" sz="1300" dirty="0"/>
          </a:p>
        </p:txBody>
      </p:sp>
      <p:sp>
        <p:nvSpPr>
          <p:cNvPr id="22" name="Shape 16"/>
          <p:cNvSpPr/>
          <p:nvPr/>
        </p:nvSpPr>
        <p:spPr>
          <a:xfrm>
            <a:off x="4937760" y="5093208"/>
            <a:ext cx="329184" cy="329184"/>
          </a:xfrm>
          <a:prstGeom prst="ellipse">
            <a:avLst/>
          </a:prstGeom>
          <a:solidFill>
            <a:schemeClr val="accent3"/>
          </a:solidFill>
          <a:ln/>
        </p:spPr>
      </p:sp>
      <p:pic>
        <p:nvPicPr>
          <p:cNvPr id="23" name="Image 4" descr="C:\Users\msali\AppData\Local\Temp\claude\ppr_pitch\icons\hourglass.png">    </p:cNvPr>
          <p:cNvPicPr>
            <a:picLocks noChangeAspect="1"/>
          </p:cNvPicPr>
          <p:nvPr/>
        </p:nvPicPr>
        <p:blipFill>
          <a:blip r:embed="rId5"/>
          <a:stretch>
            <a:fillRect/>
          </a:stretch>
        </p:blipFill>
        <p:spPr>
          <a:xfrm>
            <a:off x="5016764" y="5172212"/>
            <a:ext cx="171176" cy="171176"/>
          </a:xfrm>
          <a:prstGeom prst="rect">
            <a:avLst/>
          </a:prstGeom>
        </p:spPr>
      </p:pic>
      <p:sp>
        <p:nvSpPr>
          <p:cNvPr id="24" name="Text 17"/>
          <p:cNvSpPr txBox="1"/>
          <p:nvPr/>
        </p:nvSpPr>
        <p:spPr>
          <a:xfrm>
            <a:off x="5394960" y="5074920"/>
            <a:ext cx="5852160" cy="731520"/>
          </a:xfrm>
          <a:prstGeom prst="rect">
            <a:avLst/>
          </a:prstGeom>
          <a:noFill/>
          <a:ln/>
        </p:spPr>
        <p:txBody>
          <a:bodyPr wrap="square" lIns="0" tIns="0" rIns="0" bIns="0" rtlCol="0" anchor="t"/>
          <a:lstStyle/>
          <a:p>
            <a:pPr algn="l" indent="0" marL="0">
              <a:buNone/>
            </a:pPr>
            <a:r>
              <a:rPr lang="en-US" sz="1200" b="1" dirty="0">
                <a:solidFill>
                  <a:srgbClr val="D9A441"/>
                </a:solidFill>
                <a:latin typeface="Calibri" pitchFamily="34" charset="0"/>
                <a:ea typeface="Calibri" pitchFamily="34" charset="-122"/>
                <a:cs typeface="Calibri" pitchFamily="34" charset="-120"/>
              </a:rPr>
              <a:t>IN PROGRESS — </a:t>
            </a:r>
            <a:pPr algn="l" indent="0" marL="0">
              <a:buNone/>
            </a:pPr>
            <a:r>
              <a:rPr lang="en-US" sz="1200" dirty="0">
                <a:solidFill>
                  <a:srgbClr val="17211F"/>
                </a:solidFill>
                <a:latin typeface="Calibri" pitchFamily="34" charset="0"/>
                <a:ea typeface="Calibri" pitchFamily="34" charset="-122"/>
                <a:cs typeface="Calibri" pitchFamily="34" charset="-120"/>
              </a:rPr>
              <a:t>Benchmark tooling built and exportable; a side-by-side run against EURSvalidator is scheduled.</a:t>
            </a:r>
            <a:endParaRPr lang="en-US" sz="1200" dirty="0"/>
          </a:p>
        </p:txBody>
      </p:sp>
      <p:sp>
        <p:nvSpPr>
          <p:cNvPr id="25" name="Text 18"/>
          <p:cNvSpPr txBox="1"/>
          <p:nvPr/>
        </p:nvSpPr>
        <p:spPr>
          <a:xfrm>
            <a:off x="548640" y="5925312"/>
            <a:ext cx="11094415" cy="457200"/>
          </a:xfrm>
          <a:prstGeom prst="rect">
            <a:avLst/>
          </a:prstGeom>
          <a:noFill/>
          <a:ln/>
        </p:spPr>
        <p:txBody>
          <a:bodyPr wrap="square" lIns="0" tIns="0" rIns="0" bIns="0" rtlCol="0" anchor="t"/>
          <a:lstStyle/>
          <a:p>
            <a:pPr algn="l" indent="0" marL="0">
              <a:buNone/>
            </a:pPr>
            <a:r>
              <a:rPr lang="en-US" sz="1300" b="1" i="1" dirty="0">
                <a:solidFill>
                  <a:srgbClr val="0E4F4A"/>
                </a:solidFill>
                <a:latin typeface="Calibri" pitchFamily="34" charset="0"/>
                <a:ea typeface="Calibri" pitchFamily="34" charset="-122"/>
                <a:cs typeface="Calibri" pitchFamily="34" charset="-120"/>
              </a:rPr>
              <a:t>Three days from assessment to closing three of five high-priority gaps. A licensed product moves on the vendor’s release calendar — this one moves on ours.</a:t>
            </a:r>
            <a:endParaRPr lang="en-US" sz="1300" dirty="0"/>
          </a:p>
        </p:txBody>
      </p:sp>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058400" cy="292608"/>
          </a:xfrm>
          <a:prstGeom prst="rect">
            <a:avLst/>
          </a:prstGeom>
          <a:noFill/>
          <a:ln/>
        </p:spPr>
        <p:txBody>
          <a:bodyPr wrap="square" rtlCol="0"/>
          <a:lstStyle/>
          <a:p>
            <a:pPr algn="l" indent="0" marL="0">
              <a:buNone/>
            </a:pPr>
            <a:r>
              <a:rPr lang="en-US" sz="1300" b="1" spc="150" kern="0" dirty="0">
                <a:solidFill>
                  <a:schemeClr val="accent2"/>
                </a:solidFill>
                <a:latin typeface="Calibri" pitchFamily="34" charset="0"/>
                <a:ea typeface="Calibri" pitchFamily="34" charset="-122"/>
                <a:cs typeface="Calibri" pitchFamily="34" charset="-120"/>
              </a:rPr>
              <a:t>PROOF</a:t>
            </a:r>
            <a:endParaRPr lang="en-US" sz="1300" dirty="0"/>
          </a:p>
        </p:txBody>
      </p:sp>
      <p:sp>
        <p:nvSpPr>
          <p:cNvPr id="3" name="Text 0"/>
          <p:cNvSpPr/>
          <p:nvPr>
            <p:ph idx="101" type="title" hasCustomPrompt="1"/>
          </p:nvPr>
        </p:nvSpPr>
        <p:spPr>
          <a:xfrm>
            <a:off x="548640" y="676656"/>
            <a:ext cx="11094415" cy="566928"/>
          </a:xfrm>
          <a:prstGeom prst="rect">
            <a:avLst/>
          </a:prstGeom>
          <a:noFill/>
          <a:ln/>
        </p:spPr>
        <p:txBody>
          <a:bodyPr wrap="square" rtlCol="0"/>
          <a:lstStyle/>
          <a:p>
            <a:pPr algn="l" indent="0" marL="0">
              <a:buNone/>
            </a:pPr>
            <a:r>
              <a:rPr lang="en-US" sz="3000" b="1" dirty="0">
                <a:solidFill>
                  <a:schemeClr val="tx1"/>
                </a:solidFill>
                <a:latin typeface="Cambria" pitchFamily="34" charset="0"/>
                <a:ea typeface="Cambria" pitchFamily="34" charset="-122"/>
                <a:cs typeface="Cambria" pitchFamily="34" charset="-120"/>
              </a:rPr>
              <a:t>Tested, not just demonstrated</a:t>
            </a:r>
            <a:endParaRPr lang="en-US" sz="3000" dirty="0"/>
          </a:p>
        </p:txBody>
      </p:sp>
      <p:sp>
        <p:nvSpPr>
          <p:cNvPr id="4" name="Text 2"/>
          <p:cNvSpPr txBox="1"/>
          <p:nvPr/>
        </p:nvSpPr>
        <p:spPr>
          <a:xfrm>
            <a:off x="548640" y="1463040"/>
            <a:ext cx="5029200" cy="822960"/>
          </a:xfrm>
          <a:prstGeom prst="rect">
            <a:avLst/>
          </a:prstGeom>
          <a:noFill/>
          <a:ln/>
        </p:spPr>
        <p:txBody>
          <a:bodyPr wrap="square" lIns="0" tIns="0" rIns="0" bIns="0" rtlCol="0" anchor="ctr"/>
          <a:lstStyle/>
          <a:p>
            <a:pPr algn="l" indent="0" marL="0">
              <a:buNone/>
            </a:pPr>
            <a:r>
              <a:rPr lang="en-US" sz="4800" b="1" dirty="0">
                <a:solidFill>
                  <a:schemeClr val="accent3"/>
                </a:solidFill>
                <a:latin typeface="Cambria" pitchFamily="34" charset="0"/>
                <a:ea typeface="Cambria" pitchFamily="34" charset="-122"/>
                <a:cs typeface="Cambria" pitchFamily="34" charset="-120"/>
              </a:rPr>
              <a:t>149 / 149</a:t>
            </a:r>
            <a:endParaRPr lang="en-US" sz="4800" dirty="0"/>
          </a:p>
        </p:txBody>
      </p:sp>
      <p:sp>
        <p:nvSpPr>
          <p:cNvPr id="5" name="Text 3"/>
          <p:cNvSpPr txBox="1"/>
          <p:nvPr/>
        </p:nvSpPr>
        <p:spPr>
          <a:xfrm>
            <a:off x="548640" y="2286000"/>
            <a:ext cx="5029200" cy="365760"/>
          </a:xfrm>
          <a:prstGeom prst="rect">
            <a:avLst/>
          </a:prstGeom>
          <a:noFill/>
          <a:ln/>
        </p:spPr>
        <p:txBody>
          <a:bodyPr wrap="square" lIns="0" tIns="0" rIns="0" bIns="0" rtlCol="0" anchor="ctr"/>
          <a:lstStyle/>
          <a:p>
            <a:pPr algn="l" indent="0" marL="0">
              <a:buNone/>
            </a:pPr>
            <a:r>
              <a:rPr lang="en-US" sz="1400" dirty="0">
                <a:solidFill>
                  <a:schemeClr val="tx1"/>
                </a:solidFill>
                <a:latin typeface="Calibri" pitchFamily="34" charset="0"/>
                <a:ea typeface="Calibri" pitchFamily="34" charset="-122"/>
                <a:cs typeface="Calibri" pitchFamily="34" charset="-120"/>
              </a:rPr>
              <a:t>automated tests passing</a:t>
            </a:r>
            <a:endParaRPr lang="en-US" sz="1400" dirty="0"/>
          </a:p>
        </p:txBody>
      </p:sp>
      <p:sp>
        <p:nvSpPr>
          <p:cNvPr id="6" name="Text 4"/>
          <p:cNvSpPr txBox="1"/>
          <p:nvPr/>
        </p:nvSpPr>
        <p:spPr>
          <a:xfrm>
            <a:off x="548640" y="2834640"/>
            <a:ext cx="5029200" cy="640080"/>
          </a:xfrm>
          <a:prstGeom prst="rect">
            <a:avLst/>
          </a:prstGeom>
          <a:noFill/>
          <a:ln/>
        </p:spPr>
        <p:txBody>
          <a:bodyPr wrap="square" lIns="0" tIns="0" rIns="0" bIns="0" rtlCol="0" anchor="t"/>
          <a:lstStyle/>
          <a:p>
            <a:pPr algn="l" marL="177800" indent="-177800">
              <a:buSzPct val="100000"/>
              <a:buChar char="•"/>
            </a:pPr>
            <a:r>
              <a:rPr lang="en-US" sz="1400" dirty="0">
                <a:solidFill>
                  <a:schemeClr val="tx1"/>
                </a:solidFill>
                <a:latin typeface="Calibri" pitchFamily="34" charset="0"/>
                <a:ea typeface="Calibri" pitchFamily="34" charset="-122"/>
                <a:cs typeface="Calibri" pitchFamily="34" charset="-120"/>
              </a:rPr>
              <a:t>One deliberately broken package per rule — every rule is proven to actually work.</a:t>
            </a:r>
            <a:endParaRPr lang="en-US" sz="1400" dirty="0"/>
          </a:p>
        </p:txBody>
      </p:sp>
      <p:sp>
        <p:nvSpPr>
          <p:cNvPr id="7" name="Text 5"/>
          <p:cNvSpPr txBox="1"/>
          <p:nvPr/>
        </p:nvSpPr>
        <p:spPr>
          <a:xfrm>
            <a:off x="548640" y="3520440"/>
            <a:ext cx="5029200" cy="640080"/>
          </a:xfrm>
          <a:prstGeom prst="rect">
            <a:avLst/>
          </a:prstGeom>
          <a:noFill/>
          <a:ln/>
        </p:spPr>
        <p:txBody>
          <a:bodyPr wrap="square" lIns="0" tIns="0" rIns="0" bIns="0" rtlCol="0" anchor="t"/>
          <a:lstStyle/>
          <a:p>
            <a:pPr algn="l" marL="177800" indent="-177800">
              <a:buSzPct val="100000"/>
              <a:buChar char="•"/>
            </a:pPr>
            <a:r>
              <a:rPr lang="en-US" sz="1400" dirty="0">
                <a:solidFill>
                  <a:schemeClr val="tx1"/>
                </a:solidFill>
                <a:latin typeface="Calibri" pitchFamily="34" charset="0"/>
                <a:ea typeface="Calibri" pitchFamily="34" charset="-122"/>
                <a:cs typeface="Calibri" pitchFamily="34" charset="-120"/>
              </a:rPr>
              <a:t>The full lifecycle: resubmission, information requests, responses, HOD returns.</a:t>
            </a:r>
            <a:endParaRPr lang="en-US" sz="1400" dirty="0"/>
          </a:p>
        </p:txBody>
      </p:sp>
      <p:sp>
        <p:nvSpPr>
          <p:cNvPr id="8" name="Text 6"/>
          <p:cNvSpPr txBox="1"/>
          <p:nvPr/>
        </p:nvSpPr>
        <p:spPr>
          <a:xfrm>
            <a:off x="548640" y="4206240"/>
            <a:ext cx="5029200" cy="640080"/>
          </a:xfrm>
          <a:prstGeom prst="rect">
            <a:avLst/>
          </a:prstGeom>
          <a:noFill/>
          <a:ln/>
        </p:spPr>
        <p:txBody>
          <a:bodyPr wrap="square" lIns="0" tIns="0" rIns="0" bIns="0" rtlCol="0" anchor="t"/>
          <a:lstStyle/>
          <a:p>
            <a:pPr algn="l" marL="177800" indent="-177800">
              <a:buSzPct val="100000"/>
              <a:buChar char="•"/>
            </a:pPr>
            <a:r>
              <a:rPr lang="en-US" sz="1400" dirty="0">
                <a:solidFill>
                  <a:schemeClr val="tx1"/>
                </a:solidFill>
                <a:latin typeface="Calibri" pitchFamily="34" charset="0"/>
                <a:ea typeface="Calibri" pitchFamily="34" charset="-122"/>
                <a:cs typeface="Calibri" pitchFamily="34" charset="-120"/>
              </a:rPr>
              <a:t>Every page, every role, both languages — automatically.</a:t>
            </a:r>
            <a:endParaRPr lang="en-US" sz="1400" dirty="0"/>
          </a:p>
        </p:txBody>
      </p:sp>
      <p:sp>
        <p:nvSpPr>
          <p:cNvPr id="9" name="Text 7"/>
          <p:cNvSpPr txBox="1"/>
          <p:nvPr/>
        </p:nvSpPr>
        <p:spPr>
          <a:xfrm>
            <a:off x="6309360" y="1463040"/>
            <a:ext cx="5330952" cy="411480"/>
          </a:xfrm>
          <a:prstGeom prst="rect">
            <a:avLst/>
          </a:prstGeom>
          <a:noFill/>
          <a:ln/>
        </p:spPr>
        <p:txBody>
          <a:bodyPr wrap="square" lIns="0" tIns="0" rIns="0" bIns="0" rtlCol="0" anchor="ctr"/>
          <a:lstStyle/>
          <a:p>
            <a:pPr algn="l" indent="0" marL="0">
              <a:buNone/>
            </a:pPr>
            <a:r>
              <a:rPr lang="en-US" sz="1600" b="1" dirty="0">
                <a:solidFill>
                  <a:schemeClr val="accent1"/>
                </a:solidFill>
                <a:latin typeface="Cambria" pitchFamily="34" charset="0"/>
                <a:ea typeface="Cambria" pitchFamily="34" charset="-122"/>
                <a:cs typeface="Cambria" pitchFamily="34" charset="-120"/>
              </a:rPr>
              <a:t>Security, built in</a:t>
            </a:r>
            <a:endParaRPr lang="en-US" sz="1600" dirty="0"/>
          </a:p>
        </p:txBody>
      </p:sp>
      <p:sp>
        <p:nvSpPr>
          <p:cNvPr id="10" name="Shape 8"/>
          <p:cNvSpPr/>
          <p:nvPr/>
        </p:nvSpPr>
        <p:spPr>
          <a:xfrm>
            <a:off x="6309360" y="2066544"/>
            <a:ext cx="384048" cy="384048"/>
          </a:xfrm>
          <a:prstGeom prst="ellipse">
            <a:avLst/>
          </a:prstGeom>
          <a:solidFill>
            <a:schemeClr val="accent1"/>
          </a:solidFill>
          <a:ln/>
        </p:spPr>
      </p:sp>
      <p:pic>
        <p:nvPicPr>
          <p:cNvPr id="11" name="Image 0" descr="C:\Users\msali\AppData\Local\Temp\claude\ppr_pitch\icons\lockkey.png">    </p:cNvPr>
          <p:cNvPicPr>
            <a:picLocks noChangeAspect="1"/>
          </p:cNvPicPr>
          <p:nvPr/>
        </p:nvPicPr>
        <p:blipFill>
          <a:blip r:embed="rId1"/>
          <a:stretch>
            <a:fillRect/>
          </a:stretch>
        </p:blipFill>
        <p:spPr>
          <a:xfrm>
            <a:off x="6401532" y="2158716"/>
            <a:ext cx="199705" cy="199705"/>
          </a:xfrm>
          <a:prstGeom prst="rect">
            <a:avLst/>
          </a:prstGeom>
        </p:spPr>
      </p:pic>
      <p:sp>
        <p:nvSpPr>
          <p:cNvPr id="12" name="Text 9"/>
          <p:cNvSpPr txBox="1"/>
          <p:nvPr/>
        </p:nvSpPr>
        <p:spPr>
          <a:xfrm>
            <a:off x="6858000" y="2029968"/>
            <a:ext cx="4782312" cy="502920"/>
          </a:xfrm>
          <a:prstGeom prst="rect">
            <a:avLst/>
          </a:prstGeom>
          <a:noFill/>
          <a:ln/>
        </p:spPr>
        <p:txBody>
          <a:bodyPr wrap="square" lIns="0" tIns="0" rIns="0" bIns="0" rtlCol="0" anchor="ctr"/>
          <a:lstStyle/>
          <a:p>
            <a:pPr algn="l" indent="0" marL="0">
              <a:buNone/>
            </a:pPr>
            <a:r>
              <a:rPr lang="en-US" sz="1400" dirty="0">
                <a:solidFill>
                  <a:schemeClr val="tx1"/>
                </a:solidFill>
                <a:latin typeface="Calibri" pitchFamily="34" charset="0"/>
                <a:ea typeface="Calibri" pitchFamily="34" charset="-122"/>
                <a:cs typeface="Calibri" pitchFamily="34" charset="-120"/>
              </a:rPr>
              <a:t>HSTS, nonce CSP, CSRF &amp; clickjacking protection</a:t>
            </a:r>
            <a:endParaRPr lang="en-US" sz="1400" dirty="0"/>
          </a:p>
        </p:txBody>
      </p:sp>
      <p:sp>
        <p:nvSpPr>
          <p:cNvPr id="13" name="Shape 10"/>
          <p:cNvSpPr/>
          <p:nvPr/>
        </p:nvSpPr>
        <p:spPr>
          <a:xfrm>
            <a:off x="6309360" y="2651760"/>
            <a:ext cx="384048" cy="384048"/>
          </a:xfrm>
          <a:prstGeom prst="ellipse">
            <a:avLst/>
          </a:prstGeom>
          <a:solidFill>
            <a:schemeClr val="accent1"/>
          </a:solidFill>
          <a:ln/>
        </p:spPr>
      </p:sp>
      <p:pic>
        <p:nvPicPr>
          <p:cNvPr id="14" name="Image 1" descr="C:\Users\msali\AppData\Local\Temp\claude\ppr_pitch\icons\validate.png">    </p:cNvPr>
          <p:cNvPicPr>
            <a:picLocks noChangeAspect="1"/>
          </p:cNvPicPr>
          <p:nvPr/>
        </p:nvPicPr>
        <p:blipFill>
          <a:blip r:embed="rId2"/>
          <a:stretch>
            <a:fillRect/>
          </a:stretch>
        </p:blipFill>
        <p:spPr>
          <a:xfrm>
            <a:off x="6401532" y="2743932"/>
            <a:ext cx="199705" cy="199705"/>
          </a:xfrm>
          <a:prstGeom prst="rect">
            <a:avLst/>
          </a:prstGeom>
        </p:spPr>
      </p:pic>
      <p:sp>
        <p:nvSpPr>
          <p:cNvPr id="15" name="Text 11"/>
          <p:cNvSpPr txBox="1"/>
          <p:nvPr/>
        </p:nvSpPr>
        <p:spPr>
          <a:xfrm>
            <a:off x="6858000" y="2615184"/>
            <a:ext cx="4782312" cy="502920"/>
          </a:xfrm>
          <a:prstGeom prst="rect">
            <a:avLst/>
          </a:prstGeom>
          <a:noFill/>
          <a:ln/>
        </p:spPr>
        <p:txBody>
          <a:bodyPr wrap="square" lIns="0" tIns="0" rIns="0" bIns="0" rtlCol="0" anchor="ctr"/>
          <a:lstStyle/>
          <a:p>
            <a:pPr algn="l" indent="0" marL="0">
              <a:buNone/>
            </a:pPr>
            <a:r>
              <a:rPr lang="en-US" sz="1400" dirty="0">
                <a:solidFill>
                  <a:schemeClr val="tx1"/>
                </a:solidFill>
                <a:latin typeface="Calibri" pitchFamily="34" charset="0"/>
                <a:ea typeface="Calibri" pitchFamily="34" charset="-122"/>
                <a:cs typeface="Calibri" pitchFamily="34" charset="-120"/>
              </a:rPr>
              <a:t>Safe ZIP extraction — no zip-slip, symlinks or zip bombs</a:t>
            </a:r>
            <a:endParaRPr lang="en-US" sz="1400" dirty="0"/>
          </a:p>
        </p:txBody>
      </p:sp>
      <p:sp>
        <p:nvSpPr>
          <p:cNvPr id="16" name="Shape 12"/>
          <p:cNvSpPr/>
          <p:nvPr/>
        </p:nvSpPr>
        <p:spPr>
          <a:xfrm>
            <a:off x="6309360" y="3236976"/>
            <a:ext cx="384048" cy="384048"/>
          </a:xfrm>
          <a:prstGeom prst="ellipse">
            <a:avLst/>
          </a:prstGeom>
          <a:solidFill>
            <a:schemeClr val="accent1"/>
          </a:solidFill>
          <a:ln/>
        </p:spPr>
      </p:sp>
      <p:pic>
        <p:nvPicPr>
          <p:cNvPr id="17" name="Image 2" descr="C:\Users\msali\AppData\Local\Temp\claude\ppr_pitch\icons\fingerprint.png">    </p:cNvPr>
          <p:cNvPicPr>
            <a:picLocks noChangeAspect="1"/>
          </p:cNvPicPr>
          <p:nvPr/>
        </p:nvPicPr>
        <p:blipFill>
          <a:blip r:embed="rId3"/>
          <a:stretch>
            <a:fillRect/>
          </a:stretch>
        </p:blipFill>
        <p:spPr>
          <a:xfrm>
            <a:off x="6401532" y="3329148"/>
            <a:ext cx="199705" cy="199705"/>
          </a:xfrm>
          <a:prstGeom prst="rect">
            <a:avLst/>
          </a:prstGeom>
        </p:spPr>
      </p:pic>
      <p:sp>
        <p:nvSpPr>
          <p:cNvPr id="18" name="Text 13"/>
          <p:cNvSpPr txBox="1"/>
          <p:nvPr/>
        </p:nvSpPr>
        <p:spPr>
          <a:xfrm>
            <a:off x="6858000" y="3200400"/>
            <a:ext cx="4782312" cy="502920"/>
          </a:xfrm>
          <a:prstGeom prst="rect">
            <a:avLst/>
          </a:prstGeom>
          <a:noFill/>
          <a:ln/>
        </p:spPr>
        <p:txBody>
          <a:bodyPr wrap="square" lIns="0" tIns="0" rIns="0" bIns="0" rtlCol="0" anchor="ctr"/>
          <a:lstStyle/>
          <a:p>
            <a:pPr algn="l" indent="0" marL="0">
              <a:buNone/>
            </a:pPr>
            <a:r>
              <a:rPr lang="en-US" sz="1400" dirty="0">
                <a:solidFill>
                  <a:schemeClr val="tx1"/>
                </a:solidFill>
                <a:latin typeface="Calibri" pitchFamily="34" charset="0"/>
                <a:ea typeface="Calibri" pitchFamily="34" charset="-122"/>
                <a:cs typeface="Calibri" pitchFamily="34" charset="-120"/>
              </a:rPr>
              <a:t>Optional Ministry single sign-on (OpenID Connect)</a:t>
            </a:r>
            <a:endParaRPr lang="en-US" sz="1400" dirty="0"/>
          </a:p>
        </p:txBody>
      </p:sp>
      <p:sp>
        <p:nvSpPr>
          <p:cNvPr id="19" name="Shape 14"/>
          <p:cNvSpPr/>
          <p:nvPr/>
        </p:nvSpPr>
        <p:spPr>
          <a:xfrm>
            <a:off x="6309360" y="3822192"/>
            <a:ext cx="384048" cy="384048"/>
          </a:xfrm>
          <a:prstGeom prst="ellipse">
            <a:avLst/>
          </a:prstGeom>
          <a:solidFill>
            <a:schemeClr val="accent1"/>
          </a:solidFill>
          <a:ln/>
        </p:spPr>
      </p:sp>
      <p:pic>
        <p:nvPicPr>
          <p:cNvPr id="20" name="Image 3" descr="C:\Users\msali\AppData\Local\Temp\claude\ppr_pitch\icons\key.png">    </p:cNvPr>
          <p:cNvPicPr>
            <a:picLocks noChangeAspect="1"/>
          </p:cNvPicPr>
          <p:nvPr/>
        </p:nvPicPr>
        <p:blipFill>
          <a:blip r:embed="rId4"/>
          <a:stretch>
            <a:fillRect/>
          </a:stretch>
        </p:blipFill>
        <p:spPr>
          <a:xfrm>
            <a:off x="6401532" y="3914364"/>
            <a:ext cx="199705" cy="199705"/>
          </a:xfrm>
          <a:prstGeom prst="rect">
            <a:avLst/>
          </a:prstGeom>
        </p:spPr>
      </p:pic>
      <p:sp>
        <p:nvSpPr>
          <p:cNvPr id="21" name="Text 15"/>
          <p:cNvSpPr txBox="1"/>
          <p:nvPr/>
        </p:nvSpPr>
        <p:spPr>
          <a:xfrm>
            <a:off x="6858000" y="3785616"/>
            <a:ext cx="4782312" cy="502920"/>
          </a:xfrm>
          <a:prstGeom prst="rect">
            <a:avLst/>
          </a:prstGeom>
          <a:noFill/>
          <a:ln/>
        </p:spPr>
        <p:txBody>
          <a:bodyPr wrap="square" lIns="0" tIns="0" rIns="0" bIns="0" rtlCol="0" anchor="ctr"/>
          <a:lstStyle/>
          <a:p>
            <a:pPr algn="l" indent="0" marL="0">
              <a:buNone/>
            </a:pPr>
            <a:r>
              <a:rPr lang="en-US" sz="1400" dirty="0">
                <a:solidFill>
                  <a:schemeClr val="tx1"/>
                </a:solidFill>
                <a:latin typeface="Calibri" pitchFamily="34" charset="0"/>
                <a:ea typeface="Calibri" pitchFamily="34" charset="-122"/>
                <a:cs typeface="Calibri" pitchFamily="34" charset="-120"/>
              </a:rPr>
              <a:t>Key-protected read-only API for other systems</a:t>
            </a:r>
            <a:endParaRPr lang="en-US" sz="1400" dirty="0"/>
          </a:p>
        </p:txBody>
      </p:sp>
      <p:sp>
        <p:nvSpPr>
          <p:cNvPr id="22" name="Shape 16"/>
          <p:cNvSpPr/>
          <p:nvPr/>
        </p:nvSpPr>
        <p:spPr>
          <a:xfrm>
            <a:off x="6309360" y="4407408"/>
            <a:ext cx="384048" cy="384048"/>
          </a:xfrm>
          <a:prstGeom prst="ellipse">
            <a:avLst/>
          </a:prstGeom>
          <a:solidFill>
            <a:schemeClr val="accent1"/>
          </a:solidFill>
          <a:ln/>
        </p:spPr>
      </p:sp>
      <p:pic>
        <p:nvPicPr>
          <p:cNvPr id="23" name="Image 4" descr="C:\Users\msali\AppData\Local\Temp\claude\ppr_pitch\icons\review.png">    </p:cNvPr>
          <p:cNvPicPr>
            <a:picLocks noChangeAspect="1"/>
          </p:cNvPicPr>
          <p:nvPr/>
        </p:nvPicPr>
        <p:blipFill>
          <a:blip r:embed="rId5"/>
          <a:stretch>
            <a:fillRect/>
          </a:stretch>
        </p:blipFill>
        <p:spPr>
          <a:xfrm>
            <a:off x="6401532" y="4499580"/>
            <a:ext cx="199705" cy="199705"/>
          </a:xfrm>
          <a:prstGeom prst="rect">
            <a:avLst/>
          </a:prstGeom>
        </p:spPr>
      </p:pic>
      <p:sp>
        <p:nvSpPr>
          <p:cNvPr id="24" name="Text 17"/>
          <p:cNvSpPr txBox="1"/>
          <p:nvPr/>
        </p:nvSpPr>
        <p:spPr>
          <a:xfrm>
            <a:off x="6858000" y="4370832"/>
            <a:ext cx="4782312" cy="502920"/>
          </a:xfrm>
          <a:prstGeom prst="rect">
            <a:avLst/>
          </a:prstGeom>
          <a:noFill/>
          <a:ln/>
        </p:spPr>
        <p:txBody>
          <a:bodyPr wrap="square" lIns="0" tIns="0" rIns="0" bIns="0" rtlCol="0" anchor="ctr"/>
          <a:lstStyle/>
          <a:p>
            <a:pPr algn="l" indent="0" marL="0">
              <a:buNone/>
            </a:pPr>
            <a:r>
              <a:rPr lang="en-US" sz="1400" dirty="0">
                <a:solidFill>
                  <a:schemeClr val="tx1"/>
                </a:solidFill>
                <a:latin typeface="Calibri" pitchFamily="34" charset="0"/>
                <a:ea typeface="Calibri" pitchFamily="34" charset="-122"/>
                <a:cs typeface="Calibri" pitchFamily="34" charset="-120"/>
              </a:rPr>
              <a:t>Role-based access with a full audit trail</a:t>
            </a:r>
            <a:endParaRPr lang="en-US" sz="1400" dirty="0"/>
          </a:p>
        </p:txBody>
      </p:sp>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058400" cy="292608"/>
          </a:xfrm>
          <a:prstGeom prst="rect">
            <a:avLst/>
          </a:prstGeom>
          <a:noFill/>
          <a:ln/>
        </p:spPr>
        <p:txBody>
          <a:bodyPr wrap="square" rtlCol="0"/>
          <a:lstStyle/>
          <a:p>
            <a:pPr algn="l" indent="0" marL="0">
              <a:buNone/>
            </a:pPr>
            <a:r>
              <a:rPr lang="en-US" sz="1300" b="1" spc="150" kern="0" dirty="0">
                <a:solidFill>
                  <a:schemeClr val="accent2"/>
                </a:solidFill>
                <a:latin typeface="Calibri" pitchFamily="34" charset="0"/>
                <a:ea typeface="Calibri" pitchFamily="34" charset="-122"/>
                <a:cs typeface="Calibri" pitchFamily="34" charset="-120"/>
              </a:rPr>
              <a:t>HEAD-TO-HEAD</a:t>
            </a:r>
            <a:endParaRPr lang="en-US" sz="1300" dirty="0"/>
          </a:p>
        </p:txBody>
      </p:sp>
      <p:sp>
        <p:nvSpPr>
          <p:cNvPr id="3" name="Text 0"/>
          <p:cNvSpPr/>
          <p:nvPr>
            <p:ph idx="101" type="title" hasCustomPrompt="1"/>
          </p:nvPr>
        </p:nvSpPr>
        <p:spPr>
          <a:xfrm>
            <a:off x="548640" y="676656"/>
            <a:ext cx="11094415" cy="566928"/>
          </a:xfrm>
          <a:prstGeom prst="rect">
            <a:avLst/>
          </a:prstGeom>
          <a:noFill/>
          <a:ln/>
        </p:spPr>
        <p:txBody>
          <a:bodyPr wrap="square" rtlCol="0"/>
          <a:lstStyle/>
          <a:p>
            <a:pPr algn="l" indent="0" marL="0">
              <a:buNone/>
            </a:pPr>
            <a:r>
              <a:rPr lang="en-US" sz="3000" b="1" dirty="0">
                <a:solidFill>
                  <a:schemeClr val="tx1"/>
                </a:solidFill>
                <a:latin typeface="Cambria" pitchFamily="34" charset="0"/>
                <a:ea typeface="Cambria" pitchFamily="34" charset="-122"/>
                <a:cs typeface="Cambria" pitchFamily="34" charset="-120"/>
              </a:rPr>
              <a:t>Who really owns the cost</a:t>
            </a:r>
            <a:endParaRPr lang="en-US" sz="3000" dirty="0"/>
          </a:p>
        </p:txBody>
      </p:sp>
      <p:sp>
        <p:nvSpPr>
          <p:cNvPr id="4" name="Shape 2"/>
          <p:cNvSpPr/>
          <p:nvPr/>
        </p:nvSpPr>
        <p:spPr>
          <a:xfrm>
            <a:off x="548640" y="1463040"/>
            <a:ext cx="5364328" cy="3200400"/>
          </a:xfrm>
          <a:prstGeom prst="roundRect">
            <a:avLst>
              <a:gd name="adj" fmla="val 2857"/>
            </a:avLst>
          </a:prstGeom>
          <a:solidFill>
            <a:schemeClr val="bg2"/>
          </a:solidFill>
          <a:ln/>
          <a:effectLst>
            <a:outerShdw sx="100000" sy="100000" kx="0" ky="0" algn="bl" rotWithShape="0" blurRad="101600" dist="38100" dir="5400000">
              <a:srgbClr val="17211F">
                <a:alpha val="16000"/>
              </a:srgbClr>
            </a:outerShdw>
          </a:effectLst>
        </p:spPr>
      </p:sp>
      <p:sp>
        <p:nvSpPr>
          <p:cNvPr id="5" name="Shape 3"/>
          <p:cNvSpPr/>
          <p:nvPr/>
        </p:nvSpPr>
        <p:spPr>
          <a:xfrm>
            <a:off x="6278728" y="1463040"/>
            <a:ext cx="5364328" cy="3200400"/>
          </a:xfrm>
          <a:prstGeom prst="roundRect">
            <a:avLst>
              <a:gd name="adj" fmla="val 2857"/>
            </a:avLst>
          </a:prstGeom>
          <a:solidFill>
            <a:schemeClr val="bg1"/>
          </a:solidFill>
          <a:ln w="12700">
            <a:solidFill>
              <a:schemeClr val="accent4"/>
            </a:solidFill>
            <a:prstDash val="solid"/>
          </a:ln>
        </p:spPr>
      </p:sp>
      <p:sp>
        <p:nvSpPr>
          <p:cNvPr id="6" name="Shape 4"/>
          <p:cNvSpPr/>
          <p:nvPr/>
        </p:nvSpPr>
        <p:spPr>
          <a:xfrm>
            <a:off x="822960" y="1719072"/>
            <a:ext cx="457200" cy="457200"/>
          </a:xfrm>
          <a:prstGeom prst="ellipse">
            <a:avLst/>
          </a:prstGeom>
          <a:solidFill>
            <a:schemeClr val="accent1"/>
          </a:solidFill>
          <a:ln/>
        </p:spPr>
      </p:sp>
      <p:pic>
        <p:nvPicPr>
          <p:cNvPr id="7" name="Image 0" descr="C:\Users\msali\AppData\Local\Temp\claude\ppr_pitch\icons\coins.png">    </p:cNvPr>
          <p:cNvPicPr>
            <a:picLocks noChangeAspect="1"/>
          </p:cNvPicPr>
          <p:nvPr/>
        </p:nvPicPr>
        <p:blipFill>
          <a:blip r:embed="rId1"/>
          <a:stretch>
            <a:fillRect/>
          </a:stretch>
        </p:blipFill>
        <p:spPr>
          <a:xfrm>
            <a:off x="932688" y="1828800"/>
            <a:ext cx="237744" cy="237744"/>
          </a:xfrm>
          <a:prstGeom prst="rect">
            <a:avLst/>
          </a:prstGeom>
        </p:spPr>
      </p:pic>
      <p:sp>
        <p:nvSpPr>
          <p:cNvPr id="8" name="Text 5"/>
          <p:cNvSpPr txBox="1"/>
          <p:nvPr/>
        </p:nvSpPr>
        <p:spPr>
          <a:xfrm>
            <a:off x="1417320" y="1700784"/>
            <a:ext cx="4221328" cy="502920"/>
          </a:xfrm>
          <a:prstGeom prst="rect">
            <a:avLst/>
          </a:prstGeom>
          <a:noFill/>
          <a:ln/>
        </p:spPr>
        <p:txBody>
          <a:bodyPr wrap="square" lIns="0" tIns="0" rIns="0" bIns="0" rtlCol="0" anchor="ctr"/>
          <a:lstStyle/>
          <a:p>
            <a:pPr algn="l" indent="0" marL="0">
              <a:buNone/>
            </a:pPr>
            <a:r>
              <a:rPr lang="en-US" sz="1800" b="1" dirty="0">
                <a:solidFill>
                  <a:srgbClr val="0E4F4A"/>
                </a:solidFill>
                <a:latin typeface="Cambria" pitchFamily="34" charset="0"/>
                <a:ea typeface="Cambria" pitchFamily="34" charset="-122"/>
                <a:cs typeface="Cambria" pitchFamily="34" charset="-120"/>
              </a:rPr>
              <a:t>PPR</a:t>
            </a:r>
            <a:endParaRPr lang="en-US" sz="1800" dirty="0"/>
          </a:p>
        </p:txBody>
      </p:sp>
      <p:sp>
        <p:nvSpPr>
          <p:cNvPr id="9" name="Text 6"/>
          <p:cNvSpPr txBox="1"/>
          <p:nvPr/>
        </p:nvSpPr>
        <p:spPr>
          <a:xfrm>
            <a:off x="868680" y="2377440"/>
            <a:ext cx="4724248" cy="457200"/>
          </a:xfrm>
          <a:prstGeom prst="rect">
            <a:avLst/>
          </a:prstGeom>
          <a:noFill/>
          <a:ln/>
        </p:spPr>
        <p:txBody>
          <a:bodyPr wrap="square" lIns="0" tIns="0" rIns="0" bIns="0" rtlCol="0" anchor="t"/>
          <a:lstStyle/>
          <a:p>
            <a:pPr algn="l" marL="152400" indent="-152400">
              <a:buSzPct val="100000"/>
              <a:buChar char="•"/>
            </a:pPr>
            <a:r>
              <a:rPr lang="en-US" sz="1400" dirty="0">
                <a:solidFill>
                  <a:srgbClr val="17211F"/>
                </a:solidFill>
                <a:latin typeface="Calibri" pitchFamily="34" charset="0"/>
                <a:ea typeface="Calibri" pitchFamily="34" charset="-122"/>
                <a:cs typeface="Calibri" pitchFamily="34" charset="-120"/>
              </a:rPr>
              <a:t>No licence fee, no per-region subscription</a:t>
            </a:r>
            <a:endParaRPr lang="en-US" sz="1400" dirty="0"/>
          </a:p>
        </p:txBody>
      </p:sp>
      <p:sp>
        <p:nvSpPr>
          <p:cNvPr id="10" name="Text 7"/>
          <p:cNvSpPr txBox="1"/>
          <p:nvPr/>
        </p:nvSpPr>
        <p:spPr>
          <a:xfrm>
            <a:off x="868680" y="2880360"/>
            <a:ext cx="4724248" cy="457200"/>
          </a:xfrm>
          <a:prstGeom prst="rect">
            <a:avLst/>
          </a:prstGeom>
          <a:noFill/>
          <a:ln/>
        </p:spPr>
        <p:txBody>
          <a:bodyPr wrap="square" lIns="0" tIns="0" rIns="0" bIns="0" rtlCol="0" anchor="t"/>
          <a:lstStyle/>
          <a:p>
            <a:pPr algn="l" marL="152400" indent="-152400">
              <a:buSzPct val="100000"/>
              <a:buChar char="•"/>
            </a:pPr>
            <a:r>
              <a:rPr lang="en-US" sz="1400" dirty="0">
                <a:solidFill>
                  <a:srgbClr val="17211F"/>
                </a:solidFill>
                <a:latin typeface="Calibri" pitchFamily="34" charset="0"/>
                <a:ea typeface="Calibri" pitchFamily="34" charset="-122"/>
                <a:cs typeface="Calibri" pitchFamily="34" charset="-120"/>
              </a:rPr>
              <a:t>Hosting and staff time only</a:t>
            </a:r>
            <a:endParaRPr lang="en-US" sz="1400" dirty="0"/>
          </a:p>
        </p:txBody>
      </p:sp>
      <p:sp>
        <p:nvSpPr>
          <p:cNvPr id="11" name="Text 8"/>
          <p:cNvSpPr txBox="1"/>
          <p:nvPr/>
        </p:nvSpPr>
        <p:spPr>
          <a:xfrm>
            <a:off x="868680" y="3383280"/>
            <a:ext cx="4724248" cy="457200"/>
          </a:xfrm>
          <a:prstGeom prst="rect">
            <a:avLst/>
          </a:prstGeom>
          <a:noFill/>
          <a:ln/>
        </p:spPr>
        <p:txBody>
          <a:bodyPr wrap="square" lIns="0" tIns="0" rIns="0" bIns="0" rtlCol="0" anchor="t"/>
          <a:lstStyle/>
          <a:p>
            <a:pPr algn="l" marL="152400" indent="-152400">
              <a:buSzPct val="100000"/>
              <a:buChar char="•"/>
            </a:pPr>
            <a:r>
              <a:rPr lang="en-US" sz="1400" dirty="0">
                <a:solidFill>
                  <a:srgbClr val="17211F"/>
                </a:solidFill>
                <a:latin typeface="Calibri" pitchFamily="34" charset="0"/>
                <a:ea typeface="Calibri" pitchFamily="34" charset="-122"/>
                <a:cs typeface="Calibri" pitchFamily="34" charset="-120"/>
              </a:rPr>
              <a:t>Changes ship in-house, on our schedule</a:t>
            </a:r>
            <a:endParaRPr lang="en-US" sz="1400" dirty="0"/>
          </a:p>
        </p:txBody>
      </p:sp>
      <p:sp>
        <p:nvSpPr>
          <p:cNvPr id="12" name="Text 9"/>
          <p:cNvSpPr txBox="1"/>
          <p:nvPr/>
        </p:nvSpPr>
        <p:spPr>
          <a:xfrm>
            <a:off x="868680" y="3886200"/>
            <a:ext cx="4724248" cy="457200"/>
          </a:xfrm>
          <a:prstGeom prst="rect">
            <a:avLst/>
          </a:prstGeom>
          <a:noFill/>
          <a:ln/>
        </p:spPr>
        <p:txBody>
          <a:bodyPr wrap="square" lIns="0" tIns="0" rIns="0" bIns="0" rtlCol="0" anchor="t"/>
          <a:lstStyle/>
          <a:p>
            <a:pPr algn="l" marL="152400" indent="-152400">
              <a:buSzPct val="100000"/>
              <a:buChar char="•"/>
            </a:pPr>
            <a:r>
              <a:rPr lang="en-US" sz="1400" dirty="0">
                <a:solidFill>
                  <a:srgbClr val="17211F"/>
                </a:solidFill>
                <a:latin typeface="Calibri" pitchFamily="34" charset="0"/>
                <a:ea typeface="Calibri" pitchFamily="34" charset="-122"/>
                <a:cs typeface="Calibri" pitchFamily="34" charset="-120"/>
              </a:rPr>
              <a:t>Full source ownership — nothing to renew</a:t>
            </a:r>
            <a:endParaRPr lang="en-US" sz="1400" dirty="0"/>
          </a:p>
        </p:txBody>
      </p:sp>
      <p:sp>
        <p:nvSpPr>
          <p:cNvPr id="13" name="Shape 10"/>
          <p:cNvSpPr/>
          <p:nvPr/>
        </p:nvSpPr>
        <p:spPr>
          <a:xfrm>
            <a:off x="6553048" y="1719072"/>
            <a:ext cx="457200" cy="457200"/>
          </a:xfrm>
          <a:prstGeom prst="ellipse">
            <a:avLst/>
          </a:prstGeom>
          <a:solidFill>
            <a:schemeClr val="accent4"/>
          </a:solidFill>
          <a:ln/>
        </p:spPr>
      </p:sp>
      <p:pic>
        <p:nvPicPr>
          <p:cNvPr id="14" name="Image 1" descr="C:\Users\msali\AppData\Local\Temp\claude\ppr_pitch\icons\creditcard.png">    </p:cNvPr>
          <p:cNvPicPr>
            <a:picLocks noChangeAspect="1"/>
          </p:cNvPicPr>
          <p:nvPr/>
        </p:nvPicPr>
        <p:blipFill>
          <a:blip r:embed="rId2"/>
          <a:stretch>
            <a:fillRect/>
          </a:stretch>
        </p:blipFill>
        <p:spPr>
          <a:xfrm>
            <a:off x="6662776" y="1828800"/>
            <a:ext cx="237744" cy="237744"/>
          </a:xfrm>
          <a:prstGeom prst="rect">
            <a:avLst/>
          </a:prstGeom>
        </p:spPr>
      </p:pic>
      <p:sp>
        <p:nvSpPr>
          <p:cNvPr id="15" name="Text 11"/>
          <p:cNvSpPr txBox="1"/>
          <p:nvPr/>
        </p:nvSpPr>
        <p:spPr>
          <a:xfrm>
            <a:off x="7147408" y="1700784"/>
            <a:ext cx="4221328" cy="502920"/>
          </a:xfrm>
          <a:prstGeom prst="rect">
            <a:avLst/>
          </a:prstGeom>
          <a:noFill/>
          <a:ln/>
        </p:spPr>
        <p:txBody>
          <a:bodyPr wrap="square" lIns="0" tIns="0" rIns="0" bIns="0" rtlCol="0" anchor="ctr"/>
          <a:lstStyle/>
          <a:p>
            <a:pPr algn="l" indent="0" marL="0">
              <a:buNone/>
            </a:pPr>
            <a:r>
              <a:rPr lang="en-US" sz="1800" b="1" dirty="0">
                <a:solidFill>
                  <a:srgbClr val="17211F"/>
                </a:solidFill>
                <a:latin typeface="Cambria" pitchFamily="34" charset="0"/>
                <a:ea typeface="Cambria" pitchFamily="34" charset="-122"/>
                <a:cs typeface="Cambria" pitchFamily="34" charset="-120"/>
              </a:rPr>
              <a:t>EXTEDO</a:t>
            </a:r>
            <a:endParaRPr lang="en-US" sz="1800" dirty="0"/>
          </a:p>
        </p:txBody>
      </p:sp>
      <p:sp>
        <p:nvSpPr>
          <p:cNvPr id="16" name="Text 12"/>
          <p:cNvSpPr txBox="1"/>
          <p:nvPr/>
        </p:nvSpPr>
        <p:spPr>
          <a:xfrm>
            <a:off x="6598768" y="2377440"/>
            <a:ext cx="4724248" cy="457200"/>
          </a:xfrm>
          <a:prstGeom prst="rect">
            <a:avLst/>
          </a:prstGeom>
          <a:noFill/>
          <a:ln/>
        </p:spPr>
        <p:txBody>
          <a:bodyPr wrap="square" lIns="0" tIns="0" rIns="0" bIns="0" rtlCol="0" anchor="t"/>
          <a:lstStyle/>
          <a:p>
            <a:pPr algn="l" marL="152400" indent="-152400">
              <a:buSzPct val="100000"/>
              <a:buChar char="•"/>
            </a:pPr>
            <a:r>
              <a:rPr lang="en-US" sz="1400" dirty="0">
                <a:solidFill>
                  <a:srgbClr val="17211F"/>
                </a:solidFill>
                <a:latin typeface="Calibri" pitchFamily="34" charset="0"/>
                <a:ea typeface="Calibri" pitchFamily="34" charset="-122"/>
                <a:cs typeface="Calibri" pitchFamily="34" charset="-120"/>
              </a:rPr>
              <a:t>Commercial licence + GCC validation subscription</a:t>
            </a:r>
            <a:endParaRPr lang="en-US" sz="1400" dirty="0"/>
          </a:p>
        </p:txBody>
      </p:sp>
      <p:sp>
        <p:nvSpPr>
          <p:cNvPr id="17" name="Text 13"/>
          <p:cNvSpPr txBox="1"/>
          <p:nvPr/>
        </p:nvSpPr>
        <p:spPr>
          <a:xfrm>
            <a:off x="6598768" y="2880360"/>
            <a:ext cx="4724248" cy="457200"/>
          </a:xfrm>
          <a:prstGeom prst="rect">
            <a:avLst/>
          </a:prstGeom>
          <a:noFill/>
          <a:ln/>
        </p:spPr>
        <p:txBody>
          <a:bodyPr wrap="square" lIns="0" tIns="0" rIns="0" bIns="0" rtlCol="0" anchor="t"/>
          <a:lstStyle/>
          <a:p>
            <a:pPr algn="l" marL="152400" indent="-152400">
              <a:buSzPct val="100000"/>
              <a:buChar char="•"/>
            </a:pPr>
            <a:r>
              <a:rPr lang="en-US" sz="1400" dirty="0">
                <a:solidFill>
                  <a:srgbClr val="17211F"/>
                </a:solidFill>
                <a:latin typeface="Calibri" pitchFamily="34" charset="0"/>
                <a:ea typeface="Calibri" pitchFamily="34" charset="-122"/>
                <a:cs typeface="Calibri" pitchFamily="34" charset="-120"/>
              </a:rPr>
              <a:t>Pricing not published; partner fees may apply</a:t>
            </a:r>
            <a:endParaRPr lang="en-US" sz="1400" dirty="0"/>
          </a:p>
        </p:txBody>
      </p:sp>
      <p:sp>
        <p:nvSpPr>
          <p:cNvPr id="18" name="Text 14"/>
          <p:cNvSpPr txBox="1"/>
          <p:nvPr/>
        </p:nvSpPr>
        <p:spPr>
          <a:xfrm>
            <a:off x="6598768" y="3383280"/>
            <a:ext cx="4724248" cy="457200"/>
          </a:xfrm>
          <a:prstGeom prst="rect">
            <a:avLst/>
          </a:prstGeom>
          <a:noFill/>
          <a:ln/>
        </p:spPr>
        <p:txBody>
          <a:bodyPr wrap="square" lIns="0" tIns="0" rIns="0" bIns="0" rtlCol="0" anchor="t"/>
          <a:lstStyle/>
          <a:p>
            <a:pPr algn="l" marL="152400" indent="-152400">
              <a:buSzPct val="100000"/>
              <a:buChar char="•"/>
            </a:pPr>
            <a:r>
              <a:rPr lang="en-US" sz="1400" dirty="0">
                <a:solidFill>
                  <a:srgbClr val="17211F"/>
                </a:solidFill>
                <a:latin typeface="Calibri" pitchFamily="34" charset="0"/>
                <a:ea typeface="Calibri" pitchFamily="34" charset="-122"/>
                <a:cs typeface="Calibri" pitchFamily="34" charset="-120"/>
              </a:rPr>
              <a:t>Updates follow the vendor’s release calendar</a:t>
            </a:r>
            <a:endParaRPr lang="en-US" sz="1400" dirty="0"/>
          </a:p>
        </p:txBody>
      </p:sp>
      <p:sp>
        <p:nvSpPr>
          <p:cNvPr id="19" name="Text 15"/>
          <p:cNvSpPr txBox="1"/>
          <p:nvPr/>
        </p:nvSpPr>
        <p:spPr>
          <a:xfrm>
            <a:off x="6598768" y="3886200"/>
            <a:ext cx="4724248" cy="457200"/>
          </a:xfrm>
          <a:prstGeom prst="rect">
            <a:avLst/>
          </a:prstGeom>
          <a:noFill/>
          <a:ln/>
        </p:spPr>
        <p:txBody>
          <a:bodyPr wrap="square" lIns="0" tIns="0" rIns="0" bIns="0" rtlCol="0" anchor="t"/>
          <a:lstStyle/>
          <a:p>
            <a:pPr algn="l" marL="152400" indent="-152400">
              <a:buSzPct val="100000"/>
              <a:buChar char="•"/>
            </a:pPr>
            <a:r>
              <a:rPr lang="en-US" sz="1400" dirty="0">
                <a:solidFill>
                  <a:srgbClr val="17211F"/>
                </a:solidFill>
                <a:latin typeface="Calibri" pitchFamily="34" charset="0"/>
                <a:ea typeface="Calibri" pitchFamily="34" charset="-122"/>
                <a:cs typeface="Calibri" pitchFamily="34" charset="-120"/>
              </a:rPr>
              <a:t>No portal or workflow — built or bought separately</a:t>
            </a:r>
            <a:endParaRPr lang="en-US" sz="1400" dirty="0"/>
          </a:p>
        </p:txBody>
      </p:sp>
      <p:sp>
        <p:nvSpPr>
          <p:cNvPr id="20" name="Shape 16"/>
          <p:cNvSpPr/>
          <p:nvPr/>
        </p:nvSpPr>
        <p:spPr>
          <a:xfrm>
            <a:off x="548640" y="4892040"/>
            <a:ext cx="11094415" cy="1234440"/>
          </a:xfrm>
          <a:prstGeom prst="roundRect">
            <a:avLst>
              <a:gd name="adj" fmla="val 7407"/>
            </a:avLst>
          </a:prstGeom>
          <a:solidFill>
            <a:schemeClr val="accent3">
              <a:alpha val="15000"/>
            </a:schemeClr>
          </a:solidFill>
          <a:ln/>
        </p:spPr>
      </p:sp>
      <p:sp>
        <p:nvSpPr>
          <p:cNvPr id="21" name="Text 17"/>
          <p:cNvSpPr txBox="1"/>
          <p:nvPr/>
        </p:nvSpPr>
        <p:spPr>
          <a:xfrm>
            <a:off x="914400" y="5029200"/>
            <a:ext cx="10362895" cy="960120"/>
          </a:xfrm>
          <a:prstGeom prst="rect">
            <a:avLst/>
          </a:prstGeom>
          <a:noFill/>
          <a:ln/>
        </p:spPr>
        <p:txBody>
          <a:bodyPr wrap="square" lIns="0" tIns="0" rIns="0" bIns="0" rtlCol="0" anchor="ctr"/>
          <a:lstStyle/>
          <a:p>
            <a:pPr algn="l" indent="0" marL="0">
              <a:buNone/>
            </a:pPr>
            <a:r>
              <a:rPr lang="en-US" sz="1400" dirty="0">
                <a:solidFill>
                  <a:srgbClr val="17211F"/>
                </a:solidFill>
                <a:latin typeface="Calibri" pitchFamily="34" charset="0"/>
                <a:ea typeface="Calibri" pitchFamily="34" charset="-122"/>
                <a:cs typeface="Calibri" pitchFamily="34" charset="-120"/>
              </a:rPr>
              <a:t>The two aren’t mutually exclusive. If dossier volumes ever outgrow the Department’s hosting, PPR can call an external validator through an API while keeping its own portal, workflow and Arabic interface — the hybrid option the comparison report keeps open.</a:t>
            </a:r>
            <a:endParaRPr lang="en-US" sz="1400" dirty="0"/>
          </a:p>
        </p:txBody>
      </p:sp>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058400" cy="292608"/>
          </a:xfrm>
          <a:prstGeom prst="rect">
            <a:avLst/>
          </a:prstGeom>
          <a:noFill/>
          <a:ln/>
        </p:spPr>
        <p:txBody>
          <a:bodyPr wrap="square" rtlCol="0"/>
          <a:lstStyle/>
          <a:p>
            <a:pPr algn="l" indent="0" marL="0">
              <a:buNone/>
            </a:pPr>
            <a:r>
              <a:rPr lang="en-US" sz="1300" b="1" spc="150" kern="0" dirty="0">
                <a:solidFill>
                  <a:schemeClr val="accent3"/>
                </a:solidFill>
                <a:latin typeface="Calibri" pitchFamily="34" charset="0"/>
                <a:ea typeface="Calibri" pitchFamily="34" charset="-122"/>
                <a:cs typeface="Calibri" pitchFamily="34" charset="-120"/>
              </a:rPr>
              <a:t>THE ASK</a:t>
            </a:r>
            <a:endParaRPr lang="en-US" sz="1300" dirty="0"/>
          </a:p>
        </p:txBody>
      </p:sp>
      <p:sp>
        <p:nvSpPr>
          <p:cNvPr id="3" name="Text 0"/>
          <p:cNvSpPr/>
          <p:nvPr>
            <p:ph idx="101" type="title" hasCustomPrompt="1"/>
          </p:nvPr>
        </p:nvSpPr>
        <p:spPr>
          <a:xfrm>
            <a:off x="548640" y="676656"/>
            <a:ext cx="11094415" cy="566928"/>
          </a:xfrm>
          <a:prstGeom prst="rect">
            <a:avLst/>
          </a:prstGeom>
          <a:noFill/>
          <a:ln/>
        </p:spPr>
        <p:txBody>
          <a:bodyPr wrap="square" rtlCol="0"/>
          <a:lstStyle/>
          <a:p>
            <a:pPr algn="l" indent="0" marL="0">
              <a:buNone/>
            </a:pPr>
            <a:r>
              <a:rPr lang="en-US" sz="3000" b="1" dirty="0">
                <a:solidFill>
                  <a:schemeClr val="bg1"/>
                </a:solidFill>
                <a:latin typeface="Cambria" pitchFamily="34" charset="0"/>
                <a:ea typeface="Cambria" pitchFamily="34" charset="-122"/>
                <a:cs typeface="Cambria" pitchFamily="34" charset="-120"/>
              </a:rPr>
              <a:t>Proceed with PPR</a:t>
            </a:r>
            <a:endParaRPr lang="en-US" sz="3000" dirty="0"/>
          </a:p>
        </p:txBody>
      </p:sp>
      <p:sp>
        <p:nvSpPr>
          <p:cNvPr id="4" name="Text 2"/>
          <p:cNvSpPr txBox="1"/>
          <p:nvPr/>
        </p:nvSpPr>
        <p:spPr>
          <a:xfrm>
            <a:off x="548640" y="1335024"/>
            <a:ext cx="11094415" cy="594360"/>
          </a:xfrm>
          <a:prstGeom prst="rect">
            <a:avLst/>
          </a:prstGeom>
          <a:noFill/>
          <a:ln/>
        </p:spPr>
        <p:txBody>
          <a:bodyPr wrap="square" lIns="0" tIns="0" rIns="0" bIns="0" rtlCol="0" anchor="t"/>
          <a:lstStyle/>
          <a:p>
            <a:pPr algn="l" indent="0" marL="0">
              <a:buNone/>
            </a:pPr>
            <a:r>
              <a:rPr lang="en-US" sz="1700" dirty="0">
                <a:solidFill>
                  <a:schemeClr val="bg2"/>
                </a:solidFill>
                <a:latin typeface="Calibri" pitchFamily="34" charset="0"/>
                <a:ea typeface="Calibri" pitchFamily="34" charset="-122"/>
                <a:cs typeface="Calibri" pitchFamily="34" charset="-120"/>
              </a:rPr>
              <a:t>Keep PPR as the Department’s registration and validation system — and keep the hybrid option open.</a:t>
            </a:r>
            <a:endParaRPr lang="en-US" sz="1700" dirty="0"/>
          </a:p>
        </p:txBody>
      </p:sp>
      <p:sp>
        <p:nvSpPr>
          <p:cNvPr id="5" name="Shape 3"/>
          <p:cNvSpPr/>
          <p:nvPr/>
        </p:nvSpPr>
        <p:spPr>
          <a:xfrm>
            <a:off x="548640" y="2423160"/>
            <a:ext cx="640080" cy="640080"/>
          </a:xfrm>
          <a:prstGeom prst="ellipse">
            <a:avLst/>
          </a:prstGeom>
          <a:solidFill>
            <a:srgbClr val="FFFFFF">
              <a:alpha val="15000"/>
            </a:srgbClr>
          </a:solidFill>
          <a:ln/>
        </p:spPr>
      </p:sp>
      <p:pic>
        <p:nvPicPr>
          <p:cNvPr id="6" name="Image 0" descr="C:\Users\msali\AppData\Local\Temp\claude\ppr_pitch\icons\handshake.png">    </p:cNvPr>
          <p:cNvPicPr>
            <a:picLocks noChangeAspect="1"/>
          </p:cNvPicPr>
          <p:nvPr/>
        </p:nvPicPr>
        <p:blipFill>
          <a:blip r:embed="rId1"/>
          <a:stretch>
            <a:fillRect/>
          </a:stretch>
        </p:blipFill>
        <p:spPr>
          <a:xfrm>
            <a:off x="702259" y="2576779"/>
            <a:ext cx="332842" cy="332842"/>
          </a:xfrm>
          <a:prstGeom prst="rect">
            <a:avLst/>
          </a:prstGeom>
        </p:spPr>
      </p:pic>
      <p:sp>
        <p:nvSpPr>
          <p:cNvPr id="7" name="Text 4"/>
          <p:cNvSpPr txBox="1"/>
          <p:nvPr/>
        </p:nvSpPr>
        <p:spPr>
          <a:xfrm>
            <a:off x="1600200" y="2377440"/>
            <a:ext cx="9509760" cy="1051560"/>
          </a:xfrm>
          <a:prstGeom prst="rect">
            <a:avLst/>
          </a:prstGeom>
          <a:noFill/>
          <a:ln/>
        </p:spPr>
        <p:txBody>
          <a:bodyPr wrap="square" lIns="0" tIns="0" rIns="0" bIns="0" rtlCol="0" anchor="t"/>
          <a:lstStyle/>
          <a:p>
            <a:pPr algn="l" indent="0" marL="0">
              <a:lnSpc>
                <a:spcPct val="115000"/>
              </a:lnSpc>
              <a:buNone/>
            </a:pPr>
            <a:r>
              <a:rPr lang="en-US" sz="1600" b="1" dirty="0">
                <a:solidFill>
                  <a:srgbClr val="FFFFFF"/>
                </a:solidFill>
                <a:latin typeface="Calibri" pitchFamily="34" charset="0"/>
                <a:ea typeface="Calibri" pitchFamily="34" charset="-122"/>
                <a:cs typeface="Calibri" pitchFamily="34" charset="-120"/>
              </a:rPr>
              <a:t>Approve the pilot</a:t>
            </a:r>
            <a:endParaRPr lang="en-US" sz="1600" dirty="0"/>
          </a:p>
          <a:p>
            <a:pPr algn="l" indent="0" marL="0">
              <a:lnSpc>
                <a:spcPct val="115000"/>
              </a:lnSpc>
              <a:buNone/>
            </a:pPr>
            <a:r>
              <a:rPr lang="en-US" sz="1400" dirty="0">
                <a:solidFill>
                  <a:srgbClr val="EAF2EF"/>
                </a:solidFill>
                <a:latin typeface="Calibri" pitchFamily="34" charset="0"/>
                <a:ea typeface="Calibri" pitchFamily="34" charset="-122"/>
                <a:cs typeface="Calibri" pitchFamily="34" charset="-120"/>
              </a:rPr>
              <a:t>Close the two remaining high-priority items: the EURSvalidator benchmark run-off and URS / IQ-OQ-PQ sign-off.</a:t>
            </a:r>
            <a:endParaRPr lang="en-US" sz="1600" dirty="0"/>
          </a:p>
        </p:txBody>
      </p:sp>
      <p:sp>
        <p:nvSpPr>
          <p:cNvPr id="8" name="Shape 5"/>
          <p:cNvSpPr/>
          <p:nvPr/>
        </p:nvSpPr>
        <p:spPr>
          <a:xfrm>
            <a:off x="548640" y="3566160"/>
            <a:ext cx="640080" cy="640080"/>
          </a:xfrm>
          <a:prstGeom prst="ellipse">
            <a:avLst/>
          </a:prstGeom>
          <a:solidFill>
            <a:srgbClr val="FFFFFF">
              <a:alpha val="15000"/>
            </a:srgbClr>
          </a:solidFill>
          <a:ln/>
        </p:spPr>
      </p:sp>
      <p:pic>
        <p:nvPicPr>
          <p:cNvPr id="9" name="Image 1" descr="C:\Users\msali\AppData\Local\Temp\claude\ppr_pitch\icons\handshake.png">    </p:cNvPr>
          <p:cNvPicPr>
            <a:picLocks noChangeAspect="1"/>
          </p:cNvPicPr>
          <p:nvPr/>
        </p:nvPicPr>
        <p:blipFill>
          <a:blip r:embed="rId2"/>
          <a:stretch>
            <a:fillRect/>
          </a:stretch>
        </p:blipFill>
        <p:spPr>
          <a:xfrm>
            <a:off x="702259" y="3719779"/>
            <a:ext cx="332842" cy="332842"/>
          </a:xfrm>
          <a:prstGeom prst="rect">
            <a:avLst/>
          </a:prstGeom>
        </p:spPr>
      </p:pic>
      <p:sp>
        <p:nvSpPr>
          <p:cNvPr id="10" name="Text 6"/>
          <p:cNvSpPr txBox="1"/>
          <p:nvPr/>
        </p:nvSpPr>
        <p:spPr>
          <a:xfrm>
            <a:off x="1600200" y="3520440"/>
            <a:ext cx="9509760" cy="1051560"/>
          </a:xfrm>
          <a:prstGeom prst="rect">
            <a:avLst/>
          </a:prstGeom>
          <a:noFill/>
          <a:ln/>
        </p:spPr>
        <p:txBody>
          <a:bodyPr wrap="square" lIns="0" tIns="0" rIns="0" bIns="0" rtlCol="0" anchor="t"/>
          <a:lstStyle/>
          <a:p>
            <a:pPr algn="l" indent="0" marL="0">
              <a:lnSpc>
                <a:spcPct val="115000"/>
              </a:lnSpc>
              <a:buNone/>
            </a:pPr>
            <a:r>
              <a:rPr lang="en-US" sz="1600" b="1" dirty="0">
                <a:solidFill>
                  <a:srgbClr val="FFFFFF"/>
                </a:solidFill>
                <a:latin typeface="Calibri" pitchFamily="34" charset="0"/>
                <a:ea typeface="Calibri" pitchFamily="34" charset="-122"/>
                <a:cs typeface="Calibri" pitchFamily="34" charset="-120"/>
              </a:rPr>
              <a:t>Run the training sessions</a:t>
            </a:r>
            <a:endParaRPr lang="en-US" sz="1600" dirty="0"/>
          </a:p>
          <a:p>
            <a:pPr algn="l" indent="0" marL="0">
              <a:lnSpc>
                <a:spcPct val="115000"/>
              </a:lnSpc>
              <a:buNone/>
            </a:pPr>
            <a:r>
              <a:rPr lang="en-US" sz="1400" dirty="0">
                <a:solidFill>
                  <a:srgbClr val="EAF2EF"/>
                </a:solidFill>
                <a:latin typeface="Calibri" pitchFamily="34" charset="0"/>
                <a:ea typeface="Calibri" pitchFamily="34" charset="-122"/>
                <a:cs typeface="Calibri" pitchFamily="34" charset="-120"/>
              </a:rPr>
              <a:t>Twelve workflows, role-filtered, already written into the in-app guide — ready for company, reviewer and HOD sessions before go-live.</a:t>
            </a:r>
            <a:endParaRPr lang="en-US" sz="1600" dirty="0"/>
          </a:p>
        </p:txBody>
      </p:sp>
      <p:sp>
        <p:nvSpPr>
          <p:cNvPr id="11" name="Shape 7"/>
          <p:cNvSpPr/>
          <p:nvPr/>
        </p:nvSpPr>
        <p:spPr>
          <a:xfrm>
            <a:off x="548640" y="4709160"/>
            <a:ext cx="640080" cy="640080"/>
          </a:xfrm>
          <a:prstGeom prst="ellipse">
            <a:avLst/>
          </a:prstGeom>
          <a:solidFill>
            <a:srgbClr val="FFFFFF">
              <a:alpha val="15000"/>
            </a:srgbClr>
          </a:solidFill>
          <a:ln/>
        </p:spPr>
      </p:sp>
      <p:pic>
        <p:nvPicPr>
          <p:cNvPr id="12" name="Image 2" descr="C:\Users\msali\AppData\Local\Temp\claude\ppr_pitch\icons\handshake.png">    </p:cNvPr>
          <p:cNvPicPr>
            <a:picLocks noChangeAspect="1"/>
          </p:cNvPicPr>
          <p:nvPr/>
        </p:nvPicPr>
        <p:blipFill>
          <a:blip r:embed="rId3"/>
          <a:stretch>
            <a:fillRect/>
          </a:stretch>
        </p:blipFill>
        <p:spPr>
          <a:xfrm>
            <a:off x="702259" y="4862779"/>
            <a:ext cx="332842" cy="332842"/>
          </a:xfrm>
          <a:prstGeom prst="rect">
            <a:avLst/>
          </a:prstGeom>
        </p:spPr>
      </p:pic>
      <p:sp>
        <p:nvSpPr>
          <p:cNvPr id="13" name="Text 8"/>
          <p:cNvSpPr txBox="1"/>
          <p:nvPr/>
        </p:nvSpPr>
        <p:spPr>
          <a:xfrm>
            <a:off x="1600200" y="4663440"/>
            <a:ext cx="9509760" cy="1051560"/>
          </a:xfrm>
          <a:prstGeom prst="rect">
            <a:avLst/>
          </a:prstGeom>
          <a:noFill/>
          <a:ln/>
        </p:spPr>
        <p:txBody>
          <a:bodyPr wrap="square" lIns="0" tIns="0" rIns="0" bIns="0" rtlCol="0" anchor="t"/>
          <a:lstStyle/>
          <a:p>
            <a:pPr algn="l" indent="0" marL="0">
              <a:lnSpc>
                <a:spcPct val="115000"/>
              </a:lnSpc>
              <a:buNone/>
            </a:pPr>
            <a:r>
              <a:rPr lang="en-US" sz="1600" b="1" dirty="0">
                <a:solidFill>
                  <a:srgbClr val="FFFFFF"/>
                </a:solidFill>
                <a:latin typeface="Calibri" pitchFamily="34" charset="0"/>
                <a:ea typeface="Calibri" pitchFamily="34" charset="-122"/>
                <a:cs typeface="Calibri" pitchFamily="34" charset="-120"/>
              </a:rPr>
              <a:t>Keep the hybrid door open</a:t>
            </a:r>
            <a:endParaRPr lang="en-US" sz="1600" dirty="0"/>
          </a:p>
          <a:p>
            <a:pPr algn="l" indent="0" marL="0">
              <a:lnSpc>
                <a:spcPct val="115000"/>
              </a:lnSpc>
              <a:buNone/>
            </a:pPr>
            <a:r>
              <a:rPr lang="en-US" sz="1400" dirty="0">
                <a:solidFill>
                  <a:srgbClr val="EAF2EF"/>
                </a:solidFill>
                <a:latin typeface="Calibri" pitchFamily="34" charset="0"/>
                <a:ea typeface="Calibri" pitchFamily="34" charset="-122"/>
                <a:cs typeface="Calibri" pitchFamily="34" charset="-120"/>
              </a:rPr>
              <a:t>If volume ever outgrows it, call an EXTEDO validator through an API without rebuilding the workflow.</a:t>
            </a:r>
            <a:endParaRPr lang="en-US" sz="1600" dirty="0"/>
          </a:p>
        </p:txBody>
      </p:sp>
      <p:sp>
        <p:nvSpPr>
          <p:cNvPr id="25" name="Slide Number Placeholder 0"/>
          <p:cNvSpPr>
            <a:spLocks noGrp="1"/>
          </p:cNvSpPr>
          <p:nvPr>
            <p:ph type="sldNum" sz="quarter" idx="4294967295"/>
          </p:nvPr>
        </p:nvSpPr>
        <p:spPr>
          <a:xfrm>
            <a:off x="1124712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822960" y="1938528"/>
            <a:ext cx="9601200" cy="365760"/>
          </a:xfrm>
          <a:prstGeom prst="rect">
            <a:avLst/>
          </a:prstGeom>
          <a:noFill/>
          <a:ln/>
        </p:spPr>
        <p:txBody>
          <a:bodyPr wrap="square" rtlCol="0"/>
          <a:lstStyle/>
          <a:p>
            <a:pPr algn="l" indent="0" marL="0">
              <a:buNone/>
            </a:pPr>
            <a:r>
              <a:rPr lang="en-US" sz="1400" b="1" spc="200" kern="0" dirty="0">
                <a:solidFill>
                  <a:schemeClr val="accent3"/>
                </a:solidFill>
                <a:latin typeface="Calibri" pitchFamily="34" charset="0"/>
                <a:ea typeface="Calibri" pitchFamily="34" charset="-122"/>
                <a:cs typeface="Calibri" pitchFamily="34" charset="-120"/>
              </a:rPr>
              <a:t>THANK YOU</a:t>
            </a:r>
            <a:endParaRPr lang="en-US" sz="1400" dirty="0"/>
          </a:p>
        </p:txBody>
      </p:sp>
      <p:sp>
        <p:nvSpPr>
          <p:cNvPr id="3" name="Text 0"/>
          <p:cNvSpPr/>
          <p:nvPr>
            <p:ph idx="101" type="title" hasCustomPrompt="1"/>
          </p:nvPr>
        </p:nvSpPr>
        <p:spPr>
          <a:xfrm>
            <a:off x="822960" y="2304288"/>
            <a:ext cx="10241280" cy="1234440"/>
          </a:xfrm>
          <a:prstGeom prst="rect">
            <a:avLst/>
          </a:prstGeom>
          <a:noFill/>
          <a:ln/>
        </p:spPr>
        <p:txBody>
          <a:bodyPr wrap="square" rtlCol="0"/>
          <a:lstStyle/>
          <a:p>
            <a:pPr algn="l" indent="0" marL="0">
              <a:buNone/>
            </a:pPr>
            <a:r>
              <a:rPr lang="en-US" sz="5000" b="1" dirty="0">
                <a:solidFill>
                  <a:schemeClr val="bg1"/>
                </a:solidFill>
                <a:latin typeface="Cambria" pitchFamily="34" charset="0"/>
                <a:ea typeface="Cambria" pitchFamily="34" charset="-122"/>
                <a:cs typeface="Cambria" pitchFamily="34" charset="-120"/>
              </a:rPr>
              <a:t>One system, start to finish.</a:t>
            </a:r>
            <a:endParaRPr lang="en-US" sz="5000" dirty="0"/>
          </a:p>
        </p:txBody>
      </p:sp>
      <p:sp>
        <p:nvSpPr>
          <p:cNvPr id="4" name="Text 0"/>
          <p:cNvSpPr/>
          <p:nvPr>
            <p:ph idx="102" type="body" hasCustomPrompt="1"/>
          </p:nvPr>
        </p:nvSpPr>
        <p:spPr>
          <a:xfrm>
            <a:off x="822960" y="3611880"/>
            <a:ext cx="9692640" cy="914400"/>
          </a:xfrm>
          <a:prstGeom prst="rect">
            <a:avLst/>
          </a:prstGeom>
          <a:noFill/>
          <a:ln/>
        </p:spPr>
        <p:txBody>
          <a:bodyPr wrap="square" rtlCol="0"/>
          <a:lstStyle/>
          <a:p>
            <a:pPr algn="l" indent="0" marL="0">
              <a:buNone/>
            </a:pPr>
            <a:r>
              <a:rPr lang="en-US" sz="1900" dirty="0">
                <a:solidFill>
                  <a:schemeClr val="bg2"/>
                </a:solidFill>
                <a:latin typeface="Calibri" pitchFamily="34" charset="0"/>
                <a:ea typeface="Calibri" pitchFamily="34" charset="-122"/>
                <a:cs typeface="Calibri" pitchFamily="34" charset="-120"/>
              </a:rPr>
              <a:t>Built for the Pharmacy Department. Owned by the Pharmacy Department.</a:t>
            </a:r>
            <a:endParaRPr lang="en-US" sz="1900" dirty="0"/>
          </a:p>
        </p:txBody>
      </p:sp>
      <p:sp>
        <p:nvSpPr>
          <p:cNvPr id="5" name="Text 0"/>
          <p:cNvSpPr/>
          <p:nvPr>
            <p:ph idx="103" type="body" hasCustomPrompt="1"/>
          </p:nvPr>
        </p:nvSpPr>
        <p:spPr>
          <a:xfrm>
            <a:off x="822960" y="5989320"/>
            <a:ext cx="9692640" cy="365760"/>
          </a:xfrm>
          <a:prstGeom prst="rect">
            <a:avLst/>
          </a:prstGeom>
          <a:noFill/>
          <a:ln/>
        </p:spPr>
        <p:txBody>
          <a:bodyPr wrap="square" rtlCol="0"/>
          <a:lstStyle/>
          <a:p>
            <a:pPr algn="l" indent="0" marL="0">
              <a:buNone/>
            </a:pPr>
            <a:r>
              <a:rPr lang="en-US" sz="1300" dirty="0">
                <a:solidFill>
                  <a:schemeClr val="accent2"/>
                </a:solidFill>
                <a:latin typeface="Calibri" pitchFamily="34" charset="0"/>
                <a:ea typeface="Calibri" pitchFamily="34" charset="-122"/>
                <a:cs typeface="Calibri" pitchFamily="34" charset="-120"/>
              </a:rPr>
              <a:t>PPR project team · Pharmacy Department · PPR-POC-001 (v0.2) · PPR-CMP-001 (v0.1)</a:t>
            </a:r>
            <a:endParaRPr lang="en-US" sz="1300" dirty="0"/>
          </a:p>
        </p:txBody>
      </p:sp>
    </p:spTree>
  </p:cSld>
  <p:clrMapOvr>
    <a:masterClrMapping/>
  </p:clrMapOvr>
</p:sld>
</file>

<file path=ppt/theme/theme1.xml><?xml version="1.0" encoding="utf-8"?>
<a:theme xmlns:a="http://schemas.openxmlformats.org/drawingml/2006/main" name="PPR Pitch">
  <a:themeElements>
    <a:clrScheme name="PPR Pitch">
      <a:dk1>
        <a:srgbClr val="17211F"/>
      </a:dk1>
      <a:lt1>
        <a:srgbClr val="FFFFFF"/>
      </a:lt1>
      <a:dk2>
        <a:srgbClr val="0E4F4A"/>
      </a:dk2>
      <a:lt2>
        <a:srgbClr val="EAF2EF"/>
      </a:lt2>
      <a:accent1>
        <a:srgbClr val="0E4F4A"/>
      </a:accent1>
      <a:accent2>
        <a:srgbClr val="3E8E8A"/>
      </a:accent2>
      <a:accent3>
        <a:srgbClr val="D9A441"/>
      </a:accent3>
      <a:accent4>
        <a:srgbClr val="8C9A98"/>
      </a:accent4>
      <a:accent5>
        <a:srgbClr val="B5542A"/>
      </a:accent5>
      <a:accent6>
        <a:srgbClr val="0B3330"/>
      </a:accent6>
      <a:hlink>
        <a:srgbClr val="3E8E8A"/>
      </a:hlink>
      <a:folHlink>
        <a:srgbClr val="8C9A98"/>
      </a:folHlink>
    </a:clrScheme>
    <a:fontScheme name="PPR Pitc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2026-10-21T15:41:15Z</dcterms:created>
  <dcterms:modified xsi:type="dcterms:W3CDTF">2026-10-21T15:41:15Z</dcterms:modified>
</cp:coreProperties>
</file>