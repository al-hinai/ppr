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ab4d4cf4-5989-d1e1-3266-1710446272fa}">
          <p14:sldIdLst>
            <p14:sldId id="256"/>
          </p14:sldIdLst>
        </p14:section>
        <p14:section name="Problem" id="{346abdf3-9aa6-90cc-b2ed-cc674ca97538}">
          <p14:sldIdLst>
            <p14:sldId id="257"/>
          </p14:sldIdLst>
        </p14:section>
        <p14:section name="Solution" id="{12fe522b-d398-71f2-6ed6-c9148a39cb2c}">
          <p14:sldIdLst>
            <p14:sldId id="258"/>
            <p14:sldId id="259"/>
            <p14:sldId id="260"/>
          </p14:sldIdLst>
        </p14:section>
        <p14:section name="Proof" id="{3d2a78cf-57f3-c743-8664-e3bcf2337ae8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Close" id="{433dbf52-9123-269c-d71b-f8ba08b7e7cd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الافتتاح: يأخذ PPR طلب الدواء من رفع ملف eCTD حتى شهادة الموافقة في نظام ثنائي اللغة. الشاشات لقطات حقيقية من النموذج الأولي ببيانات تجريبية.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اعرض المشكلة دون اختلاق أرقام: اكتشاف الأخطاء التقنية متأخرًا، وتشتت الأدوات، وغياب سجل تدقيق واحد.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عشر حالات للطلب في آلة حالات واحدة. لا تصل الحزمة إلى المراجع قبل اجتياز التحقق.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يجري التحقق وفق DTD الرسمي لـ ICH eCTD 3.2 ومعايير الوحدة 1 الخليجية الإصدار 1.5 مع غلاف موجّه إلى عُمان. تُصدَّر التقارير بصيغة CSV وPDF للطباعة، ويعمل التحقق في الإنتاج عبر مهمة خلفية.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يحدد رئيس القسم تخصصات المراجعين (M1 إلى M5). تتشكل الفرق تلقائيًا، ويكون التعيين اليدوي فقط عند غياب مراجع مؤهل لوحدة ما.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كن صريحًا: الملاحظات مرتبطة بالصفحة وليست مرسومة على ملف PDF، وقرار استضافة نموذج المساعد ما زال مفتوحًا.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الشهادة ولوحة التحكم ببيانات تجريبية وليست لمقدّم طلب حقيقي. قواعد الوحدة 1 الخليجية الإصدار 1.5 مع غلاف موجّه إلى عُمان (OM-MOH).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149 اختبارًا و12 مسار عمل من تقرير إثبات المفهوم، وعشر حالات للطلب من الملخص التنفيذي. بروتوكول التأهيل (IQ/OQ/PQ) مسوّدة لم تُنفّذ بعد.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قدّم PPR كحل مكمّل: يتحقق EXTEDO ويراجع داخل الجهة، بينما يدير PPR حالة التسجيل. أعداد عملاء EXTEDO ادعاءات من المورّد.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الصراحة بشأن المتبقي تبني الثقة: المقارنة المعيارية واعتماد التأهيل هما ما يفصل PPR عن قرار تشغيل قابل للدفاع عنه.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اختم بالطلب: الموافقة على عرض مباشر والمقارنة المعيارية وتجربة تشغيلية.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4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973775" y="1920240"/>
            <a:ext cx="548640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SA" altLang="en-US" sz="5400" b="1" dirty="0">
                <a:solidFill>
                  <a:schemeClr val="bg1"/>
                </a:solidFill>
                <a:latin typeface="Cairo" pitchFamily="34" charset="0"/>
                <a:ea typeface="Cairo" pitchFamily="34" charset="-122"/>
                <a:cs typeface="Cairo" pitchFamily="34" charset="-120"/>
              </a:defRPr>
            </a:lvl1pPr>
          </a:lstStyle>
          <a:p>
            <a:pPr algn="r" indent="0" marL="0">
              <a:buNone/>
            </a:pPr>
            <a:endParaRPr lang="ar-SA" sz="5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TITLE">
    <p:bg>
      <p:bgPr>
        <a:solidFill>
          <a:srgbClr val="0F4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61695" y="64008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SA" altLang="en-US" sz="4000" b="1" dirty="0">
                <a:solidFill>
                  <a:schemeClr val="bg1"/>
                </a:solidFill>
                <a:latin typeface="Cairo" pitchFamily="34" charset="0"/>
                <a:ea typeface="Cairo" pitchFamily="34" charset="-122"/>
                <a:cs typeface="Cairo" pitchFamily="34" charset="-120"/>
              </a:defRPr>
            </a:lvl1pPr>
          </a:lstStyle>
          <a:p>
            <a:pPr algn="r" indent="0" marL="0">
              <a:buNone/>
            </a:pPr>
            <a:endParaRPr lang="ar-SA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61695" y="86868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SA" altLang="en-US" sz="4000" b="1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defRPr>
            </a:lvl1pPr>
          </a:lstStyle>
          <a:p>
            <a:pPr algn="r" indent="0" marL="0">
              <a:buNone/>
            </a:pPr>
            <a:endParaRPr lang="ar-SA" sz="4000" dirty="0"/>
          </a:p>
        </p:txBody>
      </p:sp>
      <p:sp>
        <p:nvSpPr>
          <p:cNvPr id="3" name="Text 0"/>
          <p:cNvSpPr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AA19C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PPR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400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LI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162495" y="1325880"/>
            <a:ext cx="42976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SA" altLang="en-US" sz="3200" b="1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defRPr>
            </a:lvl1pPr>
          </a:lstStyle>
          <a:p>
            <a:pPr algn="r" indent="0" marL="0">
              <a:buNone/>
            </a:pPr>
            <a:endParaRPr lang="ar-SA" sz="3200" dirty="0"/>
          </a:p>
        </p:txBody>
      </p:sp>
      <p:sp>
        <p:nvSpPr>
          <p:cNvPr id="3" name="Text 0"/>
          <p:cNvSpPr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AA19C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PPR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400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400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44975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2FBF9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دائرة الصيدلة · تسجيل المستحضرات الصيدلانية</a:t>
            </a:r>
            <a:endParaRPr lang="ar-SA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973775" y="19202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chemeClr val="bg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من الملف إلى الشهادة</a:t>
            </a:r>
            <a:endParaRPr lang="ar-SA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339535" y="41605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rgbClr val="B9DAD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نظام واحد للتقديم والتحقق الآلي من ملفات eCTD والمراجعة المتخصصة واتخاذ القرار، بالعربية والإنجليزية.</a:t>
            </a:r>
            <a:endParaRPr lang="ar-SA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339535" y="54406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Electronic medicine approval system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61695" y="731520"/>
            <a:ext cx="5120640" cy="3556780"/>
          </a:xfrm>
          <a:prstGeom prst="roundRect">
            <a:avLst>
              <a:gd name="adj" fmla="val 20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76200" dir="5400000">
              <a:srgbClr val="0B2B28">
                <a:alpha val="22000"/>
              </a:srgbClr>
            </a:outerShdw>
          </a:effectLst>
        </p:spPr>
      </p:sp>
      <p:pic>
        <p:nvPicPr>
          <p:cNvPr id="7" name="Image 0" descr="landing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695" y="731520"/>
            <a:ext cx="5120640" cy="35567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8815" y="3566160"/>
            <a:ext cx="3840480" cy="2400300"/>
          </a:xfrm>
          <a:prstGeom prst="roundRect">
            <a:avLst>
              <a:gd name="adj" fmla="val 3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76200" dir="5400000">
              <a:srgbClr val="0B2B28">
                <a:alpha val="22000"/>
              </a:srgbClr>
            </a:outerShdw>
          </a:effectLst>
        </p:spPr>
      </p:sp>
      <p:pic>
        <p:nvPicPr>
          <p:cNvPr id="9" name="Image 1" descr="company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15" y="3566160"/>
            <a:ext cx="3840480" cy="2400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44975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14806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المشكلة</a:t>
            </a:r>
            <a:endParaRPr lang="ar-SA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61695" y="868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4000" b="1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تظهر المشكلات بعد بدء المراجعة</a:t>
            </a:r>
            <a:endParaRPr lang="ar-SA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168335" y="27432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6000" b="1" dirty="0">
                <a:solidFill>
                  <a:srgbClr val="CFE6E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01</a:t>
            </a:r>
            <a:endParaRPr lang="ar-SA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59775" y="3794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أخطاء تُكتشف متأخرًا</a:t>
            </a:r>
            <a:endParaRPr lang="ar-SA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259775" y="43434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55706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تظهر المجاميع الاختبارية التالفة والملفات الناقصة وملفات PDF المقفلة أثناء المراجعة بدلًا من لحظة التقديم.</a:t>
            </a:r>
            <a:endParaRPr lang="ar-SA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419295" y="27432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6000" b="1" dirty="0">
                <a:solidFill>
                  <a:srgbClr val="CFE6E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02</a:t>
            </a:r>
            <a:endParaRPr lang="ar-SA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4510735" y="3794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أدوات متفرقة</a:t>
            </a:r>
            <a:endParaRPr lang="ar-SA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4510735" y="43434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55706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يتشتت التحقق والتقييم والاستفسارات والقرارات بين البريد والملفات وجداول البيانات.</a:t>
            </a:r>
            <a:endParaRPr lang="ar-SA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70255" y="27432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6000" b="1" dirty="0">
                <a:solidFill>
                  <a:srgbClr val="CFE6E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03</a:t>
            </a:r>
            <a:endParaRPr lang="ar-SA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761695" y="3794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 يوجد سجل واحد</a:t>
            </a:r>
            <a:endParaRPr lang="ar-SA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761695" y="43434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55706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إثبات من قرر ماذا ومتى يعني إعادة بناء القصة يدويًا.</a:t>
            </a:r>
            <a:endParaRPr lang="ar-SA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61695" y="5669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14806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تتحقق FDA وEMA من كل ملف eCTD تقنيًا قبل المراجعة العلمية. ويجلب PPR الانضباط ذاته إلى الدائرة.</a:t>
            </a:r>
            <a:endParaRPr lang="ar-SA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400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44975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14806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كيف يعمل</a:t>
            </a:r>
            <a:endParaRPr lang="ar-SA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61695" y="868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4000" b="1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أربع خطوات في نظام واحد</a:t>
            </a:r>
            <a:endParaRPr lang="ar-SA" sz="4000" dirty="0"/>
          </a:p>
        </p:txBody>
      </p:sp>
      <p:sp>
        <p:nvSpPr>
          <p:cNvPr id="4" name="Shape 2"/>
          <p:cNvSpPr/>
          <p:nvPr/>
        </p:nvSpPr>
        <p:spPr>
          <a:xfrm>
            <a:off x="1005840" y="2880360"/>
            <a:ext cx="9966960" cy="0"/>
          </a:xfrm>
          <a:prstGeom prst="line">
            <a:avLst/>
          </a:prstGeom>
          <a:noFill/>
          <a:ln w="25400">
            <a:solidFill>
              <a:srgbClr val="DCE8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28655" y="2514600"/>
            <a:ext cx="731520" cy="731520"/>
          </a:xfrm>
          <a:prstGeom prst="ellipse">
            <a:avLst/>
          </a:prstGeom>
          <a:solidFill>
            <a:srgbClr val="14806F"/>
          </a:solidFill>
          <a:ln w="12700">
            <a:solidFill>
              <a:srgbClr val="14806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8850" y="2704795"/>
            <a:ext cx="351130" cy="3511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991295" y="3566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300" b="1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التقديم</a:t>
            </a:r>
            <a:endParaRPr lang="ar-SA" sz="2300" dirty="0"/>
          </a:p>
        </p:txBody>
      </p:sp>
      <p:sp>
        <p:nvSpPr>
          <p:cNvPr id="8" name="Text 5"/>
          <p:cNvSpPr txBox="1"/>
          <p:nvPr/>
        </p:nvSpPr>
        <p:spPr>
          <a:xfrm>
            <a:off x="8899855" y="411480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55706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تنشئ الشركة الطلب وترفع تسلسل eCTD كملف مضغوط.</a:t>
            </a:r>
            <a:endParaRPr lang="ar-SA" sz="1600" dirty="0"/>
          </a:p>
        </p:txBody>
      </p:sp>
      <p:sp>
        <p:nvSpPr>
          <p:cNvPr id="9" name="Shape 6"/>
          <p:cNvSpPr/>
          <p:nvPr/>
        </p:nvSpPr>
        <p:spPr>
          <a:xfrm>
            <a:off x="7894015" y="2514600"/>
            <a:ext cx="731520" cy="731520"/>
          </a:xfrm>
          <a:prstGeom prst="ellipse">
            <a:avLst/>
          </a:prstGeom>
          <a:solidFill>
            <a:srgbClr val="14806F"/>
          </a:solidFill>
          <a:ln w="12700">
            <a:solidFill>
              <a:srgbClr val="14806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4210" y="2704795"/>
            <a:ext cx="351130" cy="35113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156655" y="3566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300" b="1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التحقق</a:t>
            </a:r>
            <a:endParaRPr lang="ar-SA" sz="2300" dirty="0"/>
          </a:p>
        </p:txBody>
      </p:sp>
      <p:sp>
        <p:nvSpPr>
          <p:cNvPr id="12" name="Text 8"/>
          <p:cNvSpPr txBox="1"/>
          <p:nvPr/>
        </p:nvSpPr>
        <p:spPr>
          <a:xfrm>
            <a:off x="6065215" y="411480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55706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يعمل فحص تقني من ثلاث طبقات تلقائيًا ويبلّغ عن كل ملاحظة.</a:t>
            </a:r>
            <a:endParaRPr lang="ar-SA" sz="1600" dirty="0"/>
          </a:p>
        </p:txBody>
      </p:sp>
      <p:sp>
        <p:nvSpPr>
          <p:cNvPr id="13" name="Shape 9"/>
          <p:cNvSpPr/>
          <p:nvPr/>
        </p:nvSpPr>
        <p:spPr>
          <a:xfrm>
            <a:off x="5059375" y="2514600"/>
            <a:ext cx="731520" cy="731520"/>
          </a:xfrm>
          <a:prstGeom prst="ellipse">
            <a:avLst/>
          </a:prstGeom>
          <a:solidFill>
            <a:srgbClr val="14806F"/>
          </a:solidFill>
          <a:ln w="12700">
            <a:solidFill>
              <a:srgbClr val="14806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9570" y="2704795"/>
            <a:ext cx="351130" cy="35113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322015" y="3566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300" b="1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المراجعة</a:t>
            </a:r>
            <a:endParaRPr lang="ar-SA" sz="2300" dirty="0"/>
          </a:p>
        </p:txBody>
      </p:sp>
      <p:sp>
        <p:nvSpPr>
          <p:cNvPr id="16" name="Text 11"/>
          <p:cNvSpPr txBox="1"/>
          <p:nvPr/>
        </p:nvSpPr>
        <p:spPr>
          <a:xfrm>
            <a:off x="3230575" y="411480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55706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يقيّم مختص كل وحدة من وحدات CTD، ويمكن للمراجع الرئيسي طلب معلومات إضافية.</a:t>
            </a:r>
            <a:endParaRPr lang="ar-SA" sz="1600" dirty="0"/>
          </a:p>
        </p:txBody>
      </p:sp>
      <p:sp>
        <p:nvSpPr>
          <p:cNvPr id="17" name="Shape 12"/>
          <p:cNvSpPr/>
          <p:nvPr/>
        </p:nvSpPr>
        <p:spPr>
          <a:xfrm>
            <a:off x="2224735" y="2514600"/>
            <a:ext cx="731520" cy="731520"/>
          </a:xfrm>
          <a:prstGeom prst="ellipse">
            <a:avLst/>
          </a:prstGeom>
          <a:solidFill>
            <a:srgbClr val="14806F"/>
          </a:solidFill>
          <a:ln w="12700">
            <a:solidFill>
              <a:srgbClr val="14806F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930" y="2704795"/>
            <a:ext cx="351130" cy="35113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87375" y="3566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300" b="1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القرار</a:t>
            </a:r>
            <a:endParaRPr lang="ar-SA" sz="2300" dirty="0"/>
          </a:p>
        </p:txBody>
      </p:sp>
      <p:sp>
        <p:nvSpPr>
          <p:cNvPr id="20" name="Text 14"/>
          <p:cNvSpPr txBox="1"/>
          <p:nvPr/>
        </p:nvSpPr>
        <p:spPr>
          <a:xfrm>
            <a:off x="395935" y="411480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55706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يوافق رئيس القسم أو يرفض، وتصدر شهادة ثنائية اللغة.</a:t>
            </a:r>
            <a:endParaRPr lang="ar-SA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761695" y="5669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14806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كل تغيير في الحالة يمر عبر آلة حالات واحدة: التحقق من الدور وتسجيل التغيير وإشعار المعنيين.</a:t>
            </a:r>
            <a:endParaRPr lang="ar-SA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400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" y="0"/>
            <a:ext cx="6976872" cy="6858000"/>
          </a:xfrm>
          <a:prstGeom prst="rect">
            <a:avLst/>
          </a:prstGeom>
          <a:solidFill>
            <a:srgbClr val="F3F8F7"/>
          </a:solidFill>
          <a:ln w="12700">
            <a:solidFill>
              <a:srgbClr val="F3F8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50215" y="461356"/>
            <a:ext cx="6217920" cy="5935287"/>
          </a:xfrm>
          <a:prstGeom prst="roundRect">
            <a:avLst>
              <a:gd name="adj" fmla="val 12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76200" dir="5400000">
              <a:srgbClr val="0B2B28">
                <a:alpha val="22000"/>
              </a:srgbClr>
            </a:outerShdw>
          </a:effectLst>
        </p:spPr>
      </p:sp>
      <p:pic>
        <p:nvPicPr>
          <p:cNvPr id="4" name="Image 0" descr="failedz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215" y="461356"/>
            <a:ext cx="6217920" cy="593528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144975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14806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التحقق الفني</a:t>
            </a:r>
            <a:endParaRPr lang="ar-SA" sz="14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7162495" y="1325880"/>
            <a:ext cx="4297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تُكتشف الأخطاء قبل أن يراها المراجع</a:t>
            </a:r>
            <a:endParaRPr lang="ar-SA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11002975" y="33832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rgbClr val="2FBF9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</a:t>
            </a:r>
            <a:endParaRPr lang="ar-SA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7162495" y="3429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مخطط XML</a:t>
            </a:r>
            <a:endParaRPr lang="ar-SA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7162495" y="381304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5706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ملف index.xml والوحدة الأولى الإقليمية صالحان وفق تعريفات DTD.</a:t>
            </a:r>
            <a:endParaRPr lang="ar-SA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1002975" y="43434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rgbClr val="2FBF9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2</a:t>
            </a:r>
            <a:endParaRPr lang="ar-SA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7162495" y="4389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قواعد العمل</a:t>
            </a:r>
            <a:endParaRPr lang="ar-SA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7162495" y="477316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5706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المجاميع الاختبارية والمراجع والوحدات المطلوبة ودورة الحياة والغلاف الخليجي.</a:t>
            </a:r>
            <a:endParaRPr lang="ar-SA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1002975" y="53035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rgbClr val="2FBF9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3</a:t>
            </a:r>
            <a:endParaRPr lang="ar-SA" sz="3400" dirty="0"/>
          </a:p>
        </p:txBody>
      </p:sp>
      <p:sp>
        <p:nvSpPr>
          <p:cNvPr id="14" name="Text 11"/>
          <p:cNvSpPr txBox="1"/>
          <p:nvPr/>
        </p:nvSpPr>
        <p:spPr>
          <a:xfrm>
            <a:off x="7162495" y="5349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امتثال الملفات</a:t>
            </a:r>
            <a:endParaRPr lang="ar-SA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7162495" y="573328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5706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ملف مضغوط آمن وملفات PDF غير مقفلة دون شيفرات، مع تضمين الخطوط وحدود الحجم.</a:t>
            </a:r>
            <a:endParaRPr lang="ar-SA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400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" y="0"/>
            <a:ext cx="6976872" cy="6858000"/>
          </a:xfrm>
          <a:prstGeom prst="rect">
            <a:avLst/>
          </a:prstGeom>
          <a:solidFill>
            <a:srgbClr val="F3F8F7"/>
          </a:solidFill>
          <a:ln w="12700">
            <a:solidFill>
              <a:srgbClr val="F3F8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50215" y="639415"/>
            <a:ext cx="6217920" cy="5579170"/>
          </a:xfrm>
          <a:prstGeom prst="roundRect">
            <a:avLst>
              <a:gd name="adj" fmla="val 13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76200" dir="5400000">
              <a:srgbClr val="0B2B28">
                <a:alpha val="22000"/>
              </a:srgbClr>
            </a:outerShdw>
          </a:effectLst>
        </p:spPr>
      </p:sp>
      <p:pic>
        <p:nvPicPr>
          <p:cNvPr id="4" name="Image 0" descr="teamz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215" y="639415"/>
            <a:ext cx="6217920" cy="557917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144975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14806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المراجعة المتخصصة</a:t>
            </a:r>
            <a:endParaRPr lang="ar-SA" sz="14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7162495" y="1325880"/>
            <a:ext cx="4297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المختص المناسب لكل وحدة</a:t>
            </a:r>
            <a:endParaRPr lang="ar-SA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7253935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تعيين تلقائي</a:t>
            </a:r>
            <a:endParaRPr lang="ar-SA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7345375" y="358444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5706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تُسند كل وحدة إلى المراجع المؤهل الأقل عددًا من الوحدات النشطة.</a:t>
            </a:r>
            <a:endParaRPr lang="ar-SA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253935" y="4206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يقودها مراجع رئيسي</a:t>
            </a:r>
            <a:endParaRPr lang="ar-SA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7345375" y="459028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5706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يرسل الاستفسارات إلى مقدّم الطلب وتوصية الفريق.</a:t>
            </a:r>
            <a:endParaRPr lang="ar-SA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253935" y="5212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القرار لرئيس القسم</a:t>
            </a:r>
            <a:endParaRPr lang="ar-SA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7345375" y="559612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5706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الموافقة أو الرفض أو الإعادة إلى المراجع الرئيسي.</a:t>
            </a:r>
            <a:endParaRPr lang="ar-SA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400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" y="0"/>
            <a:ext cx="6976872" cy="6858000"/>
          </a:xfrm>
          <a:prstGeom prst="rect">
            <a:avLst/>
          </a:prstGeom>
          <a:solidFill>
            <a:srgbClr val="F3F8F7"/>
          </a:solidFill>
          <a:ln w="12700">
            <a:solidFill>
              <a:srgbClr val="F3F8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50215" y="1098111"/>
            <a:ext cx="6217920" cy="4296017"/>
          </a:xfrm>
          <a:prstGeom prst="roundRect">
            <a:avLst>
              <a:gd name="adj" fmla="val 17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76200" dir="5400000">
              <a:srgbClr val="0B2B28">
                <a:alpha val="22000"/>
              </a:srgbClr>
            </a:outerShdw>
          </a:effectLst>
        </p:spPr>
      </p:sp>
      <p:pic>
        <p:nvPicPr>
          <p:cNvPr id="4" name="Image 0" descr="dossierz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215" y="1098111"/>
            <a:ext cx="6217920" cy="429601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24535" y="5622729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55706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الملف الحالي: كل تسلسل مقبول مطبّق بالترتيب.</a:t>
            </a:r>
            <a:endParaRPr lang="ar-SA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144975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14806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أدوات المراجعة</a:t>
            </a:r>
            <a:endParaRPr lang="ar-SA" sz="1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7162495" y="1325880"/>
            <a:ext cx="4297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يرى المراجعون دائمًا الملف الحالي</a:t>
            </a:r>
            <a:endParaRPr lang="ar-SA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7253935" y="31546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الملف الحالي</a:t>
            </a:r>
            <a:endParaRPr lang="ar-SA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7345375" y="3520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5706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تسقط المستندات المستبدلة والمحذوفة تلقائيًا.</a:t>
            </a:r>
            <a:endParaRPr lang="ar-SA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253935" y="395935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ملاحظات مرتبطة بالصفحة</a:t>
            </a:r>
            <a:endParaRPr lang="ar-SA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7345375" y="43251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5706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داخلية ولا تظهر لمقدّمي الطلبات.</a:t>
            </a:r>
            <a:endParaRPr lang="ar-SA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253935" y="476402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بحث نصي كامل</a:t>
            </a:r>
            <a:endParaRPr lang="ar-SA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7345375" y="512978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5706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عبر كل ملف يحق للقارئ فتحه.</a:t>
            </a:r>
            <a:endParaRPr lang="ar-SA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253935" y="556869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مساعد الملف</a:t>
            </a:r>
            <a:endParaRPr lang="ar-SA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7345375" y="593445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5706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إجابات مع إحالات إلى المستند والصفحة.</a:t>
            </a:r>
            <a:endParaRPr lang="ar-SA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400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44975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14806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مصمم للمنطقة</a:t>
            </a:r>
            <a:endParaRPr lang="ar-SA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61695" y="868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4000" b="1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العربية والإنجليزية من البداية إلى النهاية</a:t>
            </a:r>
            <a:endParaRPr lang="ar-SA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516575" y="173736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55706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تنعكس كل شاشة إلى تخطيط كامل من اليمين إلى اليسار، وتصدر عند الموافقة شهادة ثنائية اللغة بمدة صلاحية.</a:t>
            </a:r>
            <a:endParaRPr lang="ar-SA" sz="1600" dirty="0"/>
          </a:p>
        </p:txBody>
      </p:sp>
      <p:sp>
        <p:nvSpPr>
          <p:cNvPr id="5" name="Shape 3"/>
          <p:cNvSpPr/>
          <p:nvPr/>
        </p:nvSpPr>
        <p:spPr>
          <a:xfrm>
            <a:off x="5973775" y="2697480"/>
            <a:ext cx="548640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76200" dir="5400000">
              <a:srgbClr val="0B2B28">
                <a:alpha val="22000"/>
              </a:srgbClr>
            </a:outerShdw>
          </a:effectLst>
        </p:spPr>
      </p:sp>
      <p:pic>
        <p:nvPicPr>
          <p:cNvPr id="6" name="Image 0" descr="arabic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3775" y="2697480"/>
            <a:ext cx="5486400" cy="3429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8271" y="2697480"/>
            <a:ext cx="4626864" cy="3429194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76200" dir="5400000">
              <a:srgbClr val="0B2B28">
                <a:alpha val="22000"/>
              </a:srgbClr>
            </a:outerShdw>
          </a:effectLst>
        </p:spPr>
      </p:sp>
      <p:pic>
        <p:nvPicPr>
          <p:cNvPr id="8" name="Image 1" descr="cert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271" y="2697480"/>
            <a:ext cx="4626864" cy="342919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67535" y="6217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000" dirty="0">
                <a:solidFill>
                  <a:srgbClr val="55706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بيانات تجريبية</a:t>
            </a:r>
            <a:endParaRPr lang="ar-SA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400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44975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14806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ما تحصل عليه الدائرة</a:t>
            </a:r>
            <a:endParaRPr lang="ar-SA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61695" y="868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4000" b="1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تحكّم ووضوح وملكية</a:t>
            </a:r>
            <a:endParaRPr lang="ar-SA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0362895" y="22860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4400" b="1" dirty="0">
                <a:solidFill>
                  <a:srgbClr val="CFE6E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01</a:t>
            </a:r>
            <a:endParaRPr lang="ar-SA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156655" y="23317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جهد مراجعة أقل مهدرًا</a:t>
            </a:r>
            <a:endParaRPr lang="ar-SA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6156655" y="2816352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55706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 تصل الملفات التي تحتوي أخطاء تقنية إلى المراجع.</a:t>
            </a:r>
            <a:endParaRPr lang="ar-SA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785055" y="22860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4400" b="1" dirty="0">
                <a:solidFill>
                  <a:srgbClr val="CFE6E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02</a:t>
            </a:r>
            <a:endParaRPr lang="ar-SA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578815" y="23317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وضوح لمقدّمي الطلبات</a:t>
            </a:r>
            <a:endParaRPr lang="ar-SA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78815" y="2816352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55706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كل ملاحظة مسماة مع القاعدة والملف والسطر وقابلة للتصدير.</a:t>
            </a:r>
            <a:endParaRPr lang="ar-SA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362895" y="41148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4400" b="1" dirty="0">
                <a:solidFill>
                  <a:srgbClr val="CFE6E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03</a:t>
            </a:r>
            <a:endParaRPr lang="ar-SA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156655" y="41605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سجل تدقيق واحد</a:t>
            </a:r>
            <a:endParaRPr lang="ar-SA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6156655" y="4645152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55706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من قرر ماذا ومتى في سجل واحد.</a:t>
            </a:r>
            <a:endParaRPr lang="ar-SA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785055" y="41148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4400" b="1" dirty="0">
                <a:solidFill>
                  <a:srgbClr val="CFE6E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04</a:t>
            </a:r>
            <a:endParaRPr lang="ar-SA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578815" y="41605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مملوك للدائرة</a:t>
            </a:r>
            <a:endParaRPr lang="ar-SA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578815" y="4645152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55706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بلا رسوم ترخيص، وتُجرى التعديلات داخليًا بسرعة.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400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61695" y="6400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4000" b="1" dirty="0">
                <a:solidFill>
                  <a:schemeClr val="bg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مبني ليُوثق به</a:t>
            </a:r>
            <a:endParaRPr lang="ar-SA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899855" y="228600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8800" b="1" dirty="0">
                <a:solidFill>
                  <a:srgbClr val="2FBF9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149</a:t>
            </a:r>
            <a:endParaRPr lang="ar-SA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9082735" y="3840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CFE6E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اختبار آلي ناجح</a:t>
            </a:r>
            <a:endParaRPr lang="ar-SA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65215" y="228600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8800" b="1" dirty="0">
                <a:solidFill>
                  <a:srgbClr val="2FBF9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10</a:t>
            </a:r>
            <a:endParaRPr lang="ar-SA" sz="8800" dirty="0"/>
          </a:p>
        </p:txBody>
      </p:sp>
      <p:sp>
        <p:nvSpPr>
          <p:cNvPr id="6" name="Text 4"/>
          <p:cNvSpPr txBox="1"/>
          <p:nvPr/>
        </p:nvSpPr>
        <p:spPr>
          <a:xfrm>
            <a:off x="6248095" y="3840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CFE6E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حالات للطلب في آلة حالات واحدة</a:t>
            </a:r>
            <a:endParaRPr lang="ar-SA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230575" y="228600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8800" b="1" dirty="0">
                <a:solidFill>
                  <a:srgbClr val="2FBF9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12</a:t>
            </a:r>
            <a:endParaRPr lang="ar-SA" sz="8800" dirty="0"/>
          </a:p>
        </p:txBody>
      </p:sp>
      <p:sp>
        <p:nvSpPr>
          <p:cNvPr id="8" name="Text 6"/>
          <p:cNvSpPr txBox="1"/>
          <p:nvPr/>
        </p:nvSpPr>
        <p:spPr>
          <a:xfrm>
            <a:off x="3413455" y="3840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CFE6E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مسار عمل في دليل التدريب</a:t>
            </a:r>
            <a:endParaRPr lang="ar-SA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95935" y="228600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8800" b="1" dirty="0">
                <a:solidFill>
                  <a:srgbClr val="2FBF9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2</a:t>
            </a:r>
            <a:endParaRPr lang="ar-SA" sz="8800" dirty="0"/>
          </a:p>
        </p:txBody>
      </p:sp>
      <p:sp>
        <p:nvSpPr>
          <p:cNvPr id="10" name="Text 8"/>
          <p:cNvSpPr txBox="1"/>
          <p:nvPr/>
        </p:nvSpPr>
        <p:spPr>
          <a:xfrm>
            <a:off x="578815" y="3840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CFE6E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لغتان بتخطيط كامل من اليمين إلى اليسار</a:t>
            </a:r>
            <a:endParaRPr lang="ar-SA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61695" y="54864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CFE6E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يُسجَّل كل تغيير في الحالة مع المستخدم والوقت والملاحظة.</a:t>
            </a:r>
            <a:endParaRPr lang="ar-SA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44975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14806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الأمان</a:t>
            </a:r>
            <a:endParaRPr lang="ar-SA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61695" y="868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4000" b="1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آمن وقابل للتدقيق بالتصميم</a:t>
            </a:r>
            <a:endParaRPr lang="ar-SA" sz="4000" dirty="0"/>
          </a:p>
        </p:txBody>
      </p:sp>
      <p:sp>
        <p:nvSpPr>
          <p:cNvPr id="4" name="Shape 2"/>
          <p:cNvSpPr/>
          <p:nvPr/>
        </p:nvSpPr>
        <p:spPr>
          <a:xfrm>
            <a:off x="10774375" y="2194560"/>
            <a:ext cx="685800" cy="685800"/>
          </a:xfrm>
          <a:prstGeom prst="ellipse">
            <a:avLst/>
          </a:prstGeom>
          <a:solidFill>
            <a:srgbClr val="14806F"/>
          </a:solidFill>
          <a:ln w="12700">
            <a:solidFill>
              <a:srgbClr val="14806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2683" y="237286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48095" y="22128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صلاحيات حسب الدور</a:t>
            </a:r>
            <a:endParaRPr lang="ar-SA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6248095" y="26060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5706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ترى الشركات ملفاتها فقط، والمراجعون فرقهم فقط.</a:t>
            </a:r>
            <a:endParaRPr lang="ar-SA" sz="1400" dirty="0"/>
          </a:p>
        </p:txBody>
      </p:sp>
      <p:sp>
        <p:nvSpPr>
          <p:cNvPr id="8" name="Shape 5"/>
          <p:cNvSpPr/>
          <p:nvPr/>
        </p:nvSpPr>
        <p:spPr>
          <a:xfrm>
            <a:off x="5196535" y="2194560"/>
            <a:ext cx="685800" cy="685800"/>
          </a:xfrm>
          <a:prstGeom prst="ellipse">
            <a:avLst/>
          </a:prstGeom>
          <a:solidFill>
            <a:srgbClr val="14806F"/>
          </a:solidFill>
          <a:ln w="12700">
            <a:solidFill>
              <a:srgbClr val="14806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4843" y="237286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70255" y="22128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استقبال آمن للحزم</a:t>
            </a:r>
            <a:endParaRPr lang="ar-SA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670255" y="26060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5706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يمنع اجتياز المسارات والروابط الرمزية والملفات المشفرة أو الضخمة.</a:t>
            </a:r>
            <a:endParaRPr lang="ar-SA" sz="1400" dirty="0"/>
          </a:p>
        </p:txBody>
      </p:sp>
      <p:sp>
        <p:nvSpPr>
          <p:cNvPr id="12" name="Shape 8"/>
          <p:cNvSpPr/>
          <p:nvPr/>
        </p:nvSpPr>
        <p:spPr>
          <a:xfrm>
            <a:off x="10774375" y="3520440"/>
            <a:ext cx="685800" cy="685800"/>
          </a:xfrm>
          <a:prstGeom prst="ellipse">
            <a:avLst/>
          </a:prstGeom>
          <a:solidFill>
            <a:srgbClr val="14806F"/>
          </a:solidFill>
          <a:ln w="12700">
            <a:solidFill>
              <a:srgbClr val="14806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2683" y="369874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248095" y="35387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تسجيل دخول محصّن</a:t>
            </a:r>
            <a:endParaRPr lang="ar-SA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6248095" y="39319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5706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قفل الحساب وكلمات مرور من 12 حرفًا فأكثر ودخول موحد اختياري للموظفين.</a:t>
            </a:r>
            <a:endParaRPr lang="ar-SA" sz="1400" dirty="0"/>
          </a:p>
        </p:txBody>
      </p:sp>
      <p:sp>
        <p:nvSpPr>
          <p:cNvPr id="16" name="Shape 11"/>
          <p:cNvSpPr/>
          <p:nvPr/>
        </p:nvSpPr>
        <p:spPr>
          <a:xfrm>
            <a:off x="5196535" y="3520440"/>
            <a:ext cx="685800" cy="685800"/>
          </a:xfrm>
          <a:prstGeom prst="ellipse">
            <a:avLst/>
          </a:prstGeom>
          <a:solidFill>
            <a:srgbClr val="14806F"/>
          </a:solidFill>
          <a:ln w="12700">
            <a:solidFill>
              <a:srgbClr val="14806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4843" y="369874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70255" y="35387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سجل تدقيق كامل</a:t>
            </a:r>
            <a:endParaRPr lang="ar-SA" sz="1900" dirty="0"/>
          </a:p>
        </p:txBody>
      </p:sp>
      <p:sp>
        <p:nvSpPr>
          <p:cNvPr id="19" name="Text 13"/>
          <p:cNvSpPr txBox="1"/>
          <p:nvPr/>
        </p:nvSpPr>
        <p:spPr>
          <a:xfrm>
            <a:off x="670255" y="39319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5706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كل تغيير في الحالة مع المستخدم والوقت والملاحظة.</a:t>
            </a:r>
            <a:endParaRPr lang="ar-SA" sz="1400" dirty="0"/>
          </a:p>
        </p:txBody>
      </p:sp>
      <p:sp>
        <p:nvSpPr>
          <p:cNvPr id="20" name="Shape 14"/>
          <p:cNvSpPr/>
          <p:nvPr/>
        </p:nvSpPr>
        <p:spPr>
          <a:xfrm>
            <a:off x="10774375" y="4846320"/>
            <a:ext cx="685800" cy="685800"/>
          </a:xfrm>
          <a:prstGeom prst="ellipse">
            <a:avLst/>
          </a:prstGeom>
          <a:solidFill>
            <a:srgbClr val="14806F"/>
          </a:solidFill>
          <a:ln w="12700">
            <a:solidFill>
              <a:srgbClr val="14806F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2683" y="502462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248095" y="48646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مستندات محمية</a:t>
            </a:r>
            <a:endParaRPr lang="ar-SA" sz="1900" dirty="0"/>
          </a:p>
        </p:txBody>
      </p:sp>
      <p:sp>
        <p:nvSpPr>
          <p:cNvPr id="23" name="Text 16"/>
          <p:cNvSpPr txBox="1"/>
          <p:nvPr/>
        </p:nvSpPr>
        <p:spPr>
          <a:xfrm>
            <a:off x="6248095" y="52578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5706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تنزيلات بعد فحص الصلاحية وتطبيق HTTPS وCSP.</a:t>
            </a:r>
            <a:endParaRPr lang="ar-SA" sz="1400" dirty="0"/>
          </a:p>
        </p:txBody>
      </p:sp>
      <p:sp>
        <p:nvSpPr>
          <p:cNvPr id="24" name="Shape 17"/>
          <p:cNvSpPr/>
          <p:nvPr/>
        </p:nvSpPr>
        <p:spPr>
          <a:xfrm>
            <a:off x="5196535" y="4846320"/>
            <a:ext cx="685800" cy="685800"/>
          </a:xfrm>
          <a:prstGeom prst="ellipse">
            <a:avLst/>
          </a:prstGeom>
          <a:solidFill>
            <a:srgbClr val="14806F"/>
          </a:solidFill>
          <a:ln w="12700">
            <a:solidFill>
              <a:srgbClr val="14806F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4843" y="5024628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70255" y="48646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ملاحظات مراجعة داخلية</a:t>
            </a:r>
            <a:endParaRPr lang="ar-SA" sz="1900" dirty="0"/>
          </a:p>
        </p:txBody>
      </p:sp>
      <p:sp>
        <p:nvSpPr>
          <p:cNvPr id="27" name="Text 19"/>
          <p:cNvSpPr txBox="1"/>
          <p:nvPr/>
        </p:nvSpPr>
        <p:spPr>
          <a:xfrm>
            <a:off x="670255" y="52578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5706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 تظهر لمقدّمي الطلبات أبدًا.</a:t>
            </a:r>
            <a:endParaRPr lang="ar-SA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400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44975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14806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بجانب EXTEDO</a:t>
            </a:r>
            <a:endParaRPr lang="ar-SA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61695" y="868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4000" b="1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مكمّل لأبرز الحلول في السوق</a:t>
            </a:r>
            <a:endParaRPr lang="ar-SA" sz="4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011680"/>
          <a:ext cx="1069848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468880"/>
                <a:gridCol w="5760720"/>
              </a:tblGrid>
              <a:tr h="50292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5706B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EXTEDO EURS</a:t>
                      </a:r>
                      <a:endParaRPr lang="en-US" sz="12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5706B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PPR</a:t>
                      </a:r>
                      <a:endParaRPr lang="en-US" sz="12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5706B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القدرة</a:t>
                      </a:r>
                      <a:endParaRPr lang="en-US" sz="12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8AA19C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ليست ضمن EURS</a:t>
                      </a:r>
                      <a:endParaRPr lang="en-US" sz="12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4806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✓</a:t>
                      </a:r>
                      <a:endParaRPr lang="en-US" sz="2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0B2B28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بوابة مقدّم الطلب والتقديم</a:t>
                      </a:r>
                      <a:endParaRPr lang="en-US" sz="16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4806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✓</a:t>
                      </a:r>
                      <a:endParaRPr lang="en-US" sz="2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4806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✓</a:t>
                      </a:r>
                      <a:endParaRPr lang="en-US" sz="2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0B2B28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التحقق الفني من eCTD</a:t>
                      </a:r>
                      <a:endParaRPr lang="en-US" sz="16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8AA19C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غير مذكور</a:t>
                      </a:r>
                      <a:endParaRPr lang="en-US" sz="12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4806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✓</a:t>
                      </a:r>
                      <a:endParaRPr lang="en-US" sz="2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0B2B28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مراجعة متخصصة لكل وحدة CTD</a:t>
                      </a:r>
                      <a:endParaRPr lang="en-US" sz="16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8AA19C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ليست ضمن EURS</a:t>
                      </a:r>
                      <a:endParaRPr lang="en-US" sz="12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4806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✓</a:t>
                      </a:r>
                      <a:endParaRPr lang="en-US" sz="2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0B2B28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القرار والشهادة</a:t>
                      </a:r>
                      <a:endParaRPr lang="en-US" sz="16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8AA19C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غير مذكورة</a:t>
                      </a:r>
                      <a:endParaRPr lang="en-US" sz="12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4806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✓</a:t>
                      </a:r>
                      <a:endParaRPr lang="en-US" sz="2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0B2B28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واجهة عربية</a:t>
                      </a:r>
                      <a:endParaRPr lang="en-US" sz="16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4806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✓</a:t>
                      </a:r>
                      <a:endParaRPr lang="en-US" sz="2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8AA19C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إثبات مفهوم</a:t>
                      </a:r>
                      <a:endParaRPr lang="en-US" sz="12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0B2B28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سنوات من الاستخدام الإنتاجي ومرجعية EMA</a:t>
                      </a:r>
                      <a:endParaRPr lang="en-US" sz="16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61695" y="56692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14806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إذا أظهرت المقارنة المعيارية فجوات، يحتفظ PPR بسير العمل ويستدعي أداة تحقق من EXTEDO.</a:t>
            </a:r>
            <a:endParaRPr lang="ar-SA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61695" y="605332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000" dirty="0">
                <a:solidFill>
                  <a:srgbClr val="55706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المصدر: PPR-CMP-001 v0.2. ما يخص EXTEDO ادعاءات من المورّد في مواد عامة؛ لم يُختبر البرنامج.</a:t>
            </a:r>
            <a:endParaRPr lang="ar-SA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400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44975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14806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خارطة الطريق</a:t>
            </a:r>
            <a:endParaRPr lang="ar-SA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61695" y="868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4000" b="1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ما أُنجز وما هو قادم</a:t>
            </a:r>
            <a:endParaRPr lang="ar-SA" sz="4000" dirty="0"/>
          </a:p>
        </p:txBody>
      </p:sp>
      <p:sp>
        <p:nvSpPr>
          <p:cNvPr id="4" name="Shape 2"/>
          <p:cNvSpPr/>
          <p:nvPr/>
        </p:nvSpPr>
        <p:spPr>
          <a:xfrm>
            <a:off x="11259007" y="2148840"/>
            <a:ext cx="201168" cy="201168"/>
          </a:xfrm>
          <a:prstGeom prst="ellipse">
            <a:avLst/>
          </a:prstGeom>
          <a:solidFill>
            <a:srgbClr val="14806F"/>
          </a:solidFill>
          <a:ln w="12700">
            <a:solidFill>
              <a:srgbClr val="14806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68335" y="2057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4806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أُنجز</a:t>
            </a:r>
            <a:endParaRPr lang="ar-SA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168335" y="2834640"/>
            <a:ext cx="3291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•"/>
            </a:pPr>
            <a:r>
              <a:rPr lang="ar-SA" altLang="en-US" sz="1500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قواعد DTD الرسمي لـ ICH والوحدة 1 الخليجية 1.5</a:t>
            </a:r>
            <a:endParaRPr lang="ar-SA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•"/>
            </a:pPr>
            <a:r>
              <a:rPr lang="ar-SA" altLang="en-US" sz="1500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طابور تحقق في الخلفية</a:t>
            </a:r>
            <a:endParaRPr lang="ar-SA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•"/>
            </a:pPr>
            <a:r>
              <a:rPr lang="ar-SA" altLang="en-US" sz="1500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عرض الملف والبحث وواجهة API والدخول الموحد</a:t>
            </a:r>
            <a:endParaRPr lang="ar-SA" sz="1500" dirty="0"/>
          </a:p>
        </p:txBody>
      </p:sp>
      <p:sp>
        <p:nvSpPr>
          <p:cNvPr id="7" name="Shape 5"/>
          <p:cNvSpPr/>
          <p:nvPr/>
        </p:nvSpPr>
        <p:spPr>
          <a:xfrm>
            <a:off x="7509967" y="2148840"/>
            <a:ext cx="201168" cy="201168"/>
          </a:xfrm>
          <a:prstGeom prst="ellipse">
            <a:avLst/>
          </a:prstGeom>
          <a:solidFill>
            <a:srgbClr val="C98712"/>
          </a:solidFill>
          <a:ln w="12700">
            <a:solidFill>
              <a:srgbClr val="C9871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19295" y="2057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C9871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قبل التقديمات الفعلية</a:t>
            </a:r>
            <a:endParaRPr lang="ar-SA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4419295" y="2834640"/>
            <a:ext cx="3291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•"/>
            </a:pPr>
            <a:r>
              <a:rPr lang="ar-SA" altLang="en-US" sz="1500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مقارنة معيارية مع أداة تحقق مرجعية</a:t>
            </a:r>
            <a:endParaRPr lang="ar-SA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•"/>
            </a:pPr>
            <a:r>
              <a:rPr lang="ar-SA" altLang="en-US" sz="1500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تنفيذ التأهيل واعتماده</a:t>
            </a:r>
            <a:endParaRPr lang="ar-SA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•"/>
            </a:pPr>
            <a:r>
              <a:rPr lang="ar-SA" altLang="en-US" sz="1500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اعتماد ملفات DTD الخليجية الصادرة عن SFDA</a:t>
            </a:r>
            <a:endParaRPr lang="ar-SA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•"/>
            </a:pPr>
            <a:r>
              <a:rPr lang="ar-SA" altLang="en-US" sz="1500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تحديد مكان تشغيل نموذج المساعد</a:t>
            </a:r>
            <a:endParaRPr lang="ar-SA" sz="1500" dirty="0"/>
          </a:p>
        </p:txBody>
      </p:sp>
      <p:sp>
        <p:nvSpPr>
          <p:cNvPr id="10" name="Shape 8"/>
          <p:cNvSpPr/>
          <p:nvPr/>
        </p:nvSpPr>
        <p:spPr>
          <a:xfrm>
            <a:off x="3760927" y="2148840"/>
            <a:ext cx="201168" cy="201168"/>
          </a:xfrm>
          <a:prstGeom prst="ellipse">
            <a:avLst/>
          </a:prstGeom>
          <a:solidFill>
            <a:srgbClr val="5B6B8C"/>
          </a:solidFill>
          <a:ln w="12700">
            <a:solidFill>
              <a:srgbClr val="5B6B8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0255" y="2057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5B6B8C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التجريبي والمرحلة 2</a:t>
            </a:r>
            <a:endParaRPr lang="ar-SA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670255" y="2834640"/>
            <a:ext cx="3291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•"/>
            </a:pPr>
            <a:r>
              <a:rPr lang="ar-SA" altLang="en-US" sz="1500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التسجيل الذاتي والدخول بخطوتين</a:t>
            </a:r>
            <a:endParaRPr lang="ar-SA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•"/>
            </a:pPr>
            <a:r>
              <a:rPr lang="ar-SA" altLang="en-US" sz="1500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جداول زمنية للمراجعة وشهادات برمز QR</a:t>
            </a:r>
            <a:endParaRPr lang="ar-SA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•"/>
            </a:pPr>
            <a:r>
              <a:rPr lang="ar-SA" altLang="en-US" sz="1500" dirty="0">
                <a:solidFill>
                  <a:schemeClr val="tx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الرسوم والتعديلات والتجديدات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400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61695" y="6400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4000" b="1" dirty="0">
                <a:solidFill>
                  <a:schemeClr val="bg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لنبدأ تجربة تشغيلية</a:t>
            </a:r>
            <a:endParaRPr lang="ar-SA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10362895" y="21945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8000" b="1" dirty="0">
                <a:solidFill>
                  <a:srgbClr val="2FBF9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</a:t>
            </a:r>
            <a:endParaRPr lang="ar-SA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8168335" y="3520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5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شاهده مباشرة</a:t>
            </a:r>
            <a:endParaRPr lang="ar-SA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8259775" y="41148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CFE6E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جولة في كل دور بحسابات العرض التجريبي.</a:t>
            </a:r>
            <a:endParaRPr lang="ar-SA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613855" y="21945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8000" b="1" dirty="0">
                <a:solidFill>
                  <a:srgbClr val="2FBF9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2</a:t>
            </a:r>
            <a:endParaRPr lang="ar-SA" sz="8000" dirty="0"/>
          </a:p>
        </p:txBody>
      </p:sp>
      <p:sp>
        <p:nvSpPr>
          <p:cNvPr id="7" name="Text 5"/>
          <p:cNvSpPr txBox="1"/>
          <p:nvPr/>
        </p:nvSpPr>
        <p:spPr>
          <a:xfrm>
            <a:off x="4419295" y="3520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5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أثبته</a:t>
            </a:r>
            <a:endParaRPr lang="ar-SA" sz="2500" dirty="0"/>
          </a:p>
        </p:txBody>
      </p:sp>
      <p:sp>
        <p:nvSpPr>
          <p:cNvPr id="8" name="Text 6"/>
          <p:cNvSpPr txBox="1"/>
          <p:nvPr/>
        </p:nvSpPr>
        <p:spPr>
          <a:xfrm>
            <a:off x="4510735" y="41148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CFE6E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تشغيل المقارنة المعيارية للتحقق وبروتوكول التأهيل.</a:t>
            </a:r>
            <a:endParaRPr lang="ar-SA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864815" y="21945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8000" b="1" dirty="0">
                <a:solidFill>
                  <a:srgbClr val="2FBF9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3</a:t>
            </a:r>
            <a:endParaRPr lang="ar-SA" sz="8000" dirty="0"/>
          </a:p>
        </p:txBody>
      </p:sp>
      <p:sp>
        <p:nvSpPr>
          <p:cNvPr id="10" name="Text 8"/>
          <p:cNvSpPr txBox="1"/>
          <p:nvPr/>
        </p:nvSpPr>
        <p:spPr>
          <a:xfrm>
            <a:off x="670255" y="3520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5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جرّبه</a:t>
            </a:r>
            <a:endParaRPr lang="ar-SA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761695" y="41148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CFE6E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تدريب الموظفين بالدليل المدمج والبدء بمقدّمي طلبات مختارين.</a:t>
            </a:r>
            <a:endParaRPr lang="ar-SA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248095" y="59436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B9DAD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Pharmacy Department · PPR project team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61695" y="59436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B9DAD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دائرة الصيدلة · تسجيل المستحضرات الصيدلانية</a:t>
            </a:r>
            <a:endParaRPr lang="ar-SA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R Modern">
  <a:themeElements>
    <a:clrScheme name="PPR Modern">
      <a:dk1>
        <a:srgbClr val="0B2B28"/>
      </a:dk1>
      <a:lt1>
        <a:srgbClr val="FFFFFF"/>
      </a:lt1>
      <a:dk2>
        <a:srgbClr val="0F4A44"/>
      </a:dk2>
      <a:lt2>
        <a:srgbClr val="F3F8F7"/>
      </a:lt2>
      <a:accent1>
        <a:srgbClr val="14806F"/>
      </a:accent1>
      <a:accent2>
        <a:srgbClr val="2FBF9F"/>
      </a:accent2>
      <a:accent3>
        <a:srgbClr val="E8A33D"/>
      </a:accent3>
      <a:accent4>
        <a:srgbClr val="C0483E"/>
      </a:accent4>
      <a:accent5>
        <a:srgbClr val="5B6B8C"/>
      </a:accent5>
      <a:accent6>
        <a:srgbClr val="7A5BC4"/>
      </a:accent6>
      <a:hlink>
        <a:srgbClr val="14806F"/>
      </a:hlink>
      <a:folHlink>
        <a:srgbClr val="5B6B8C"/>
      </a:folHlink>
    </a:clrScheme>
    <a:fontScheme name="PPR Modern">
      <a:majorFont>
        <a:latin typeface="Cair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ir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PPR - تسجيل المستحضرات الصيدلانية</dc:title>
  <dc:subject>PptxGenJS Presentation</dc:subject>
  <dc:creator>PPR project team</dc:creator>
  <cp:lastModifiedBy>PPR project team</cp:lastModifiedBy>
  <cp:revision>1</cp:revision>
  <dcterms:created xsi:type="dcterms:W3CDTF">2026-10-21T16:18:43Z</dcterms:created>
  <dcterms:modified xsi:type="dcterms:W3CDTF">2026-10-21T16:18:43Z</dcterms:modified>
</cp:coreProperties>
</file>